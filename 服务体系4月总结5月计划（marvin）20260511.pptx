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drawings/drawing1.xml" ContentType="application/vnd.openxmlformats-officedocument.drawingml.chartshapes+xml"/>
  <Override PartName="/ppt/media/image11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5"/>
  </p:notesMasterIdLst>
  <p:sldIdLst>
    <p:sldId id="257" r:id="rId4"/>
    <p:sldId id="1242" r:id="rId6"/>
    <p:sldId id="1873" r:id="rId7"/>
    <p:sldId id="1960" r:id="rId8"/>
    <p:sldId id="1955" r:id="rId9"/>
    <p:sldId id="1982" r:id="rId10"/>
    <p:sldId id="1983" r:id="rId11"/>
    <p:sldId id="1986" r:id="rId12"/>
    <p:sldId id="1985" r:id="rId13"/>
    <p:sldId id="1984" r:id="rId14"/>
    <p:sldId id="1726" r:id="rId15"/>
    <p:sldId id="1275" r:id="rId16"/>
    <p:sldId id="1944" r:id="rId17"/>
    <p:sldId id="1513" r:id="rId18"/>
    <p:sldId id="1515" r:id="rId19"/>
    <p:sldId id="1976" r:id="rId20"/>
    <p:sldId id="1987" r:id="rId21"/>
    <p:sldId id="1988" r:id="rId22"/>
    <p:sldId id="1977" r:id="rId23"/>
    <p:sldId id="1978" r:id="rId24"/>
    <p:sldId id="1989" r:id="rId25"/>
    <p:sldId id="1990" r:id="rId26"/>
    <p:sldId id="1979" r:id="rId27"/>
    <p:sldId id="1991" r:id="rId28"/>
    <p:sldId id="1980" r:id="rId29"/>
    <p:sldId id="1981" r:id="rId30"/>
    <p:sldId id="1992" r:id="rId31"/>
    <p:sldId id="1877" r:id="rId32"/>
    <p:sldId id="1975" r:id="rId33"/>
    <p:sldId id="1956" r:id="rId34"/>
    <p:sldId id="1213" r:id="rId35"/>
    <p:sldId id="1927" r:id="rId36"/>
    <p:sldId id="1949" r:id="rId37"/>
    <p:sldId id="1823" r:id="rId38"/>
    <p:sldId id="1957" r:id="rId39"/>
    <p:sldId id="1961" r:id="rId40"/>
    <p:sldId id="1962" r:id="rId41"/>
    <p:sldId id="1826" r:id="rId42"/>
    <p:sldId id="1951" r:id="rId43"/>
    <p:sldId id="1520" r:id="rId44"/>
    <p:sldId id="1026" r:id="rId45"/>
    <p:sldId id="374" r:id="rId46"/>
  </p:sldIdLst>
  <p:sldSz cx="12192000" cy="6858000"/>
  <p:notesSz cx="6858000" cy="9144000"/>
  <p:custDataLst>
    <p:tags r:id="rId5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3" userDrawn="1">
          <p15:clr>
            <a:srgbClr val="A4A3A4"/>
          </p15:clr>
        </p15:guide>
        <p15:guide id="2" pos="385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" lastIdx="0" clrIdx="0"/>
  <p:cmAuthor id="2" name="86138" initials="8" lastIdx="2" clrIdx="1"/>
  <p:cmAuthor id="3" name="Agonie" initials="ZYY" lastIdx="1" clrIdx="2"/>
  <p:cmAuthor id="4" name="Coremail" initials="C" lastIdx="1" clrIdx="3"/>
  <p:cmAuthor id="381437688" name="谢学斌" initials="谢" lastIdx="0" clrIdx="0"/>
  <p:cmAuthor id="708433798" name="jialuo" initials="j" lastIdx="0" clrIdx="0"/>
  <p:cmAuthor id="5" name="作者" initials="A" lastIdx="0" clrIdx="2"/>
  <p:cmAuthor id="6" name="Ariel" initials="A" lastIdx="2" clrIdx="5"/>
  <p:cmAuthor id="0" name="Wenx 邓志尧" initials="W邓" lastIdx="3" clrIdx="0"/>
  <p:cmAuthor id="708433799" name="Vincent Pung" initials="VP" lastIdx="1" clrIdx="3"/>
  <p:cmAuthor id="7" name="Liven" initials="Liven" lastIdx="1" clrIdx="6"/>
  <p:cmAuthor id="8" name="PC" initials="P" lastIdx="1" clrIdx="1"/>
  <p:cmAuthor id="9" name="windows10" initials="w" lastIdx="2" clrIdx="8"/>
  <p:cmAuthor id="10" name="wei.xin" initials="w" lastIdx="2" clrIdx="9"/>
  <p:cmAuthor id="15" name="MQ" initials="M" lastIdx="1" clrIdx="14"/>
  <p:cmAuthor id="16" name="WPS" initials="W" lastIdx="0" clrIdx="15"/>
  <p:cmAuthor id="17" name="WPS_1679281038" initials="W" lastIdx="0" clrIdx="16"/>
  <p:cmAuthor id="18" name="付诗雅" initials="付诗雅" lastIdx="0" clrIdx="17"/>
  <p:cmAuthor id="19" name="Microsoft Office User" initials="MOU" lastIdx="0" clrIdx="18"/>
  <p:cmAuthor id="20" name="86137" initials="8" lastIdx="0" clrIdx="19"/>
  <p:cmAuthor id="21" name="Yuanhao" initials="Y" lastIdx="0" clrIdx="20"/>
  <p:cmAuthor id="22" name="wzq" initials="w" lastIdx="0" clrIdx="21"/>
  <p:cmAuthor id="23" name="Wells" initials="W" lastIdx="0" clrIdx="22"/>
  <p:cmAuthor id="24" name="Robin" initials="R" lastIdx="0" clrIdx="23"/>
  <p:cmAuthor id="25" name="郝 子正" initials="郝" lastIdx="0" clrIdx="24"/>
  <p:cmAuthor id="26" name="锦 程" initials="锦" lastIdx="0" clrIdx="25"/>
  <p:cmAuthor id="27" name="123" initials="1" lastIdx="0" clrIdx="26"/>
  <p:cmAuthor id="28" name="Grace Liu" initials="G" lastIdx="0" clrIdx="27"/>
  <p:cmAuthor id="29" name="Jinghan Wu" initials="J" lastIdx="0" clrIdx="28"/>
  <p:cmAuthor id="30" name="朱 joey" initials="朱" lastIdx="0" clrIdx="29"/>
  <p:cmAuthor id="31" name="joey 朱" initials="j朱" lastIdx="0" clrIdx="30"/>
  <p:cmAuthor id="32" name="dengweijun" initials="d" lastIdx="0" clrIdx="31"/>
  <p:cmAuthor id="33" name="NTKO" initials="A" lastIdx="0" clrIdx="32"/>
  <p:cmAuthor id="34" name="张 春江" initials="张" lastIdx="0" clrIdx="33"/>
  <p:cmAuthor id="35" name="tan menghong" initials="t" lastIdx="0" clrIdx="34"/>
  <p:cmAuthor id="36" name="lenovo" initials="l" lastIdx="0" clrIdx="35"/>
  <p:cmAuthor id="37" name=" " initials=" " lastIdx="0" clrIdx="36"/>
  <p:cmAuthor id="38" name="王超.zing" initials="王" lastIdx="0" clrIdx="37"/>
  <p:cmAuthor id="39" name="陆常勇" initials="陆" lastIdx="0" clrIdx="38"/>
  <p:cmAuthor id="40" name="龚伟" initials="龚" lastIdx="0" clrIdx="39"/>
  <p:cmAuthor id="41" name="YangTing" initials="Y" lastIdx="0" clrIdx="40"/>
  <p:cmAuthor id="42" name="沈霄雷" initials="沈" lastIdx="0" clrIdx="41"/>
  <p:cmAuthor id="43" name="仇怿俊" initials="仇" lastIdx="0" clrIdx="42"/>
  <p:cmAuthor id="44" name="sosgr" initials="s" lastIdx="0" clrIdx="43"/>
  <p:cmAuthor id="45" name="YM.Leo" initials="Y" lastIdx="0" clrIdx="44"/>
  <p:cmAuthor id="46" name="赵宇馨_iAnaFvAB" initials="authorId_639414380" lastIdx="0" clrIdx="45"/>
  <p:cmAuthor id="47" name="韩雨" initials="韩" lastIdx="0" clrIdx="46"/>
  <p:cmAuthor id="48" name="田亚林+_vEn2feIZ" initials="authorId_385966644" lastIdx="0" clrIdx="47"/>
  <p:cmAuthor id="49" name="xuying1" initials="x" lastIdx="0" clrIdx="48"/>
  <p:cmAuthor id="50" name="韩雨_UBvibq63" initials="authorId_353158055" lastIdx="0" clrIdx="49"/>
  <p:cmAuthor id="51" name="赵培勋_3IVrI7J7" initials="authorId_965678369" lastIdx="0" clrIdx="50"/>
  <p:cmAuthor id="52" name="施丽勤_uMzuu63y" initials="authorId_279398808" lastIdx="0" clrIdx="51"/>
  <p:cmAuthor id="53" name="于晖_zy632mY3" initials="authorId_387757713" lastIdx="0" clrIdx="52"/>
  <p:cmAuthor id="54" name="孙军_a2y2UrEv" initials="authorId_524475945" lastIdx="0" clrIdx="53"/>
  <p:cmAuthor id="55" name="KSOGZD21000128" initials="K" lastIdx="0" clrIdx="54"/>
  <p:cmAuthor id="56" name="熊俊阳_JVbuRZzi" initials="authorId_369679057" lastIdx="0" clrIdx="55"/>
  <p:cmAuthor id="57" name="马红" initials="" lastIdx="0" clrIdx="56"/>
  <p:cmAuthor id="58" name="杨彦伟" initials="" lastIdx="0" clrIdx="57"/>
  <p:cmAuthor id="59" name="叶滔" initials="" lastIdx="0" clrIdx="58"/>
  <p:cmAuthor id="60" name="mengshun" initials="" lastIdx="0" clrIdx="59"/>
  <p:cmAuthor id="61" name="吕喜龙" initials="" lastIdx="0" clrIdx="60"/>
  <p:cmAuthor id="62" name="andres.x.gomez" initials="" lastIdx="0" clrIdx="61"/>
  <p:cmAuthor id="63" name="王志虎" initials="" lastIdx="0" clrIdx="62"/>
  <p:cmAuthor id="64" name="gtmc" initials="" lastIdx="0" clrIdx="63"/>
  <p:cmAuthor id="65" name="李明" initials="" lastIdx="0" clrIdx="64"/>
  <p:cmAuthor id="66" name="Lzy" initials="" lastIdx="0" clrIdx="65"/>
  <p:cmAuthor id="67" name="赵琦" initials="" lastIdx="0" clrIdx="66"/>
  <p:cmAuthor id="68" name="张成真" initials="" lastIdx="0" clrIdx="67"/>
  <p:cmAuthor id="69" name="番茄花园" initials="" lastIdx="0" clrIdx="68"/>
  <p:cmAuthor id="70" name="吕冰鑫" initials="" lastIdx="0" clrIdx="69"/>
  <p:cmAuthor id="71" name="evil" initials="" lastIdx="0" clrIdx="70"/>
  <p:cmAuthor id="72" name="dell" initials="" lastIdx="0" clrIdx="71"/>
  <p:cmAuthor id="73" name="吕志勇" initials="" lastIdx="0" clrIdx="72"/>
  <p:cmAuthor id="74" name="未知用户51" initials="" lastIdx="0" clrIdx="73"/>
  <p:cmAuthor id="75" name="何已龙" initials="" lastIdx="0" clrIdx="74"/>
  <p:cmAuthor id="76" name="余志宝" initials="" lastIdx="0" clrIdx="75"/>
  <p:cmAuthor id="77" name="叶得会" initials="" lastIdx="0" clrIdx="76"/>
  <p:cmAuthor id="78" name="USER" initials="" lastIdx="0" clrIdx="77"/>
  <p:cmAuthor id="79" name="王向妮" initials="" lastIdx="0" clrIdx="78"/>
  <p:cmAuthor id="80" name="未知用户17" initials="" lastIdx="0" clrIdx="79"/>
  <p:cmAuthor id="81" name="Azfar Mir" initials="" lastIdx="0" clrIdx="80"/>
  <p:cmAuthor id="82" name="未知用户18" initials="" lastIdx="0" clrIdx="81"/>
  <p:cmAuthor id="83" name="未知用户20" initials="" lastIdx="0" clrIdx="82"/>
  <p:cmAuthor id="84" name="未知用户19" initials="" lastIdx="0" clrIdx="83"/>
  <p:cmAuthor id="85" name="未知用户21" initials="" lastIdx="0" clrIdx="84"/>
  <p:cmAuthor id="86" name="王伟" initials="" lastIdx="0" clrIdx="85"/>
  <p:cmAuthor id="87" name="未知用户14" initials="" lastIdx="0" clrIdx="86"/>
  <p:cmAuthor id="88" name="姜亚荣" initials="" lastIdx="0" clrIdx="87"/>
  <p:cmAuthor id="89" name="未知用户15" initials="" lastIdx="0" clrIdx="88"/>
  <p:cmAuthor id="90" name="杨晶" initials="" lastIdx="0" clrIdx="89"/>
  <p:cmAuthor id="91" name="未知用户16" initials="" lastIdx="0" clrIdx="90"/>
  <p:cmAuthor id="92" name="马静" initials="" lastIdx="0" clrIdx="91"/>
  <p:cmAuthor id="93" name="刘艳龙" initials="" lastIdx="0" clrIdx="92"/>
  <p:cmAuthor id="94" name="李天骄" initials="" lastIdx="0" clrIdx="93"/>
  <p:cmAuthor id="95" name="chunsong_hu" initials="" lastIdx="0" clrIdx="94"/>
  <p:cmAuthor id="96" name="张杰" initials="" lastIdx="0" clrIdx="95"/>
  <p:cmAuthor id="97" name="杨艳霞" initials="" lastIdx="0" clrIdx="96"/>
  <p:cmAuthor id="98" name="rq fan" initials="" lastIdx="0" clrIdx="97"/>
  <p:cmAuthor id="99" name="李永欣" initials="" lastIdx="0" clrIdx="98"/>
  <p:cmAuthor id="100" name="仝德志" initials="" lastIdx="0" clrIdx="99"/>
  <p:cmAuthor id="101" name="宋俭" initials="" lastIdx="0" clrIdx="100"/>
  <p:cmAuthor id="102" name="许弘扬" initials="" lastIdx="0" clrIdx="101"/>
  <p:cmAuthor id="103" name="未知用户23" initials="" lastIdx="0" clrIdx="102"/>
  <p:cmAuthor id="104" name="未知用户24" initials="" lastIdx="0" clrIdx="103"/>
  <p:cmAuthor id="105" name="未知用户25" initials="" lastIdx="0" clrIdx="104"/>
  <p:cmAuthor id="106" name="未知用户26" initials="" lastIdx="0" clrIdx="105"/>
  <p:cmAuthor id="107" name="未知用户27" initials="" lastIdx="0" clrIdx="106"/>
  <p:cmAuthor id="108" name="未知用户28" initials="" lastIdx="0" clrIdx="107"/>
  <p:cmAuthor id="109" name="未知用户29" initials="" lastIdx="0" clrIdx="108"/>
  <p:cmAuthor id="110" name="未知用户30" initials="" lastIdx="0" clrIdx="109"/>
  <p:cmAuthor id="111" name="未知用户10" initials="" lastIdx="0" clrIdx="110"/>
  <p:cmAuthor id="112" name="未知用户12" initials="" lastIdx="0" clrIdx="111"/>
  <p:cmAuthor id="113" name="未知用户11" initials="" lastIdx="0" clrIdx="112"/>
  <p:cmAuthor id="114" name="郝崇" initials="" lastIdx="0" clrIdx="113"/>
  <p:cmAuthor id="115" name="吴杰" initials="" lastIdx="0" clrIdx="114"/>
  <p:cmAuthor id="116" name="刘丽仙" initials="" lastIdx="0" clrIdx="115"/>
  <p:cmAuthor id="117" name="贡鑫" initials="" lastIdx="0" clrIdx="116"/>
  <p:cmAuthor id="118" name="administrator1" initials="" lastIdx="0" clrIdx="117"/>
  <p:cmAuthor id="119" name="杜雪梅" initials="" lastIdx="0" clrIdx="118"/>
  <p:cmAuthor id="120" name="lijin" initials="" lastIdx="0" clrIdx="119"/>
  <p:cmAuthor id="121" name="贾清山" initials="" lastIdx="0" clrIdx="120"/>
  <p:cmAuthor id="122" name="陈桂枝" initials="" lastIdx="0" clrIdx="121"/>
  <p:cmAuthor id="123" name="未知用户" initials="" lastIdx="0" clrIdx="122"/>
  <p:cmAuthor id="124" name="新萝卜家园" initials="" lastIdx="0" clrIdx="123"/>
  <p:cmAuthor id="125" name="李正" initials="" lastIdx="0" clrIdx="124"/>
  <p:cmAuthor id="126" name="吴铭锐" initials="" lastIdx="0" clrIdx="125"/>
  <p:cmAuthor id="127" name="孟祥超" initials="" lastIdx="0" clrIdx="126"/>
  <p:cmAuthor id="128" name="陶川" initials="" lastIdx="0" clrIdx="127"/>
  <p:cmAuthor id="129" name="周开雷" initials="" lastIdx="0" clrIdx="128"/>
  <p:cmAuthor id="130" name="未知用户22" initials="" lastIdx="0" clrIdx="129"/>
  <p:cmAuthor id="131" name="lx" initials="" lastIdx="0" clrIdx="130"/>
  <p:cmAuthor id="132" name="赵兰玉" initials="" lastIdx="0" clrIdx="131"/>
  <p:cmAuthor id="133" name="李振宇" initials="" lastIdx="0" clrIdx="132"/>
  <p:cmAuthor id="134" name="邹洋" initials="" lastIdx="0" clrIdx="133"/>
  <p:cmAuthor id="135" name="未知用户13" initials="" lastIdx="0" clrIdx="134"/>
  <p:cmAuthor id="136" name="yangkun" initials="" lastIdx="0" clrIdx="135"/>
  <p:cmAuthor id="137" name="Lenovo User" initials="" lastIdx="0" clrIdx="136"/>
  <p:cmAuthor id="138" name="hys2" initials="" lastIdx="0" clrIdx="137"/>
  <p:cmAuthor id="139" name="朱绍春" initials="" lastIdx="0" clrIdx="138"/>
  <p:cmAuthor id="140" name="朱悦龙" initials="" lastIdx="0" clrIdx="139"/>
  <p:cmAuthor id="141" name="吴铁映" initials="" lastIdx="0" clrIdx="140"/>
  <p:cmAuthor id="142" name="未知用户9" initials="" lastIdx="0" clrIdx="141"/>
  <p:cmAuthor id="143" name="ZQ" initials="" lastIdx="0" clrIdx="142"/>
  <p:cmAuthor id="144" name="HYZL05" initials="" lastIdx="0" clrIdx="143"/>
  <p:cmAuthor id="145" name="陈尚文" initials="" lastIdx="0" clrIdx="144"/>
  <p:cmAuthor id="146" name="张宏伟" initials="" lastIdx="0" clrIdx="145"/>
  <p:cmAuthor id="147" name="Yuan Hu" initials="" lastIdx="0" clrIdx="146"/>
  <p:cmAuthor id="148" name="张静" initials="" lastIdx="0" clrIdx="147"/>
  <p:cmAuthor id="149" name="Microsoft 帐户" initials="" lastIdx="0" clrIdx="148"/>
  <p:cmAuthor id="150" name="李威" initials="" lastIdx="0" clrIdx="149"/>
  <p:cmAuthor id="151" name="范作霖" initials="" lastIdx="0" clrIdx="150"/>
  <p:cmAuthor id="152" name="李百秋" initials="" lastIdx="0" clrIdx="151"/>
  <p:cmAuthor id="153" name="张立鑫" initials="" lastIdx="0" clrIdx="152"/>
  <p:cmAuthor id="154" name="jgj" initials="" lastIdx="0" clrIdx="153"/>
  <p:cmAuthor id="155" name="杨静" initials="" lastIdx="0" clrIdx="154"/>
  <p:cmAuthor id="156" name="包珊珊" initials="" lastIdx="0" clrIdx="155"/>
  <p:cmAuthor id="157" name="YuQing" initials="" lastIdx="0" clrIdx="156"/>
  <p:cmAuthor id="158" name="Youwen Sun" initials="" lastIdx="0" clrIdx="157"/>
  <p:cmAuthor id="159" name="未知" initials="" lastIdx="0" clrIdx="158"/>
  <p:cmAuthor id="160" name="周满红" initials="" lastIdx="0" clrIdx="159"/>
  <p:cmAuthor id="161" name="未知用户7" initials="" lastIdx="0" clrIdx="160"/>
  <p:cmAuthor id="162" name="未知用户8" initials="" lastIdx="0" clrIdx="161"/>
  <p:cmAuthor id="163" name="李丽华" initials="" lastIdx="0" clrIdx="162"/>
  <p:cmAuthor id="164" name="张惠" initials="" lastIdx="0" clrIdx="163"/>
  <p:cmAuthor id="165" name="Ying Li" initials="" lastIdx="0" clrIdx="164"/>
  <p:cmAuthor id="166" name="魏永生" initials="" lastIdx="0" clrIdx="165"/>
  <p:cmAuthor id="167" name="Zhou, Judy" initials="" lastIdx="0" clrIdx="166"/>
  <p:cmAuthor id="168" name="张钦" initials="" lastIdx="0" clrIdx="167"/>
  <p:cmAuthor id="169" name="nine" initials="" lastIdx="0" clrIdx="168"/>
  <p:cmAuthor id="170" name="涛娜" initials="" lastIdx="0" clrIdx="169"/>
  <p:cmAuthor id="171" name="侯 林" initials="" lastIdx="0" clrIdx="170"/>
  <p:cmAuthor id="172" name="郝志永" initials="" lastIdx="0" clrIdx="171"/>
  <p:cmAuthor id="173" name="hyrx05" initials="" lastIdx="0" clrIdx="172"/>
  <p:cmAuthor id="174" name="徐仕超" initials="" lastIdx="0" clrIdx="173"/>
  <p:cmAuthor id="175" name="未知用户6" initials="" lastIdx="0" clrIdx="174"/>
  <p:cmAuthor id="176" name="王梓合" initials="" lastIdx="0" clrIdx="175"/>
  <p:cmAuthor id="177" name="ADMINIBM" initials="" lastIdx="0" clrIdx="176"/>
  <p:cmAuthor id="178" name="zyf" initials="" lastIdx="0" clrIdx="177"/>
  <p:cmAuthor id="179" name="未知用户49" initials="" lastIdx="0" clrIdx="178"/>
  <p:cmAuthor id="180" name="未知用户50" initials="" lastIdx="0" clrIdx="179"/>
  <p:cmAuthor id="181" name="Chris Kou" initials="" lastIdx="0" clrIdx="180"/>
  <p:cmAuthor id="182" name="未知用户52" initials="" lastIdx="0" clrIdx="181"/>
  <p:cmAuthor id="183" name="未知用户53" initials="" lastIdx="0" clrIdx="182"/>
  <p:cmAuthor id="184" name="未知用户54" initials="" lastIdx="0" clrIdx="183"/>
  <p:cmAuthor id="185" name="未知用户55" initials="" lastIdx="0" clrIdx="184"/>
  <p:cmAuthor id="186" name="宋少霞" initials="" lastIdx="0" clrIdx="185"/>
  <p:cmAuthor id="187" name="未知用户57" initials="" lastIdx="0" clrIdx="186"/>
  <p:cmAuthor id="188" name="未知用户58" initials="" lastIdx="0" clrIdx="187"/>
  <p:cmAuthor id="189" name="未知用户59" initials="" lastIdx="0" clrIdx="188"/>
  <p:cmAuthor id="190" name="光启" initials="" lastIdx="0" clrIdx="189"/>
  <p:cmAuthor id="191" name="原鹏" initials="" lastIdx="0" clrIdx="190"/>
  <p:cmAuthor id="192" name="郑廷东" initials="" lastIdx="0" clrIdx="191"/>
  <p:cmAuthor id="193" name="张田田" initials="" lastIdx="0" clrIdx="192"/>
  <p:cmAuthor id="194" name="未知用户44" initials="" lastIdx="0" clrIdx="193"/>
  <p:cmAuthor id="195" name="未知用户33" initials="" lastIdx="0" clrIdx="194"/>
  <p:cmAuthor id="196" name="zixuan jia" initials="" lastIdx="0" clrIdx="195"/>
  <p:cmAuthor id="197" name="周鑫" initials="" lastIdx="0" clrIdx="196"/>
  <p:cmAuthor id="198" name="于静" initials="" lastIdx="0" clrIdx="197"/>
  <p:cmAuthor id="199" name="郭 里芬" initials="" lastIdx="0" clrIdx="198"/>
  <p:cmAuthor id="200" name="acer1" initials="" lastIdx="0" clrIdx="199"/>
  <p:cmAuthor id="201" name="张永玲" initials="" lastIdx="0" clrIdx="200"/>
  <p:cmAuthor id="202" name="LEO L" initials="" lastIdx="0" clrIdx="201"/>
  <p:cmAuthor id="203" name="李勇" initials="" lastIdx="0" clrIdx="202"/>
  <p:cmAuthor id="204" name="未知用户36" initials="" lastIdx="0" clrIdx="203"/>
  <p:cmAuthor id="205" name="冯帅" initials="" lastIdx="0" clrIdx="204"/>
  <p:cmAuthor id="206" name="侯雪飞" initials="" lastIdx="0" clrIdx="205"/>
  <p:cmAuthor id="207" name="张利英" initials="" lastIdx="0" clrIdx="206"/>
  <p:cmAuthor id="208" name="liu yj" initials="" lastIdx="0" clrIdx="207"/>
  <p:cmAuthor id="209" name="谭涛" initials="" lastIdx="0" clrIdx="208"/>
  <p:cmAuthor id="210" name="scx" initials="" lastIdx="0" clrIdx="209"/>
  <p:cmAuthor id="211" name="qinghui han" initials="" lastIdx="0" clrIdx="210"/>
  <p:cmAuthor id="212" name="未知用户138" initials="" lastIdx="0" clrIdx="211"/>
  <p:cmAuthor id="213" name="毕军(0212009)" initials="" lastIdx="0" clrIdx="212"/>
  <p:cmAuthor id="214" name="未知用户140" initials="" lastIdx="0" clrIdx="213"/>
  <p:cmAuthor id="215" name="未知用户141" initials="" lastIdx="0" clrIdx="214"/>
  <p:cmAuthor id="216" name="未知用户142" initials="" lastIdx="0" clrIdx="215"/>
  <p:cmAuthor id="217" name="未知用户143" initials="" lastIdx="0" clrIdx="216"/>
  <p:cmAuthor id="218" name="未知用户144" initials="" lastIdx="0" clrIdx="217"/>
  <p:cmAuthor id="219" name="王志刚" initials="" lastIdx="0" clrIdx="218"/>
  <p:cmAuthor id="220" name="徐光宇" initials="" lastIdx="0" clrIdx="219"/>
  <p:cmAuthor id="221" name="mac" initials="" lastIdx="0" clrIdx="220"/>
  <p:cmAuthor id="222" name="Liu, Leo (MBSHR cs)" initials="" lastIdx="0" clrIdx="221"/>
  <p:cmAuthor id="223" name="董威" initials="" lastIdx="0" clrIdx="222"/>
  <p:cmAuthor id="224" name="张艳芳" initials="" lastIdx="0" clrIdx="223"/>
  <p:cmAuthor id="225" name="志斌 杜" initials="" lastIdx="0" clrIdx="224"/>
  <p:cmAuthor id="226" name="未知用户88" initials="" lastIdx="0" clrIdx="225"/>
  <p:cmAuthor id="227" name="赵洪丹" initials="" lastIdx="0" clrIdx="226"/>
  <p:cmAuthor id="228" name="????" initials="" lastIdx="0" clrIdx="227"/>
  <p:cmAuthor id="229" name="刘" initials="" lastIdx="0" clrIdx="228"/>
  <p:cmAuthor id="230" name="张德胜" initials="" lastIdx="0" clrIdx="229"/>
  <p:cmAuthor id="231" name="张" initials="" lastIdx="0" clrIdx="230"/>
  <p:cmAuthor id="232" name="赵丽丽" initials="" lastIdx="0" clrIdx="231"/>
  <p:cmAuthor id="233" name="周建文" initials="" lastIdx="0" clrIdx="232"/>
  <p:cmAuthor id="234" name="广东伊利" initials="" lastIdx="0" clrIdx="233"/>
  <p:cmAuthor id="235" name="毛香勤" initials="" lastIdx="0" clrIdx="234"/>
  <p:cmAuthor id="236" name="朱彩霞" initials="" lastIdx="0" clrIdx="235"/>
  <p:cmAuthor id="237" name="admin" initials="" lastIdx="0" clrIdx="236"/>
  <p:cmAuthor id="238" name="王婷慧" initials="" lastIdx="0" clrIdx="237"/>
  <p:cmAuthor id="239" name="未知用户100" initials="" lastIdx="0" clrIdx="238"/>
  <p:cmAuthor id="240" name="未知用户101" initials="" lastIdx="0" clrIdx="239"/>
  <p:cmAuthor id="241" name="Anastasiya Ladoshkina" initials="" lastIdx="0" clrIdx="240"/>
  <p:cmAuthor id="242" name="未知用户72" initials="" lastIdx="0" clrIdx="241"/>
  <p:cmAuthor id="243" name="未知用户73" initials="" lastIdx="0" clrIdx="242"/>
  <p:cmAuthor id="244" name="未知用户41" initials="" lastIdx="0" clrIdx="243"/>
  <p:cmAuthor id="245" name="未知用户60" initials="" lastIdx="0" clrIdx="244"/>
  <p:cmAuthor id="246" name="未知用户46" initials="" lastIdx="0" clrIdx="245"/>
  <p:cmAuthor id="247" name="未知用户47" initials="" lastIdx="0" clrIdx="246"/>
  <p:cmAuthor id="248" name="未知用户43" initials="" lastIdx="0" clrIdx="247"/>
  <p:cmAuthor id="249" name="未知用户79" initials="" lastIdx="0" clrIdx="248"/>
  <p:cmAuthor id="250" name="未知用户80" initials="" lastIdx="0" clrIdx="249"/>
  <p:cmAuthor id="251" name="未知用户81" initials="" lastIdx="0" clrIdx="250"/>
  <p:cmAuthor id="252" name="未知用户56" initials="" lastIdx="0" clrIdx="251"/>
  <p:cmAuthor id="253" name="未知用户83" initials="" lastIdx="0" clrIdx="252"/>
  <p:cmAuthor id="254" name="未知用户84" initials="" lastIdx="0" clrIdx="253"/>
  <p:cmAuthor id="255" name="未知用户85" initials="" lastIdx="0" clrIdx="254"/>
  <p:cmAuthor id="256" name="未知用户86" initials="" lastIdx="0" clrIdx="255"/>
  <p:cmAuthor id="257" name="李刚" initials="" lastIdx="0" clrIdx="256"/>
  <p:cmAuthor id="258" name="Microsoft Office 用户" initials="" lastIdx="0" clrIdx="257"/>
  <p:cmAuthor id="259" name="段振华" initials="" lastIdx="0" clrIdx="258"/>
  <p:cmAuthor id="260" name="沈永强" initials="" lastIdx="0" clrIdx="259"/>
  <p:cmAuthor id="261" name="未知用户139" initials="" lastIdx="0" clrIdx="260"/>
  <p:cmAuthor id="262" name="云峰 贾" initials="" lastIdx="0" clrIdx="261"/>
  <p:cmAuthor id="263" name="薛鹃_VzaeNbUv" initials="authorId_191251885" lastIdx="0" clrIdx="262"/>
  <p:cmAuthor id="264" name="文昊炅_YzYvfm67" initials="authorId_436426381" lastIdx="0" clrIdx="263"/>
  <p:cmAuthor id="265" name="陈淦浩_QfMnbeim" initials="authorId_431536726" lastIdx="0" clrIdx="264"/>
  <p:cmAuthor id="266" name="黄祖莹_26zuAbim" initials="authorId_191251549" lastIdx="0" clrIdx="265"/>
  <p:cmAuthor id="267" name="刘莎_Rnie2Mv6" initials="authorId_1390812686" lastIdx="0" clrIdx="266"/>
  <p:cmAuthor id="268" name="刘烟瑞_ZbmqqauY" initials="authorId_1528848811" lastIdx="0" clrIdx="267"/>
  <p:cmAuthor id="269" name="董耘_um22zMFb" initials="authorId_1461203234" lastIdx="0" clrIdx="268"/>
  <p:cmAuthor id="270" name="CACTER小助手" initials="C" lastIdx="0" clrIdx="26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5B9BD5"/>
    <a:srgbClr val="FFFFFF"/>
    <a:srgbClr val="508AE0"/>
    <a:srgbClr val="548235"/>
    <a:srgbClr val="BC770B"/>
    <a:srgbClr val="E83522"/>
    <a:srgbClr val="ED7D31"/>
    <a:srgbClr val="00B0F0"/>
    <a:srgbClr val="A5C2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C0A49CE-6175-4766-9C39-39BFCF16DFF2}" styleName="表样式 1 19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firstRow>
    <a:neCell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eCell>
    <a:nwCell>
      <a:tcStyle>
        <a:tcBdr>
          <a:left>
            <a:ln>
              <a:noFill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wCell>
  </a:tblStyle>
  <a:tblStyle styleId="{671CAD2F-7468-4BE5-ADA9-849B96642D37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A056680C-F290-4A41-9E4B-4E97E9D86F54}" styleName="三线式标题行表格样式_1">
    <a:wholeTbl>
      <a:tcTxStyle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B3CCDC"/>
              </a:solidFill>
              <a:prstDash val="solid"/>
            </a:ln>
          </a:bottom>
          <a:insideH>
            <a:ln w="9525" cmpd="sng">
              <a:solidFill>
                <a:srgbClr val="B3CCDC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B3CCDC">
              <a:lumMod val="10000"/>
              <a:lumOff val="90000"/>
            </a:srgbClr>
          </a:solidFill>
        </a:fill>
      </a:tcStyle>
    </a:band2H>
    <a:band1V>
      <a:tcStyle>
        <a:tcBdr/>
        <a:fill>
          <a:solidFill>
            <a:srgbClr val="B3CCDC">
              <a:lumMod val="10000"/>
              <a:lumOff val="90000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B3CCDC"/>
              </a:solidFill>
              <a:prstDash val="solid"/>
            </a:ln>
          </a:top>
          <a:bottom>
            <a:ln w="9525" cmpd="sng">
              <a:solidFill>
                <a:srgbClr val="B3CCDC"/>
              </a:solidFill>
              <a:prstDash val="solid"/>
            </a:ln>
          </a:bottom>
          <a:insideH>
            <a:ln w="9525" cmpd="sng">
              <a:solidFill>
                <a:srgbClr val="B3CCDC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B3CCDC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B3CCDC"/>
              </a:solidFill>
              <a:prstDash val="solid"/>
            </a:ln>
          </a:top>
          <a:bottom>
            <a:ln w="9525" cmpd="sng">
              <a:solidFill>
                <a:srgbClr val="B3CCDC"/>
              </a:solidFill>
              <a:prstDash val="solid"/>
            </a:ln>
          </a:bottom>
          <a:insideH>
            <a:ln w="9525" cmpd="sng">
              <a:solidFill>
                <a:srgbClr val="B3CCDC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B3CCDC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B3CCDC"/>
        </a:fontRef>
      </a:tcTxStyle>
      <a:tcStyle>
        <a:tcBdr/>
        <a:fill>
          <a:solidFill>
            <a:srgbClr val="FFFFFF"/>
          </a:solidFill>
        </a:fill>
      </a:tcStyle>
    </a:lastRow>
    <a:seCell>
      <a:tcStyle>
        <a:tcBdr/>
        <a:fill>
          <a:solidFill>
            <a:srgbClr val="FFFFFF"/>
          </a:solidFill>
        </a:fill>
      </a:tcStyle>
    </a:seCell>
    <a:swCell>
      <a:tcStyle>
        <a:tcBdr/>
        <a:fill>
          <a:solidFill>
            <a:srgbClr val="FFFFFF"/>
          </a:solidFill>
        </a:fill>
      </a:tcStyle>
    </a:swCell>
    <a:firstRow>
      <a:tcTxStyle b="on">
        <a:fontRef idx="none">
          <a:srgbClr val="B3CCD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B3CCDC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  <a:neCell>
      <a:tcStyle>
        <a:tcBdr/>
        <a:fill>
          <a:solidFill>
            <a:srgbClr val="FFFFFF"/>
          </a:solidFill>
        </a:fill>
      </a:tcStyle>
    </a:neCell>
    <a:nwCell>
      <a:tcStyle>
        <a:tcBdr/>
        <a:fill>
          <a:solidFill>
            <a:srgbClr val="FFFFFF"/>
          </a:solidFill>
        </a:fill>
      </a:tcStyle>
    </a:nwCell>
  </a:tblStyle>
  <a:tblStyle styleId="{CD34B7C3-1B0F-0207-1DE5-22D91AFE4651}" styleName="WPS表格样式-强调标题和汇总-固定文字色">
    <a:wholeTbl>
      <a:tcTxStyle>
        <a:fontRef idx="none">
          <a:prstClr val="black"/>
        </a:fontRef>
        <a:schemeClr val="dk1">
          <a:lumMod val="85000"/>
          <a:lumOff val="15000"/>
        </a:schemeClr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lt1">
                  <a:lumMod val="80000"/>
                  <a:lumOff val="20000"/>
                </a:schemeClr>
              </a:solidFill>
            </a:ln>
          </a:insideH>
          <a:insideV>
            <a:ln w="12700" cmpd="sng">
              <a:solidFill>
                <a:schemeClr val="lt1">
                  <a:lumMod val="80000"/>
                  <a:lumOff val="20000"/>
                </a:schemeClr>
              </a:solidFill>
            </a:ln>
          </a:insideV>
        </a:tcBdr>
        <a:fill>
          <a:solidFill>
            <a:schemeClr val="accent1">
              <a:alpha val="25000"/>
            </a:schemeClr>
          </a:solidFill>
        </a:fill>
      </a:tcStyle>
    </a:wholeTbl>
    <a:band1H>
      <a:tcTxStyle>
        <a:fontRef idx="none">
          <a:prstClr val="black"/>
        </a:fontRef>
      </a:tcTxStyle>
      <a:tcStyle>
        <a:tcBdr/>
        <a:fill>
          <a:solidFill>
            <a:schemeClr val="accent1">
              <a:alpha val="25000"/>
            </a:schemeClr>
          </a:solidFill>
        </a:fill>
      </a:tcStyle>
    </a:band1H>
    <a:band2H>
      <a:tcTxStyle>
        <a:fontRef idx="none">
          <a:prstClr val="black"/>
        </a:fontRef>
      </a:tcTxStyle>
      <a:tcStyle>
        <a:tcBdr/>
        <a:fill>
          <a:solidFill>
            <a:schemeClr val="accent1">
              <a:alpha val="20000"/>
              <a:lumMod val="50000"/>
              <a:lumOff val="50000"/>
            </a:schemeClr>
          </a:solidFill>
        </a:fill>
      </a:tcStyle>
    </a:band2H>
    <a:lastRow>
      <a:tcTxStyle>
        <a:fontRef idx="none">
          <a:prstClr val="black"/>
        </a:fontRef>
        <a:schemeClr val="lt1"/>
      </a:tcTxStyle>
      <a:tcStyle>
        <a:tcBdr>
          <a:top>
            <a:ln w="28575" cmpd="sng">
              <a:solidFill>
                <a:schemeClr val="lt1">
                  <a:lumMod val="50000"/>
                  <a:lumOff val="50000"/>
                </a:schemeClr>
              </a:solidFill>
            </a:ln>
          </a:top>
          <a:insideV>
            <a:ln w="12700" cmpd="sng">
              <a:solidFill>
                <a:schemeClr val="lt1">
                  <a:lumMod val="50000"/>
                  <a:lumOff val="50000"/>
                </a:schemeClr>
              </a:solidFill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28575" cmpd="sng">
              <a:solidFill>
                <a:schemeClr val="lt1">
                  <a:lumMod val="50000"/>
                  <a:lumOff val="50000"/>
                </a:schemeClr>
              </a:solidFill>
            </a:ln>
          </a:bottom>
          <a:insideV>
            <a:ln w="12700" cmpd="sng">
              <a:solidFill>
                <a:schemeClr val="lt1">
                  <a:lumMod val="50000"/>
                  <a:lumOff val="50000"/>
                </a:schemeClr>
              </a:solidFill>
            </a:ln>
          </a:insideV>
        </a:tcBdr>
        <a:fill>
          <a:solidFill>
            <a:schemeClr val="accent1"/>
          </a:solidFill>
        </a:fill>
      </a:tcStyle>
    </a:firstRow>
  </a:tblStyle>
  <a:tblStyle styleId="{3927BF4F-A770-4385-A2F9-F656E184BD16}" styleName="表样式 1 12 2 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F2F2F2"/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2F2F2"/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3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20000"/>
              <a:lumOff val="80000"/>
            </a:schemeClr>
          </a:solidFill>
        </a:fill>
      </a:tcStyle>
    </a:lastRow>
    <a:firstRow>
      <a:tcTxStyle b="on">
        <a:fontRef idx="none">
          <a:schemeClr val="accent3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20000"/>
              <a:lumOff val="8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5383" autoAdjust="0"/>
  </p:normalViewPr>
  <p:slideViewPr>
    <p:cSldViewPr snapToGrid="0" showGuides="1">
      <p:cViewPr varScale="1">
        <p:scale>
          <a:sx n="69" d="100"/>
          <a:sy n="69" d="100"/>
        </p:scale>
        <p:origin x="564" y="32"/>
      </p:cViewPr>
      <p:guideLst>
        <p:guide orient="horz" pos="2003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1" Type="http://schemas.openxmlformats.org/officeDocument/2006/relationships/tags" Target="tags/tag200.xml"/><Relationship Id="rId50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themeOverride" Target="../theme/themeOverrid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/Users/yywu/Documents/&#25968;&#25454;&#25253;&#34920;/&#26381;&#21153;&#19994;&#32489;&#25104;&#26412;&#25968;&#25454;&#25253;&#34920;-2026&#24180;&#25130;&#27490;4&#26376;&#20221;-20260507-&#21076;&#38500;&#39547;&#22330;&#25104;&#26412;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/Users/yywu/Library/Containers/com.kingsoft.wpsoffice.mac/Data/Library/Application%20Support/Kingsoft/WPS%20Cloud%20Files/userdata/qing/filecache/.244435218/cachedata/A9C6BA0F46BD4645BCD6771DAA6142CA/&#26381;&#21153;&#19994;&#32489;&#25104;&#26412;&#25968;&#25454;&#25253;&#34920;-2026&#24180;&#25130;&#27490;4&#26376;&#20221;-20260507-&#21253;&#21547;&#39547;&#22330;&#25104;&#26412;.xlsx" TargetMode="External"/></Relationships>
</file>

<file path=ppt/charts/_rels/chart5.xml.rels><?xml version="1.0" encoding="UTF-8" standalone="yes"?>
<Relationships xmlns="http://schemas.openxmlformats.org/package/2006/relationships"><Relationship Id="rId4" Type="http://schemas.microsoft.com/office/2011/relationships/chartColorStyle" Target="colors5.xml"/><Relationship Id="rId3" Type="http://schemas.microsoft.com/office/2011/relationships/chartStyle" Target="style5.xml"/><Relationship Id="rId2" Type="http://schemas.openxmlformats.org/officeDocument/2006/relationships/chartUserShapes" Target="../drawings/drawing1.xml"/><Relationship Id="rId1" Type="http://schemas.openxmlformats.org/officeDocument/2006/relationships/oleObject" Target="/Users/yywu/Library/Containers/com.kingsoft.wpsoffice.mac/Data/Library/Application%20Support/Kingsoft/WPS%20Cloud%20Files/userdata/qing/filecache/244435218/&#26700;&#38754;/&#26381;&#21153;&#20307;&#31995;&#25104;&#26412;&#32479;&#35745;/&#26381;&#21153;&#20307;&#31995;&#26376;&#24230;&#25104;&#26412;&#24773;&#20917;&#20998;&#26512;20260508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Coremail\Desktop\2026&#24180;4&#26376;&#26376;&#25253;-20260507-ljx.xls" TargetMode="External"/></Relationships>
</file>

<file path=ppt/charts/_rels/chart7.xml.rels><?xml version="1.0" encoding="UTF-8" standalone="yes"?>
<Relationships xmlns="http://schemas.openxmlformats.org/package/2006/relationships"><Relationship Id="rId4" Type="http://schemas.microsoft.com/office/2011/relationships/chartColorStyle" Target="colors6.xml"/><Relationship Id="rId3" Type="http://schemas.microsoft.com/office/2011/relationships/chartStyle" Target="style6.xml"/><Relationship Id="rId2" Type="http://schemas.openxmlformats.org/officeDocument/2006/relationships/themeOverride" Target="../theme/themeOverride3.xml"/><Relationship Id="rId1" Type="http://schemas.openxmlformats.org/officeDocument/2006/relationships/oleObject" Target="file:///C:\Users\Coremail\Desktop\&#37096;&#38376;&#24635;&#32467;PPT\2026&#24180;&#24230;&#37096;&#38376;&#19994;&#21153;&#24635;&#32467;PPT\2026&#24180;4&#26376;&#20221;&#37096;&#38376;&#19994;&#21153;&#24635;&#32467;PPT&#36755;&#20837;\00-&#24635;&#32467;PPT&#22270;&#31034;&#27169;&#29256;-26&#24180;4&#26376;.xlsx" TargetMode="External"/></Relationships>
</file>

<file path=ppt/charts/_rels/chart8.xml.rels><?xml version="1.0" encoding="UTF-8" standalone="yes"?>
<Relationships xmlns="http://schemas.openxmlformats.org/package/2006/relationships"><Relationship Id="rId4" Type="http://schemas.microsoft.com/office/2011/relationships/chartColorStyle" Target="colors7.xml"/><Relationship Id="rId3" Type="http://schemas.microsoft.com/office/2011/relationships/chartStyle" Target="style7.xml"/><Relationship Id="rId2" Type="http://schemas.openxmlformats.org/officeDocument/2006/relationships/themeOverride" Target="../theme/themeOverride4.xml"/><Relationship Id="rId1" Type="http://schemas.openxmlformats.org/officeDocument/2006/relationships/oleObject" Target="file:///C:\Users\Coremail\Desktop\&#37096;&#38376;&#24635;&#32467;PPT\2026&#24180;&#24230;&#37096;&#38376;&#19994;&#21153;&#24635;&#32467;PPT\2026&#24180;4&#26376;&#20221;&#37096;&#38376;&#19994;&#21153;&#24635;&#32467;PPT&#36755;&#20837;\00-&#24635;&#32467;PPT&#22270;&#31034;&#27169;&#29256;-26&#24180;4&#26376;.xlsx" TargetMode="External"/></Relationships>
</file>

<file path=ppt/charts/_rels/chart9.xml.rels><?xml version="1.0" encoding="UTF-8" standalone="yes"?>
<Relationships xmlns="http://schemas.openxmlformats.org/package/2006/relationships"><Relationship Id="rId4" Type="http://schemas.microsoft.com/office/2011/relationships/chartColorStyle" Target="colors8.xml"/><Relationship Id="rId3" Type="http://schemas.microsoft.com/office/2011/relationships/chartStyle" Target="style8.xml"/><Relationship Id="rId2" Type="http://schemas.openxmlformats.org/officeDocument/2006/relationships/themeOverride" Target="../theme/themeOverride5.xml"/><Relationship Id="rId1" Type="http://schemas.openxmlformats.org/officeDocument/2006/relationships/oleObject" Target="file:///C:\Users\Coremail\Desktop\&#37096;&#38376;&#24635;&#32467;PPT\2026&#24180;&#24230;&#37096;&#38376;&#19994;&#21153;&#24635;&#32467;PPT\2026&#24180;4&#26376;&#20221;&#37096;&#38376;&#19994;&#21153;&#24635;&#32467;PPT&#36755;&#20837;\00-&#24635;&#32467;PPT&#22270;&#31034;&#27169;&#29256;-26&#24180;4&#26376;.xlsx" TargetMode="External"/></Relationships>
</file>

<file path=ppt/charts/_rels/chart10.xml.rels><?xml version="1.0" encoding="UTF-8" standalone="yes"?>
<Relationships xmlns="http://schemas.openxmlformats.org/package/2006/relationships"><Relationship Id="rId4" Type="http://schemas.microsoft.com/office/2011/relationships/chartColorStyle" Target="colors9.xml"/><Relationship Id="rId3" Type="http://schemas.microsoft.com/office/2011/relationships/chartStyle" Target="style9.xml"/><Relationship Id="rId2" Type="http://schemas.openxmlformats.org/officeDocument/2006/relationships/themeOverride" Target="../theme/themeOverride6.xml"/><Relationship Id="rId1" Type="http://schemas.openxmlformats.org/officeDocument/2006/relationships/oleObject" Target="file:///C:\Users\Coremail\Desktop\&#37096;&#38376;&#24635;&#32467;PPT\2026&#24180;&#24230;&#37096;&#38376;&#19994;&#21153;&#24635;&#32467;PPT\2026&#24180;4&#26376;&#20221;&#37096;&#38376;&#19994;&#21153;&#24635;&#32467;PPT&#36755;&#20837;\00-&#24635;&#32467;PPT&#22270;&#31034;&#27169;&#29256;-26&#24180;4&#26376;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file:///C:\Users\Coremail\Desktop\&#37096;&#38376;&#24635;&#32467;PPT\2026&#24180;&#24230;&#37096;&#38376;&#19994;&#21153;&#24635;&#32467;PPT\2026&#24180;4&#26376;&#20221;&#37096;&#38376;&#19994;&#21153;&#24635;&#32467;PPT&#36755;&#20837;\00-&#24635;&#32467;PPT&#22270;&#31034;&#27169;&#29256;-26&#24180;4&#26376;.xlsx" TargetMode="External"/></Relationships>
</file>

<file path=ppt/charts/_rels/chart12.xml.rels><?xml version="1.0" encoding="UTF-8" standalone="yes"?>
<Relationships xmlns="http://schemas.openxmlformats.org/package/2006/relationships"><Relationship Id="rId4" Type="http://schemas.microsoft.com/office/2011/relationships/chartColorStyle" Target="colors11.xml"/><Relationship Id="rId3" Type="http://schemas.microsoft.com/office/2011/relationships/chartStyle" Target="style11.xml"/><Relationship Id="rId2" Type="http://schemas.openxmlformats.org/officeDocument/2006/relationships/themeOverride" Target="../theme/themeOverride7.xml"/><Relationship Id="rId1" Type="http://schemas.openxmlformats.org/officeDocument/2006/relationships/package" Target="../embeddings/Workbook3.xlsx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file:///C:\Users\sybil\Documents\WPS%20Cloud%20Files\.1478830438\cachedata\9884B9F7D88A42D59CC9B0AAB7D801DF\&#26377;&#25928;&#23458;&#25143;&#22238;&#35775;&#26126;&#32454;-&#24050;&#33073;&#25935;-&#26381;&#21153;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oleObject" Target="file:///C:\Users\RONG\Desktop\4&#26376;&#26376;&#25253;\ppt&#28304;&#25968;&#25454;&#65292;&#26368;&#26032;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oleObject" Target="file:///C:\Users\Coremail\Desktop\&#37096;&#38376;&#24635;&#32467;PPT\2026&#24180;&#24230;&#37096;&#38376;&#19994;&#21153;&#24635;&#32467;PPT\2026&#24180;4&#26376;&#20221;&#37096;&#38376;&#19994;&#21153;&#24635;&#32467;PPT&#36755;&#20837;\00-&#24635;&#32467;PPT&#22270;&#31034;&#27169;&#29256;-26&#24180;4&#26376;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oleObject" Target="file:///C:\Users\Coremail\Desktop\&#37096;&#38376;&#24635;&#32467;PPT\2026&#24180;&#24230;&#37096;&#38376;&#19994;&#21153;&#24635;&#32467;PPT\2026&#24180;4&#26376;&#20221;&#37096;&#38376;&#19994;&#21153;&#24635;&#32467;PPT&#36755;&#20837;\00-&#24635;&#32467;PPT&#22270;&#31034;&#27169;&#29256;-26&#24180;4&#26376;.xlsx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oleObject" Target="file:///C:\Users\Coremail\Desktop\&#37096;&#38376;&#24635;&#32467;PPT\2026&#24180;&#24230;&#37096;&#38376;&#19994;&#21153;&#24635;&#32467;PPT\2026&#24180;4&#26376;&#20221;&#37096;&#38376;&#19994;&#21153;&#24635;&#32467;PPT&#36755;&#20837;\00-&#24635;&#32467;PPT&#22270;&#31034;&#27169;&#29256;-26&#24180;4&#26376;.xlsx" TargetMode="External"/></Relationships>
</file>

<file path=ppt/charts/_rels/chart18.xml.rels><?xml version="1.0" encoding="UTF-8" standalone="yes"?>
<Relationships xmlns="http://schemas.openxmlformats.org/package/2006/relationships"><Relationship Id="rId4" Type="http://schemas.microsoft.com/office/2011/relationships/chartColorStyle" Target="colors17.xml"/><Relationship Id="rId3" Type="http://schemas.microsoft.com/office/2011/relationships/chartStyle" Target="style17.xml"/><Relationship Id="rId2" Type="http://schemas.openxmlformats.org/officeDocument/2006/relationships/themeOverride" Target="../theme/themeOverride8.xml"/><Relationship Id="rId1" Type="http://schemas.openxmlformats.org/officeDocument/2006/relationships/oleObject" Target="file:///C:\Users\Coremail\Desktop\&#37096;&#38376;&#24635;&#32467;PPT\2026&#24180;&#24230;&#37096;&#38376;&#19994;&#21153;&#24635;&#32467;PPT\2026&#24180;4&#26376;&#20221;&#37096;&#38376;&#19994;&#21153;&#24635;&#32467;PPT&#36755;&#20837;\00-&#24635;&#32467;PPT&#22270;&#31034;&#27169;&#29256;-26&#24180;4&#26376;.xlsx" TargetMode="External"/></Relationships>
</file>

<file path=ppt/charts/_rels/chart19.xml.rels><?xml version="1.0" encoding="UTF-8" standalone="yes"?>
<Relationships xmlns="http://schemas.openxmlformats.org/package/2006/relationships"><Relationship Id="rId4" Type="http://schemas.microsoft.com/office/2011/relationships/chartColorStyle" Target="colors18.xml"/><Relationship Id="rId3" Type="http://schemas.microsoft.com/office/2011/relationships/chartStyle" Target="style18.xml"/><Relationship Id="rId2" Type="http://schemas.openxmlformats.org/officeDocument/2006/relationships/themeOverride" Target="../theme/themeOverride9.xml"/><Relationship Id="rId1" Type="http://schemas.openxmlformats.org/officeDocument/2006/relationships/oleObject" Target="file:///C:\Users\Coremail\Desktop\&#37096;&#38376;&#24635;&#32467;PPT\2026&#24180;&#24230;&#37096;&#38376;&#19994;&#21153;&#24635;&#32467;PPT\2026&#24180;4&#26376;&#20221;&#37096;&#38376;&#19994;&#21153;&#24635;&#32467;PPT&#36755;&#20837;\00-&#24635;&#32467;PPT&#22270;&#31034;&#27169;&#29256;-26&#24180;4&#26376;.xlsx" TargetMode="External"/></Relationships>
</file>

<file path=ppt/charts/_rels/chart20.xml.rels><?xml version="1.0" encoding="UTF-8" standalone="yes"?>
<Relationships xmlns="http://schemas.openxmlformats.org/package/2006/relationships"><Relationship Id="rId4" Type="http://schemas.microsoft.com/office/2011/relationships/chartColorStyle" Target="colors19.xml"/><Relationship Id="rId3" Type="http://schemas.microsoft.com/office/2011/relationships/chartStyle" Target="style19.xml"/><Relationship Id="rId2" Type="http://schemas.openxmlformats.org/officeDocument/2006/relationships/themeOverride" Target="../theme/themeOverride10.xml"/><Relationship Id="rId1" Type="http://schemas.openxmlformats.org/officeDocument/2006/relationships/oleObject" Target="file:///C:\Users\Coremail\Desktop\&#37096;&#38376;&#24635;&#32467;PPT\2026&#24180;&#24230;&#37096;&#38376;&#19994;&#21153;&#24635;&#32467;PPT\2026&#24180;4&#26376;&#20221;&#37096;&#38376;&#19994;&#21153;&#24635;&#32467;PPT&#36755;&#20837;\00-&#24635;&#32467;PPT&#22270;&#31034;&#27169;&#29256;-26&#24180;4&#26376;.xlsx" TargetMode="External"/></Relationships>
</file>

<file path=ppt/charts/_rels/chart21.xml.rels><?xml version="1.0" encoding="UTF-8" standalone="yes"?>
<Relationships xmlns="http://schemas.openxmlformats.org/package/2006/relationships"><Relationship Id="rId3" Type="http://schemas.microsoft.com/office/2011/relationships/chartColorStyle" Target="colors20.xml"/><Relationship Id="rId2" Type="http://schemas.microsoft.com/office/2011/relationships/chartStyle" Target="style20.xml"/><Relationship Id="rId1" Type="http://schemas.openxmlformats.org/officeDocument/2006/relationships/oleObject" Target="file:///C:\Users\RONG\Desktop\4&#26376;&#26376;&#25253;\ppt&#28304;&#25968;&#25454;&#65292;&#26368;&#26032;.xlsx" TargetMode="External"/></Relationships>
</file>

<file path=ppt/charts/_rels/chart22.xml.rels><?xml version="1.0" encoding="UTF-8" standalone="yes"?>
<Relationships xmlns="http://schemas.openxmlformats.org/package/2006/relationships"><Relationship Id="rId3" Type="http://schemas.microsoft.com/office/2011/relationships/chartColorStyle" Target="colors21.xml"/><Relationship Id="rId2" Type="http://schemas.microsoft.com/office/2011/relationships/chartStyle" Target="style21.xml"/><Relationship Id="rId1" Type="http://schemas.openxmlformats.org/officeDocument/2006/relationships/package" Target="../embeddings/Workbook5.xlsx"/></Relationships>
</file>

<file path=ppt/charts/_rels/chart23.xml.rels><?xml version="1.0" encoding="UTF-8" standalone="yes"?>
<Relationships xmlns="http://schemas.openxmlformats.org/package/2006/relationships"><Relationship Id="rId3" Type="http://schemas.microsoft.com/office/2011/relationships/chartColorStyle" Target="colors22.xml"/><Relationship Id="rId2" Type="http://schemas.microsoft.com/office/2011/relationships/chartStyle" Target="style22.xml"/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/>
              <a:t>年度人数对比情况</a:t>
            </a:r>
            <a:endParaRPr 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在职人数对比!$A$3</c:f>
              <c:strCache>
                <c:ptCount val="1"/>
                <c:pt idx="0">
                  <c:v>2025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038979251586517"/>
                  <c:y val="-0.069119369342176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343333336381836"/>
                  <c:y val="-0.069119369342176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在职人数对比!$B$3:$M$3</c:f>
              <c:numCache>
                <c:formatCode>General</c:formatCode>
                <c:ptCount val="12"/>
                <c:pt idx="0">
                  <c:v>101</c:v>
                </c:pt>
                <c:pt idx="1">
                  <c:v>100</c:v>
                </c:pt>
                <c:pt idx="2">
                  <c:v>96</c:v>
                </c:pt>
                <c:pt idx="3">
                  <c:v>97</c:v>
                </c:pt>
                <c:pt idx="4">
                  <c:v>91</c:v>
                </c:pt>
                <c:pt idx="5">
                  <c:v>89</c:v>
                </c:pt>
                <c:pt idx="6">
                  <c:v>86</c:v>
                </c:pt>
                <c:pt idx="7">
                  <c:v>85</c:v>
                </c:pt>
                <c:pt idx="8">
                  <c:v>89</c:v>
                </c:pt>
                <c:pt idx="9">
                  <c:v>89</c:v>
                </c:pt>
                <c:pt idx="10">
                  <c:v>91</c:v>
                </c:pt>
                <c:pt idx="11">
                  <c:v>91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在职人数对比!$A$4</c:f>
              <c:strCache>
                <c:ptCount val="1"/>
                <c:pt idx="0">
                  <c:v>2026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0111037438965168"/>
                  <c:y val="0.03703665865775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273644567156836"/>
                  <c:y val="0.03703665865775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273644567156836"/>
                  <c:y val="0.060626887102181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878078492235007"/>
                  <c:y val="0.054729329991074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343333336381837"/>
                  <c:y val="0.048831772879967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296874156898502"/>
                  <c:y val="0.060626887102181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320103746640169"/>
                  <c:y val="0.06652444421328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"/>
                  <c:y val="0.142435859628428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8"/>
              <c:layout>
                <c:manualLayout>
                  <c:x val="-0.0296874156898502"/>
                  <c:y val="0.042934215768860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9"/>
              <c:layout>
                <c:manualLayout>
                  <c:x val="-0.0296874156898502"/>
                  <c:y val="0.03703665865775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0"/>
              <c:layout>
                <c:manualLayout>
                  <c:x val="-0.0273644567156835"/>
                  <c:y val="0.054729329991074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-0.0157496618448503"/>
                  <c:y val="0.048831772879967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在职人数对比!$B$4:$M$4</c:f>
              <c:numCache>
                <c:formatCode>General</c:formatCode>
                <c:ptCount val="12"/>
                <c:pt idx="0">
                  <c:v>91</c:v>
                </c:pt>
                <c:pt idx="1">
                  <c:v>89</c:v>
                </c:pt>
                <c:pt idx="2">
                  <c:v>88</c:v>
                </c:pt>
                <c:pt idx="3">
                  <c:v>88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4041752"/>
        <c:axId val="364042144"/>
      </c:lineChart>
      <c:catAx>
        <c:axId val="364041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364042144"/>
        <c:crosses val="autoZero"/>
        <c:auto val="1"/>
        <c:lblAlgn val="ctr"/>
        <c:lblOffset val="100"/>
        <c:noMultiLvlLbl val="0"/>
      </c:catAx>
      <c:valAx>
        <c:axId val="364042144"/>
        <c:scaling>
          <c:orientation val="minMax"/>
          <c:max val="130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364041752"/>
        <c:crosses val="autoZero"/>
        <c:crossBetween val="between"/>
        <c:majorUnit val="10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5e58558-3e13-4a16-8e20-a3adc937adaa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/>
              <a:t>年度人数对比情况</a:t>
            </a:r>
            <a:r>
              <a:rPr lang="zh-CN" altLang="en-US"/>
              <a:t>（含驻场）</a:t>
            </a:r>
            <a:endParaRPr 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在职人数对比!$A$9</c:f>
              <c:strCache>
                <c:ptCount val="1"/>
                <c:pt idx="0">
                  <c:v>2025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045111863278317"/>
                  <c:y val="-0.068116598324477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404659453299836"/>
                  <c:y val="-0.074474366941199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在职人数对比!$B$9:$M$9</c:f>
              <c:numCache>
                <c:formatCode>General</c:formatCode>
                <c:ptCount val="12"/>
                <c:pt idx="0">
                  <c:v>115</c:v>
                </c:pt>
                <c:pt idx="1">
                  <c:v>114</c:v>
                </c:pt>
                <c:pt idx="2">
                  <c:v>110</c:v>
                </c:pt>
                <c:pt idx="3">
                  <c:v>112</c:v>
                </c:pt>
                <c:pt idx="4">
                  <c:v>107</c:v>
                </c:pt>
                <c:pt idx="5">
                  <c:v>105</c:v>
                </c:pt>
                <c:pt idx="6">
                  <c:v>102</c:v>
                </c:pt>
                <c:pt idx="7">
                  <c:v>102</c:v>
                </c:pt>
                <c:pt idx="8">
                  <c:v>107</c:v>
                </c:pt>
                <c:pt idx="9">
                  <c:v>108</c:v>
                </c:pt>
                <c:pt idx="10">
                  <c:v>109</c:v>
                </c:pt>
                <c:pt idx="11">
                  <c:v>109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在职人数对比!$A$10</c:f>
              <c:strCache>
                <c:ptCount val="1"/>
                <c:pt idx="0">
                  <c:v>2026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0404659453299836"/>
                  <c:y val="0.080840613912680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358200273816503"/>
                  <c:y val="0.059053735812470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38142986355817"/>
                  <c:y val="0.055034810021662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404659453299837"/>
                  <c:y val="0.064870064598770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427889043041503"/>
                  <c:y val="0.064870064598770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404659453299836"/>
                  <c:y val="0.045939111894849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38142986355817"/>
                  <c:y val="0.058777939919385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418118466898955"/>
                  <c:y val="0.141545281823939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8"/>
              <c:layout>
                <c:manualLayout>
                  <c:x val="-0.0358200273816503"/>
                  <c:y val="0.071445599384770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9"/>
              <c:layout>
                <c:manualLayout>
                  <c:x val="-0.0358200273816503"/>
                  <c:y val="0.077779429117463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0"/>
              <c:layout>
                <c:manualLayout>
                  <c:x val="-0.0381429863558171"/>
                  <c:y val="0.077779429117463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-0.034484783246893"/>
                  <c:y val="0.077779429117463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在职人数对比!$B$10:$M$10</c:f>
              <c:numCache>
                <c:formatCode>General</c:formatCode>
                <c:ptCount val="12"/>
                <c:pt idx="0">
                  <c:v>109</c:v>
                </c:pt>
                <c:pt idx="1">
                  <c:v>106</c:v>
                </c:pt>
                <c:pt idx="2">
                  <c:v>107</c:v>
                </c:pt>
                <c:pt idx="3">
                  <c:v>106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4041752"/>
        <c:axId val="364042144"/>
      </c:lineChart>
      <c:catAx>
        <c:axId val="364041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364042144"/>
        <c:crosses val="autoZero"/>
        <c:auto val="1"/>
        <c:lblAlgn val="ctr"/>
        <c:lblOffset val="100"/>
        <c:noMultiLvlLbl val="0"/>
      </c:catAx>
      <c:valAx>
        <c:axId val="364042144"/>
        <c:scaling>
          <c:orientation val="minMax"/>
          <c:max val="130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364041752"/>
        <c:crosses val="autoZero"/>
        <c:crossBetween val="between"/>
        <c:majorUnit val="10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1dd2938-ad52-4dc6-a65c-a35deea39397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900" b="0" i="0" u="none" strike="noStrike" kern="1200" spc="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900" b="1" u="none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en-US" altLang="zh-CN" sz="900" b="1" u="none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26</a:t>
            </a:r>
            <a:r>
              <a:rPr sz="900" b="1" u="none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年截止</a:t>
            </a:r>
            <a:r>
              <a:rPr lang="en-US" altLang="zh-CN" sz="900" b="1" u="none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altLang="en-US" sz="900" b="1" u="none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月累计每万元业绩</a:t>
            </a:r>
            <a:r>
              <a:rPr lang="en-US" altLang="zh-CN" sz="900" b="1" u="none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（传统）</a:t>
            </a:r>
            <a:r>
              <a:rPr altLang="en-US" sz="900" b="1" u="none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服务成本</a:t>
            </a:r>
            <a:r>
              <a:rPr lang="en-US" altLang="zh-CN" sz="900" b="1" u="none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altLang="en-US" sz="900" b="1" u="none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不含驻场</a:t>
            </a:r>
            <a:r>
              <a:rPr lang="en-US" altLang="zh-CN" sz="900" b="1" u="none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altLang="en-US" sz="900" b="1" u="none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及回款</a:t>
            </a:r>
            <a:r>
              <a:rPr sz="900" b="1" u="none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情况-总体</a:t>
            </a:r>
            <a:endParaRPr sz="900" b="1" u="none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>
        <c:manualLayout>
          <c:xMode val="edge"/>
          <c:yMode val="edge"/>
          <c:x val="0.10001873009927"/>
          <c:y val="0.013992129427197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681044267877412"/>
          <c:y val="0.279592702588036"/>
          <c:w val="0.857979568671964"/>
          <c:h val="0.631820110309716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'[服务业绩成本数据报表-2026年截止4月份-20260507-剔除驻场成本.xlsx]辅助图表数据'!$B$5</c:f>
              <c:strCache>
                <c:ptCount val="1"/>
                <c:pt idx="0">
                  <c:v>回款业绩（万元）</c:v>
                </c:pt>
              </c:strCache>
            </c:strRef>
          </c:tx>
          <c:spPr>
            <a:solidFill>
              <a:srgbClr val="F8CBAD"/>
            </a:solidFill>
            <a:ln>
              <a:solidFill>
                <a:schemeClr val="accent2">
                  <a:lumMod val="50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explosion val="0"/>
            <c:spPr>
              <a:solidFill>
                <a:srgbClr val="9DC3E6"/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0615050651230101"/>
                  <c:y val="-0.20981726804456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732528293621926"/>
                  <c:y val="-0.28095128763140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'[服务业绩成本数据报表-2026年截止4月份-20260507-剔除驻场成本.xlsx]辅助图表数据'!$C$3:$D$3</c:f>
              <c:strCache>
                <c:ptCount val="2"/>
                <c:pt idx="0">
                  <c:v>2025年</c:v>
                </c:pt>
                <c:pt idx="1">
                  <c:v>2026年</c:v>
                </c:pt>
              </c:strCache>
            </c:strRef>
          </c:cat>
          <c:val>
            <c:numRef>
              <c:f>'[服务业绩成本数据报表-2026年截止4月份-20260507-剔除驻场成本.xlsx]辅助图表数据'!$C$5:$D$5</c:f>
              <c:numCache>
                <c:formatCode>0_ </c:formatCode>
                <c:ptCount val="2"/>
                <c:pt idx="0">
                  <c:v>4102.51399435801</c:v>
                </c:pt>
                <c:pt idx="1">
                  <c:v>4219.09161996183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66555682"/>
        <c:axId val="969158054"/>
      </c:barChart>
      <c:lineChart>
        <c:grouping val="standard"/>
        <c:varyColors val="0"/>
        <c:ser>
          <c:idx val="0"/>
          <c:order val="0"/>
          <c:tx>
            <c:strRef>
              <c:f>'[服务业绩成本数据报表-2026年截止4月份-20260507-剔除驻场成本.xlsx]辅助图表数据'!$B$4</c:f>
              <c:strCache>
                <c:ptCount val="1"/>
                <c:pt idx="0">
                  <c:v>每万元业绩服务成本（元）</c:v>
                </c:pt>
              </c:strCache>
            </c:strRef>
          </c:tx>
          <c:spPr>
            <a:ln w="28575" cap="sq" cmpd="sng">
              <a:solidFill>
                <a:schemeClr val="accent2">
                  <a:lumMod val="50000"/>
                </a:schemeClr>
              </a:solidFill>
              <a:prstDash val="solid"/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explosion val="0"/>
            <c:spPr>
              <a:ln w="28575" cap="sq" cmpd="sng">
                <a:solidFill>
                  <a:schemeClr val="accent2">
                    <a:lumMod val="50000"/>
                  </a:schemeClr>
                </a:solidFill>
                <a:prstDash val="solid"/>
                <a:round/>
              </a:ln>
              <a:effectLst/>
            </c:spPr>
          </c:dPt>
          <c:dPt>
            <c:idx val="1"/>
            <c:marker>
              <c:symbol val="none"/>
            </c:marker>
            <c:bubble3D val="0"/>
            <c:explosion val="0"/>
            <c:spPr>
              <a:ln w="28575" cap="sq" cmpd="sng">
                <a:solidFill>
                  <a:schemeClr val="accent2">
                    <a:lumMod val="50000"/>
                  </a:schemeClr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layout>
                <c:manualLayout>
                  <c:x val="-0.0427046263345196"/>
                  <c:y val="-0.0332313073895934"/>
                </c:manualLayout>
              </c:layout>
              <c:numFmt formatCode="General" sourceLinked="1"/>
              <c:spPr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0"/>
                <a:lstStyle/>
                <a:p>
                  <a:pPr>
                    <a:defRPr lang="zh-CN" sz="700" b="1" i="0" u="none" strike="noStrike" kern="1200" cap="none" spc="0" normalizeH="0" baseline="0">
                      <a:solidFill>
                        <a:sysClr val="windowText" lastClr="000000"/>
                      </a:solidFill>
                      <a:uFill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2133938706016"/>
                      <c:h val="0.039669070852779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0.067281157121856"/>
                  <c:y val="-0.0336169562697871"/>
                </c:manualLayout>
              </c:layout>
              <c:numFmt formatCode="General" sourceLinked="1"/>
              <c:spPr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0"/>
                <a:lstStyle/>
                <a:p>
                  <a:pPr>
                    <a:defRPr lang="zh-CN" sz="700" b="1" i="0" u="none" strike="noStrike" kern="1200" cap="none" spc="0" normalizeH="0" baseline="0">
                      <a:solidFill>
                        <a:sysClr val="windowText" lastClr="000000"/>
                      </a:solidFill>
                      <a:uFill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>
                  <a:defRPr lang="zh-CN" sz="700" b="1" i="0" u="none" strike="noStrike" kern="1200" cap="none" spc="0" normalizeH="0" baseline="0">
                    <a:solidFill>
                      <a:sysClr val="windowText" lastClr="000000"/>
                    </a:solidFill>
                    <a:uFill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'[服务业绩成本数据报表-2026年截止4月份-20260507-剔除驻场成本.xlsx]辅助图表数据'!$C$3:$D$3</c:f>
              <c:strCache>
                <c:ptCount val="2"/>
                <c:pt idx="0">
                  <c:v>2025年</c:v>
                </c:pt>
                <c:pt idx="1">
                  <c:v>2026年</c:v>
                </c:pt>
              </c:strCache>
            </c:strRef>
          </c:cat>
          <c:val>
            <c:numRef>
              <c:f>'[服务业绩成本数据报表-2026年截止4月份-20260507-剔除驻场成本.xlsx]辅助图表数据'!$C$4:$D$4</c:f>
              <c:numCache>
                <c:formatCode>0_ </c:formatCode>
                <c:ptCount val="2"/>
                <c:pt idx="0">
                  <c:v>2215.76135247021</c:v>
                </c:pt>
                <c:pt idx="1">
                  <c:v>2342.33109863651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911436817"/>
        <c:axId val="528282418"/>
      </c:lineChart>
      <c:catAx>
        <c:axId val="911436817"/>
        <c:scaling>
          <c:orientation val="minMax"/>
        </c:scaling>
        <c:delete val="0"/>
        <c:axPos val="b"/>
        <c:majorTickMark val="out"/>
        <c:minorTickMark val="in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28282418"/>
        <c:crosses val="autoZero"/>
        <c:auto val="1"/>
        <c:lblAlgn val="ctr"/>
        <c:lblOffset val="100"/>
        <c:noMultiLvlLbl val="0"/>
      </c:catAx>
      <c:valAx>
        <c:axId val="528282418"/>
        <c:scaling>
          <c:orientation val="minMax"/>
          <c:max val="12000"/>
        </c:scaling>
        <c:delete val="0"/>
        <c:axPos val="l"/>
        <c:numFmt formatCode="0_ 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911436817"/>
        <c:crosses val="autoZero"/>
        <c:crossBetween val="between"/>
        <c:majorUnit val="1000"/>
      </c:valAx>
      <c:catAx>
        <c:axId val="366555682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969158054"/>
        <c:crosses val="autoZero"/>
        <c:auto val="1"/>
        <c:lblAlgn val="ctr"/>
        <c:lblOffset val="100"/>
        <c:noMultiLvlLbl val="0"/>
      </c:catAx>
      <c:valAx>
        <c:axId val="969158054"/>
        <c:scaling>
          <c:orientation val="minMax"/>
          <c:max val="4500"/>
          <c:min val="0"/>
        </c:scaling>
        <c:delete val="0"/>
        <c:axPos val="r"/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366555682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01094267247164"/>
          <c:y val="0.20996206458961"/>
          <c:w val="0.586439408128863"/>
          <c:h val="0.071855414662585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2bed5fb-c708-42f6-b6b9-1ff60aeafa20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u="none">
          <a:solidFill>
            <a:sysClr val="windowText" lastClr="000000"/>
          </a:solidFill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900" b="0" i="0" u="none" strike="noStrike" kern="1200" spc="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900" b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en-US" altLang="zh-CN" sz="900" b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26</a:t>
            </a:r>
            <a:r>
              <a:rPr sz="900" b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年截止</a:t>
            </a:r>
            <a:r>
              <a:rPr lang="en-US" altLang="zh-CN" sz="900" b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altLang="en-US" sz="900" b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月累计每万元业绩</a:t>
            </a:r>
            <a:r>
              <a:rPr lang="en-US" altLang="zh-CN" sz="900" b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altLang="en-US" sz="900" b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传统</a:t>
            </a:r>
            <a:r>
              <a:rPr lang="en-US" altLang="zh-CN" sz="900" b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altLang="en-US" sz="900" b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服务成本</a:t>
            </a:r>
            <a:r>
              <a:rPr lang="en-US" altLang="zh-CN" sz="900" b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altLang="en-US" sz="900" b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含驻场</a:t>
            </a:r>
            <a:r>
              <a:rPr lang="en-US" altLang="zh-CN" sz="900" b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altLang="en-US" sz="900" b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及回款</a:t>
            </a:r>
            <a:r>
              <a:rPr sz="900" b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情况-总体</a:t>
            </a:r>
            <a:endParaRPr sz="900" b="1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>
        <c:manualLayout>
          <c:xMode val="edge"/>
          <c:yMode val="edge"/>
          <c:x val="0.10001873009927"/>
          <c:y val="0.013992129427197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733317037399169"/>
          <c:y val="0.279533404029692"/>
          <c:w val="0.847078953801027"/>
          <c:h val="0.631898197242842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'[服务业绩成本数据报表-2026年截止4月份-20260507-包含驻场成本.xlsx]辅助图表数据'!$B$5</c:f>
              <c:strCache>
                <c:ptCount val="1"/>
                <c:pt idx="0">
                  <c:v>回款业绩（万元）</c:v>
                </c:pt>
              </c:strCache>
            </c:strRef>
          </c:tx>
          <c:spPr>
            <a:solidFill>
              <a:srgbClr val="F8CBAD"/>
            </a:solidFill>
            <a:ln>
              <a:solidFill>
                <a:schemeClr val="accent2">
                  <a:lumMod val="50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explosion val="0"/>
            <c:spPr>
              <a:solidFill>
                <a:srgbClr val="9DC3E6"/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066931982633864"/>
                  <c:y val="-0.19870101051792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425002968006875"/>
                  <c:y val="-0.2727684869520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'[服务业绩成本数据报表-2026年截止4月份-20260507-包含驻场成本.xlsx]辅助图表数据'!$C$3:$D$3</c:f>
              <c:strCache>
                <c:ptCount val="2"/>
                <c:pt idx="0">
                  <c:v>2025年</c:v>
                </c:pt>
                <c:pt idx="1">
                  <c:v>2026年</c:v>
                </c:pt>
              </c:strCache>
            </c:strRef>
          </c:cat>
          <c:val>
            <c:numRef>
              <c:f>'[服务业绩成本数据报表-2026年截止4月份-20260507-包含驻场成本.xlsx]辅助图表数据'!$C$5:$D$5</c:f>
              <c:numCache>
                <c:formatCode>0_ </c:formatCode>
                <c:ptCount val="2"/>
                <c:pt idx="0">
                  <c:v>4102.51399435801</c:v>
                </c:pt>
                <c:pt idx="1">
                  <c:v>4219.09161996183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66555682"/>
        <c:axId val="969158054"/>
      </c:barChart>
      <c:lineChart>
        <c:grouping val="standard"/>
        <c:varyColors val="0"/>
        <c:ser>
          <c:idx val="0"/>
          <c:order val="0"/>
          <c:tx>
            <c:strRef>
              <c:f>'[服务业绩成本数据报表-2026年截止4月份-20260507-包含驻场成本.xlsx]辅助图表数据'!$B$4</c:f>
              <c:strCache>
                <c:ptCount val="1"/>
                <c:pt idx="0">
                  <c:v>每万元业绩服务成本（元）</c:v>
                </c:pt>
              </c:strCache>
            </c:strRef>
          </c:tx>
          <c:spPr>
            <a:ln w="28575" cap="sq" cmpd="sng">
              <a:solidFill>
                <a:schemeClr val="accent2">
                  <a:lumMod val="50000"/>
                </a:schemeClr>
              </a:solidFill>
              <a:prstDash val="solid"/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explosion val="0"/>
            <c:spPr>
              <a:ln w="28575" cap="sq" cmpd="sng">
                <a:solidFill>
                  <a:schemeClr val="accent2">
                    <a:lumMod val="50000"/>
                  </a:schemeClr>
                </a:solidFill>
                <a:prstDash val="solid"/>
                <a:round/>
              </a:ln>
              <a:effectLst/>
            </c:spPr>
          </c:dPt>
          <c:dPt>
            <c:idx val="1"/>
            <c:marker>
              <c:symbol val="none"/>
            </c:marker>
            <c:bubble3D val="0"/>
            <c:explosion val="0"/>
            <c:spPr>
              <a:ln w="28575" cap="sq" cmpd="sng">
                <a:solidFill>
                  <a:schemeClr val="accent2">
                    <a:lumMod val="50000"/>
                  </a:schemeClr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layout>
                <c:manualLayout>
                  <c:x val="-0.0745425423981955"/>
                  <c:y val="-0.0360103717712515"/>
                </c:manualLayout>
              </c:layout>
              <c:numFmt formatCode="General" sourceLinked="1"/>
              <c:spPr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0"/>
                <a:lstStyle/>
                <a:p>
                  <a:pPr>
                    <a:defRPr lang="zh-CN" sz="700" b="1" i="0" u="none" strike="noStrike" kern="1200" cap="none" spc="0" normalizeH="0" baseline="0">
                      <a:solidFill>
                        <a:sysClr val="windowText" lastClr="000000"/>
                      </a:solidFill>
                      <a:uFill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37984496124"/>
                      <c:h val="0.0404461166353131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0.067281157121856"/>
                  <c:y val="-0.0336169562697871"/>
                </c:manualLayout>
              </c:layout>
              <c:numFmt formatCode="General" sourceLinked="1"/>
              <c:spPr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0"/>
                <a:lstStyle/>
                <a:p>
                  <a:pPr>
                    <a:defRPr lang="zh-CN" sz="700" b="1" i="0" u="none" strike="noStrike" kern="1200" cap="none" spc="0" normalizeH="0" baseline="0">
                      <a:solidFill>
                        <a:sysClr val="windowText" lastClr="000000"/>
                      </a:solidFill>
                      <a:uFill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>
                  <a:defRPr lang="zh-CN" sz="700" b="1" i="0" u="none" strike="noStrike" kern="1200" cap="none" spc="0" normalizeH="0" baseline="0">
                    <a:solidFill>
                      <a:sysClr val="windowText" lastClr="000000"/>
                    </a:solidFill>
                    <a:uFill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'[服务业绩成本数据报表-2026年截止4月份-20260507-包含驻场成本.xlsx]辅助图表数据'!$C$3:$D$3</c:f>
              <c:strCache>
                <c:ptCount val="2"/>
                <c:pt idx="0">
                  <c:v>2025年</c:v>
                </c:pt>
                <c:pt idx="1">
                  <c:v>2026年</c:v>
                </c:pt>
              </c:strCache>
            </c:strRef>
          </c:cat>
          <c:val>
            <c:numRef>
              <c:f>'[服务业绩成本数据报表-2026年截止4月份-20260507-包含驻场成本.xlsx]辅助图表数据'!$C$4:$D$4</c:f>
              <c:numCache>
                <c:formatCode>0_ </c:formatCode>
                <c:ptCount val="2"/>
                <c:pt idx="0">
                  <c:v>2573.0256531768</c:v>
                </c:pt>
                <c:pt idx="1">
                  <c:v>2674.73416351091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911436817"/>
        <c:axId val="528282418"/>
      </c:lineChart>
      <c:catAx>
        <c:axId val="911436817"/>
        <c:scaling>
          <c:orientation val="minMax"/>
        </c:scaling>
        <c:delete val="0"/>
        <c:axPos val="b"/>
        <c:majorTickMark val="out"/>
        <c:minorTickMark val="in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28282418"/>
        <c:crosses val="autoZero"/>
        <c:auto val="1"/>
        <c:lblAlgn val="ctr"/>
        <c:lblOffset val="100"/>
        <c:noMultiLvlLbl val="0"/>
      </c:catAx>
      <c:valAx>
        <c:axId val="528282418"/>
        <c:scaling>
          <c:orientation val="minMax"/>
          <c:max val="12000"/>
        </c:scaling>
        <c:delete val="0"/>
        <c:axPos val="l"/>
        <c:numFmt formatCode="0_ 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911436817"/>
        <c:crosses val="autoZero"/>
        <c:crossBetween val="between"/>
        <c:majorUnit val="1000"/>
      </c:valAx>
      <c:catAx>
        <c:axId val="366555682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969158054"/>
        <c:crosses val="autoZero"/>
        <c:auto val="1"/>
        <c:lblAlgn val="ctr"/>
        <c:lblOffset val="100"/>
        <c:noMultiLvlLbl val="0"/>
      </c:catAx>
      <c:valAx>
        <c:axId val="969158054"/>
        <c:scaling>
          <c:orientation val="minMax"/>
          <c:max val="4500"/>
          <c:min val="0"/>
        </c:scaling>
        <c:delete val="0"/>
        <c:axPos val="r"/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366555682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0362627807572902"/>
          <c:y val="0.199336014885901"/>
          <c:w val="0.586439408128863"/>
          <c:h val="0.071855414662585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c74e426-ae17-42f5-8fb1-8d0c237049bd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700">
          <a:solidFill>
            <a:sysClr val="windowText" lastClr="000000"/>
          </a:solidFill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服务体系成本情况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[服务体系月度成本情况分析20260508.xlsx]同比!$I$2</c:f>
              <c:strCache>
                <c:ptCount val="1"/>
                <c:pt idx="0">
                  <c:v>25年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/>
                </a:gs>
              </a:gsLst>
              <a:lin ang="5400000" scaled="0"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dLbl>
              <c:idx val="0"/>
              <c:layout>
                <c:manualLayout>
                  <c:x val="0.00164148900663825"/>
                  <c:y val="0.0064516129032257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0889035612225736"/>
                  <c:y val="0.001505376344086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174733203367511"/>
                  <c:y val="0.00623655913978495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[服务体系月度成本情况分析20260508.xlsx]同比!$H$3:$H$5</c:f>
              <c:strCache>
                <c:ptCount val="3"/>
                <c:pt idx="0">
                  <c:v>总成本</c:v>
                </c:pt>
                <c:pt idx="1">
                  <c:v>人力成本</c:v>
                </c:pt>
                <c:pt idx="2">
                  <c:v>销售费用</c:v>
                </c:pt>
              </c:strCache>
            </c:strRef>
          </c:cat>
          <c:val>
            <c:numRef>
              <c:f>[服务体系月度成本情况分析20260508.xlsx]同比!$I$3:$I$5</c:f>
              <c:numCache>
                <c:formatCode>0.00_ </c:formatCode>
                <c:ptCount val="3"/>
                <c:pt idx="0">
                  <c:v>1055.575003</c:v>
                </c:pt>
                <c:pt idx="1">
                  <c:v>1027.921375</c:v>
                </c:pt>
                <c:pt idx="2">
                  <c:v>27.653628</c:v>
                </c:pt>
              </c:numCache>
            </c:numRef>
          </c:val>
        </c:ser>
        <c:ser>
          <c:idx val="1"/>
          <c:order val="1"/>
          <c:tx>
            <c:strRef>
              <c:f>[服务体系月度成本情况分析20260508.xlsx]同比!$J$2</c:f>
              <c:strCache>
                <c:ptCount val="1"/>
                <c:pt idx="0">
                  <c:v>26年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ln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76200" dist="25400" dir="2700000" algn="tl" rotWithShape="0">
                <a:schemeClr val="accent2">
                  <a:lumMod val="50000"/>
                  <a:alpha val="30000"/>
                </a:schemeClr>
              </a:outerShdw>
            </a:effectLst>
          </c:spPr>
          <c:invertIfNegative val="0"/>
          <c:dLbls>
            <c:dLbl>
              <c:idx val="0"/>
              <c:layout>
                <c:manualLayout>
                  <c:x val="0.00785163436391383"/>
                  <c:y val="0.0047311827956988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7692071569082"/>
                  <c:y val="0.0047311827956989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252407546582559"/>
                  <c:y val="0.01290322580645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[服务体系月度成本情况分析20260508.xlsx]同比!$H$3:$H$5</c:f>
              <c:strCache>
                <c:ptCount val="3"/>
                <c:pt idx="0">
                  <c:v>总成本</c:v>
                </c:pt>
                <c:pt idx="1">
                  <c:v>人力成本</c:v>
                </c:pt>
                <c:pt idx="2">
                  <c:v>销售费用</c:v>
                </c:pt>
              </c:strCache>
            </c:strRef>
          </c:cat>
          <c:val>
            <c:numRef>
              <c:f>[服务体系月度成本情况分析20260508.xlsx]同比!$J$3:$J$5</c:f>
              <c:numCache>
                <c:formatCode>0.00_ </c:formatCode>
                <c:ptCount val="3"/>
                <c:pt idx="0">
                  <c:v>1019.4447</c:v>
                </c:pt>
                <c:pt idx="1">
                  <c:v>996.390014</c:v>
                </c:pt>
                <c:pt idx="2">
                  <c:v>23.054686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860615854"/>
        <c:axId val="608627862"/>
      </c:barChart>
      <c:catAx>
        <c:axId val="8606158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8627862"/>
        <c:crossesAt val="0"/>
        <c:auto val="1"/>
        <c:lblAlgn val="ctr"/>
        <c:lblOffset val="100"/>
        <c:noMultiLvlLbl val="0"/>
      </c:catAx>
      <c:valAx>
        <c:axId val="60862786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606158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388980b-7596-4af9-91e1-3011064c03f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  <c:userShapes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400" b="1" i="0" u="none" strike="noStrike" baseline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平均每项目实际使用交付人天</a:t>
            </a:r>
            <a:r>
              <a:rPr lang="en-US" altLang="zh-CN" sz="1400" b="1" i="0" u="none" strike="noStrike" baseline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altLang="en-US" sz="1400" b="1" i="0" u="none" strike="noStrike" baseline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整体</a:t>
            </a:r>
            <a:endParaRPr lang="en-US" altLang="zh-CN" sz="1200" b="0" i="0" u="none" strike="noStrike" baseline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>
        <c:manualLayout>
          <c:xMode val="edge"/>
          <c:yMode val="edge"/>
          <c:x val="0.239892811371315"/>
          <c:y val="0.034008502125531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'[2026年4月月报-20260507-ljx.xls]数据指标'!$W$3</c:f>
              <c:strCache>
                <c:ptCount val="1"/>
                <c:pt idx="0">
                  <c:v>2026年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0.00605848770826051"/>
                  <c:y val="0.0342585646411603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'[2026年4月月报-20260507-ljx.xls]数据指标'!$X$2:$AI$2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'[2026年4月月报-20260507-ljx.xls]数据指标'!$X$3:$AI$3</c:f>
              <c:numCache>
                <c:formatCode>0.00_);[Red]\(0.00\)</c:formatCode>
                <c:ptCount val="12"/>
                <c:pt idx="0">
                  <c:v>18.9391447368421</c:v>
                </c:pt>
                <c:pt idx="1">
                  <c:v>22.6973880597015</c:v>
                </c:pt>
                <c:pt idx="2">
                  <c:v>18.0944444444444</c:v>
                </c:pt>
                <c:pt idx="3">
                  <c:v>15.3446895424837</c:v>
                </c:pt>
              </c:numCache>
            </c:numRef>
          </c:val>
        </c:ser>
        <c:ser>
          <c:idx val="1"/>
          <c:order val="1"/>
          <c:tx>
            <c:strRef>
              <c:f>'[2026年4月月报-20260507-ljx.xls]数据指标'!$W$4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'[2026年4月月报-20260507-ljx.xls]数据指标'!$X$2:$AI$2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'[2026年4月月报-20260507-ljx.xls]数据指标'!$X$4:$AI$4</c:f>
              <c:numCache>
                <c:formatCode>0.00_);[Red]\(0.00\)</c:formatCode>
                <c:ptCount val="12"/>
                <c:pt idx="0">
                  <c:v>21.12205</c:v>
                </c:pt>
                <c:pt idx="1">
                  <c:v>17.7567537313433</c:v>
                </c:pt>
                <c:pt idx="2">
                  <c:v>16.3994469026549</c:v>
                </c:pt>
                <c:pt idx="3">
                  <c:v>14.902358490566</c:v>
                </c:pt>
                <c:pt idx="4">
                  <c:v>14.3783689839572</c:v>
                </c:pt>
                <c:pt idx="5">
                  <c:v>13.0360227272727</c:v>
                </c:pt>
                <c:pt idx="6">
                  <c:v>12.5414788732394</c:v>
                </c:pt>
                <c:pt idx="7">
                  <c:v>12.55078125</c:v>
                </c:pt>
                <c:pt idx="8">
                  <c:v>12.4611868351064</c:v>
                </c:pt>
                <c:pt idx="9">
                  <c:v>12.2246122828784</c:v>
                </c:pt>
                <c:pt idx="10">
                  <c:v>12.3113023127753</c:v>
                </c:pt>
                <c:pt idx="11">
                  <c:v>11.89597323049</c:v>
                </c:pt>
              </c:numCache>
            </c:numRef>
          </c:val>
        </c:ser>
        <c:ser>
          <c:idx val="2"/>
          <c:order val="2"/>
          <c:tx>
            <c:strRef>
              <c:f>'[2026年4月月报-20260507-ljx.xls]数据指标'!$W$5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'[2026年4月月报-20260507-ljx.xls]数据指标'!$X$2:$AI$2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'[2026年4月月报-20260507-ljx.xls]数据指标'!$X$5:$AI$5</c:f>
              <c:numCache>
                <c:formatCode>0.00_);[Red]\(0.00\)</c:formatCode>
                <c:ptCount val="12"/>
                <c:pt idx="0">
                  <c:v>6.72416666666667</c:v>
                </c:pt>
                <c:pt idx="1">
                  <c:v>13.8071417910448</c:v>
                </c:pt>
                <c:pt idx="2">
                  <c:v>13.1871847826087</c:v>
                </c:pt>
                <c:pt idx="3">
                  <c:v>12.8243828125</c:v>
                </c:pt>
                <c:pt idx="4">
                  <c:v>13.2504409937888</c:v>
                </c:pt>
                <c:pt idx="5">
                  <c:v>13.5539611650485</c:v>
                </c:pt>
                <c:pt idx="6">
                  <c:v>13.4290102459016</c:v>
                </c:pt>
                <c:pt idx="7">
                  <c:v>12.9697103448276</c:v>
                </c:pt>
                <c:pt idx="8">
                  <c:v>12.7927551928783</c:v>
                </c:pt>
                <c:pt idx="9">
                  <c:v>12.473074197861</c:v>
                </c:pt>
                <c:pt idx="10">
                  <c:v>12.1753339201878</c:v>
                </c:pt>
                <c:pt idx="11">
                  <c:v>11.9319491604478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7323304"/>
        <c:axId val="258511100"/>
      </c:barChart>
      <c:lineChart>
        <c:grouping val="standard"/>
        <c:varyColors val="0"/>
        <c:ser>
          <c:idx val="3"/>
          <c:order val="3"/>
          <c:tx>
            <c:strRef>
              <c:f>'[2026年4月月报-20260507-ljx.xls]数据指标'!$W$6</c:f>
              <c:strCache>
                <c:ptCount val="1"/>
                <c:pt idx="0">
                  <c:v>同比24年</c:v>
                </c:pt>
              </c:strCache>
            </c:strRef>
          </c:tx>
          <c:spPr>
            <a:ln w="28575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layout>
                <c:manualLayout>
                  <c:x val="0.0139811254806012"/>
                  <c:y val="-0.0172543135783946"/>
                </c:manualLayout>
              </c:layout>
              <c:numFmt formatCode="General" sourceLinked="1"/>
              <c:spPr>
                <a:solidFill>
                  <a:schemeClr val="bg1"/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'[2026年4月月报-20260507-ljx.xls]数据指标'!$X$2:$AI$2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'[2026年4月月报-20260507-ljx.xls]数据指标'!$X$6:$AI$6</c:f>
              <c:numCache>
                <c:formatCode>0.0%</c:formatCode>
                <c:ptCount val="12"/>
                <c:pt idx="0">
                  <c:v>-0.103347225442507</c:v>
                </c:pt>
                <c:pt idx="1">
                  <c:v>0.278239727999226</c:v>
                </c:pt>
                <c:pt idx="2">
                  <c:v>0.103356994406633</c:v>
                </c:pt>
                <c:pt idx="3">
                  <c:v>0.0296819494845488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394849570"/>
        <c:axId val="488612272"/>
      </c:lineChart>
      <c:catAx>
        <c:axId val="7773233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258511100"/>
        <c:crosses val="autoZero"/>
        <c:auto val="1"/>
        <c:lblAlgn val="ctr"/>
        <c:lblOffset val="100"/>
        <c:noMultiLvlLbl val="0"/>
      </c:catAx>
      <c:valAx>
        <c:axId val="258511100"/>
        <c:scaling>
          <c:orientation val="minMax"/>
        </c:scaling>
        <c:delete val="0"/>
        <c:axPos val="l"/>
        <c:numFmt formatCode="0.00_);[Red]\(0.00\)" sourceLinked="1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777323304"/>
        <c:crosses val="autoZero"/>
        <c:crossBetween val="between"/>
      </c:valAx>
      <c:catAx>
        <c:axId val="394849570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9595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488612272"/>
        <c:crosses val="autoZero"/>
        <c:auto val="1"/>
        <c:lblAlgn val="ctr"/>
        <c:lblOffset val="100"/>
        <c:noMultiLvlLbl val="0"/>
      </c:catAx>
      <c:valAx>
        <c:axId val="488612272"/>
        <c:scaling>
          <c:orientation val="minMax"/>
        </c:scaling>
        <c:delete val="0"/>
        <c:axPos val="r"/>
        <c:numFmt formatCode="0.0%" sourceLinked="1"/>
        <c:majorTickMark val="out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39484957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3cc7df5-b3b4-439b-ac36-74df70bf8d8f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/>
  </c:spPr>
  <c:txPr>
    <a:bodyPr wrap="square"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400" b="1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400" b="1"/>
              <a:t>交付中心人均回款（单位：万）</a:t>
            </a:r>
            <a:endParaRPr sz="1400" b="1"/>
          </a:p>
        </c:rich>
      </c:tx>
      <c:layout>
        <c:manualLayout>
          <c:xMode val="edge"/>
          <c:yMode val="edge"/>
          <c:x val="0.313768961493582"/>
          <c:y val="0.047403276402927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3DB8BF"/>
            </a:solidFill>
            <a:ln w="9525">
              <a:noFill/>
            </a:ln>
            <a:effectLst/>
            <a:sp3d contourW="9525"/>
          </c:spPr>
          <c:invertIfNegative val="0"/>
          <c:dPt>
            <c:idx val="0"/>
            <c:invertIfNegative val="0"/>
            <c:bubble3D val="0"/>
            <c:spPr>
              <a:solidFill>
                <a:srgbClr val="065380"/>
              </a:solidFill>
              <a:ln w="9525">
                <a:noFill/>
              </a:ln>
              <a:effectLst/>
              <a:sp3d contourW="9525"/>
            </c:spPr>
          </c:dPt>
          <c:dPt>
            <c:idx val="1"/>
            <c:invertIfNegative val="0"/>
            <c:bubble3D val="0"/>
            <c:spPr>
              <a:solidFill>
                <a:srgbClr val="4BACC6">
                  <a:lumMod val="75000"/>
                </a:srgbClr>
              </a:solidFill>
              <a:ln w="9525">
                <a:noFill/>
              </a:ln>
              <a:effectLst/>
              <a:sp3d contourW="9525"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'[00-总结PPT图示模版-26年4月.xlsx]OGSM图表分析 '!$E$4:$F$4</c:f>
              <c:strCache>
                <c:ptCount val="2"/>
                <c:pt idx="0">
                  <c:v>2025年</c:v>
                </c:pt>
                <c:pt idx="1">
                  <c:v>2026年</c:v>
                </c:pt>
              </c:strCache>
            </c:strRef>
          </c:cat>
          <c:val>
            <c:numRef>
              <c:f>'[00-总结PPT图示模版-26年4月.xlsx]OGSM图表分析 '!$E$5:$F$5</c:f>
              <c:numCache>
                <c:formatCode>General</c:formatCode>
                <c:ptCount val="2"/>
                <c:pt idx="0">
                  <c:v>65.63</c:v>
                </c:pt>
                <c:pt idx="1">
                  <c:v>68.33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5"/>
        <c:overlap val="-32"/>
        <c:axId val="499538972"/>
        <c:axId val="582047768"/>
      </c:barChart>
      <c:catAx>
        <c:axId val="4995389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82047768"/>
        <c:crosses val="autoZero"/>
        <c:auto val="1"/>
        <c:lblAlgn val="ctr"/>
        <c:lblOffset val="100"/>
        <c:noMultiLvlLbl val="0"/>
      </c:catAx>
      <c:valAx>
        <c:axId val="582047768"/>
        <c:scaling>
          <c:orientation val="minMax"/>
          <c:max val="80"/>
          <c:min val="0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499538972"/>
        <c:crosses val="autoZero"/>
        <c:crossBetween val="between"/>
        <c:majorUnit val="20"/>
      </c:valAx>
      <c:spPr>
        <a:pattFill prst="wdDnDiag">
          <a:fgClr>
            <a:schemeClr val="bg1">
              <a:lumMod val="95000"/>
            </a:schemeClr>
          </a:fgClr>
          <a:bgClr>
            <a:schemeClr val="bg1"/>
          </a:bgClr>
        </a:pattFill>
        <a:ln>
          <a:noFill/>
        </a:ln>
        <a:effectLst>
          <a:outerShdw blurRad="63500" dist="38100" dir="18900000" algn="bl" rotWithShape="0">
            <a:schemeClr val="tx1">
              <a:lumMod val="50000"/>
              <a:lumOff val="50000"/>
              <a:alpha val="40000"/>
            </a:schemeClr>
          </a:outerShdw>
        </a:effectLst>
      </c:spPr>
    </c:plotArea>
    <c:plotVisOnly val="1"/>
    <c:dispBlanksAs val="gap"/>
    <c:showDLblsOverMax val="0"/>
    <c:extLst>
      <c:ext uri="{0b15fc19-7d7d-44ad-8c2d-2c3a37ce22c3}">
        <chartProps xmlns="https://web.wps.cn/et/2018/main" chartId="{316e9e64-98fe-4b94-b993-b6708344d845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/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200" b="0" i="0" u="none" strike="noStrike" kern="1200" spc="0" baseline="0">
                <a:ln w="0" cmpd="sng">
                  <a:noFill/>
                  <a:prstDash val="solid"/>
                </a:ln>
                <a:solidFill>
                  <a:srgbClr val="61616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售前失误人天（单位：天）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>
        <c:manualLayout>
          <c:xMode val="edge"/>
          <c:yMode val="edge"/>
          <c:x val="0.18859649122807"/>
          <c:y val="0.074647497926458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61954533577215"/>
          <c:y val="0.302094818081588"/>
          <c:w val="0.673556310425921"/>
          <c:h val="0.51938257993384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6538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6537F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31859C"/>
              </a:solidFill>
              <a:ln>
                <a:noFill/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6161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'[00-总结PPT图示模版-26年4月.xlsx]OGSM图表分析 '!$B$30:$C$30</c:f>
              <c:strCache>
                <c:ptCount val="2"/>
                <c:pt idx="0">
                  <c:v>2025年</c:v>
                </c:pt>
                <c:pt idx="1">
                  <c:v>2026年</c:v>
                </c:pt>
              </c:strCache>
            </c:strRef>
          </c:cat>
          <c:val>
            <c:numRef>
              <c:f>'[00-总结PPT图示模版-26年4月.xlsx]OGSM图表分析 '!$B$31:$C$31</c:f>
              <c:numCache>
                <c:formatCode>0.0_ </c:formatCode>
                <c:ptCount val="2"/>
                <c:pt idx="0">
                  <c:v>68.0375</c:v>
                </c:pt>
                <c:pt idx="1">
                  <c:v>9.125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6907908"/>
        <c:axId val="323474218"/>
      </c:barChart>
      <c:catAx>
        <c:axId val="4369079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16161"/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cap="none" spc="0" normalizeH="0" baseline="0">
                <a:solidFill>
                  <a:srgbClr val="616161"/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323474218"/>
        <c:crosses val="autoZero"/>
        <c:auto val="1"/>
        <c:lblAlgn val="ctr"/>
        <c:lblOffset val="100"/>
        <c:noMultiLvlLbl val="0"/>
      </c:catAx>
      <c:valAx>
        <c:axId val="323474218"/>
        <c:scaling>
          <c:orientation val="minMax"/>
          <c:max val="80"/>
          <c:min val="0"/>
        </c:scaling>
        <c:delete val="0"/>
        <c:axPos val="l"/>
        <c:majorGridlines>
          <c:spPr>
            <a:ln w="9525" cap="flat" cmpd="sng" algn="ctr">
              <a:solidFill>
                <a:srgbClr val="BABABA"/>
              </a:solidFill>
              <a:prstDash val="dash"/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rgbClr val="6161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436907908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8be8a8c-bdd7-44be-82b1-6c201d93f351}"/>
      </c:ext>
    </c:extLst>
  </c:chart>
  <c:spPr>
    <a:noFill/>
    <a:ln w="12700" cap="flat" cmpd="sng" algn="ctr">
      <a:solidFill>
        <a:sysClr val="window" lastClr="FFFFFF">
          <a:lumMod val="85000"/>
        </a:sysClr>
      </a:solidFill>
      <a:round/>
    </a:ln>
    <a:effectLst/>
  </c:spPr>
  <c:txPr>
    <a:bodyPr/>
    <a:lstStyle/>
    <a:p>
      <a:pPr>
        <a:defRPr lang="zh-CN">
          <a:solidFill>
            <a:srgbClr val="61616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200" b="0" i="0" u="none" strike="noStrike" kern="1200" spc="0" baseline="0">
                <a:ln w="0" cmpd="sng">
                  <a:noFill/>
                  <a:prstDash val="solid"/>
                </a:ln>
                <a:solidFill>
                  <a:srgbClr val="61616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区域特批人天（单位：天）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>
        <c:manualLayout>
          <c:xMode val="edge"/>
          <c:yMode val="edge"/>
          <c:x val="0.18859649122807"/>
          <c:y val="0.074647497926458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61954533577215"/>
          <c:y val="0.302094818081588"/>
          <c:w val="0.673556310425921"/>
          <c:h val="0.51938257993384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6537F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31859C"/>
              </a:solidFill>
              <a:ln>
                <a:noFill/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6161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'[00-总结PPT图示模版-26年4月.xlsx]OGSM图表分析 '!$F$30:$G$30</c:f>
              <c:strCache>
                <c:ptCount val="2"/>
                <c:pt idx="0">
                  <c:v>2025年</c:v>
                </c:pt>
                <c:pt idx="1">
                  <c:v>2026年</c:v>
                </c:pt>
              </c:strCache>
            </c:strRef>
          </c:cat>
          <c:val>
            <c:numRef>
              <c:f>'[00-总结PPT图示模版-26年4月.xlsx]OGSM图表分析 '!$F$31:$G$31</c:f>
              <c:numCache>
                <c:formatCode>0.0_ </c:formatCode>
                <c:ptCount val="2"/>
                <c:pt idx="0">
                  <c:v>324.8</c:v>
                </c:pt>
                <c:pt idx="1">
                  <c:v>321.2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6907908"/>
        <c:axId val="323474218"/>
      </c:barChart>
      <c:catAx>
        <c:axId val="4369079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16161"/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cap="none" spc="0" normalizeH="0" baseline="0">
                <a:solidFill>
                  <a:srgbClr val="616161"/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323474218"/>
        <c:crosses val="autoZero"/>
        <c:auto val="1"/>
        <c:lblAlgn val="ctr"/>
        <c:lblOffset val="100"/>
        <c:noMultiLvlLbl val="0"/>
      </c:catAx>
      <c:valAx>
        <c:axId val="323474218"/>
        <c:scaling>
          <c:orientation val="minMax"/>
          <c:max val="400"/>
          <c:min val="0"/>
        </c:scaling>
        <c:delete val="0"/>
        <c:axPos val="l"/>
        <c:majorGridlines>
          <c:spPr>
            <a:ln w="9525" cap="flat" cmpd="sng" algn="ctr">
              <a:solidFill>
                <a:srgbClr val="BABABA"/>
              </a:solidFill>
              <a:prstDash val="dash"/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rgbClr val="6161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436907908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3660a19-96c8-4653-bca6-494c932bc35f}"/>
      </c:ext>
    </c:extLst>
  </c:chart>
  <c:spPr>
    <a:solidFill>
      <a:sysClr val="window" lastClr="FFFFFF"/>
    </a:solidFill>
    <a:ln w="12700" cap="flat" cmpd="sng" algn="ctr">
      <a:solidFill>
        <a:sysClr val="window" lastClr="FFFFFF">
          <a:lumMod val="85000"/>
        </a:sysClr>
      </a:solidFill>
      <a:round/>
    </a:ln>
    <a:effectLst/>
  </c:spPr>
  <c:txPr>
    <a:bodyPr/>
    <a:lstStyle/>
    <a:p>
      <a:pPr>
        <a:defRPr lang="zh-CN">
          <a:solidFill>
            <a:srgbClr val="61616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200" b="0" i="0" u="none" strike="noStrike" kern="1200" spc="0" baseline="0">
                <a:ln w="0" cmpd="sng">
                  <a:noFill/>
                  <a:prstDash val="solid"/>
                </a:ln>
                <a:solidFill>
                  <a:srgbClr val="61616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非项目人天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非售后借调（单位：天）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>
        <c:manualLayout>
          <c:xMode val="edge"/>
          <c:yMode val="edge"/>
          <c:x val="0.0995423340961097"/>
          <c:y val="0.072437553175077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61954533577215"/>
          <c:y val="0.302094818081588"/>
          <c:w val="0.673556310425921"/>
          <c:h val="0.51938257993384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6538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31859C"/>
              </a:solid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0"/>
                  <c:y val="0.01944351324170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6161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'[00-总结PPT图示模版-26年4月.xlsx]OGSM图表分析 '!$M$30:$N$30</c:f>
              <c:strCache>
                <c:ptCount val="2"/>
                <c:pt idx="0">
                  <c:v>2025年</c:v>
                </c:pt>
                <c:pt idx="1">
                  <c:v>2026年</c:v>
                </c:pt>
              </c:strCache>
            </c:strRef>
          </c:cat>
          <c:val>
            <c:numRef>
              <c:f>'[00-总结PPT图示模版-26年4月.xlsx]OGSM图表分析 '!$M$31:$N$31</c:f>
              <c:numCache>
                <c:formatCode>0.0_ </c:formatCode>
                <c:ptCount val="2"/>
                <c:pt idx="0">
                  <c:v>1339.7</c:v>
                </c:pt>
                <c:pt idx="1">
                  <c:v>834.2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6907908"/>
        <c:axId val="323474218"/>
      </c:barChart>
      <c:catAx>
        <c:axId val="4369079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16161"/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cap="none" spc="0" normalizeH="0" baseline="0">
                <a:solidFill>
                  <a:srgbClr val="616161"/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323474218"/>
        <c:crosses val="autoZero"/>
        <c:auto val="1"/>
        <c:lblAlgn val="ctr"/>
        <c:lblOffset val="100"/>
        <c:noMultiLvlLbl val="0"/>
      </c:catAx>
      <c:valAx>
        <c:axId val="323474218"/>
        <c:scaling>
          <c:orientation val="minMax"/>
          <c:max val="1509"/>
          <c:min val="0"/>
        </c:scaling>
        <c:delete val="0"/>
        <c:axPos val="l"/>
        <c:majorGridlines>
          <c:spPr>
            <a:ln w="9525" cap="flat" cmpd="sng" algn="ctr">
              <a:solidFill>
                <a:srgbClr val="BABABA"/>
              </a:solidFill>
              <a:prstDash val="dash"/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rgbClr val="6161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436907908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2fb1bbf-e8de-4069-8de6-638b08599ff1}"/>
      </c:ext>
    </c:extLst>
  </c:chart>
  <c:spPr>
    <a:solidFill>
      <a:sysClr val="window" lastClr="FFFFFF"/>
    </a:solidFill>
    <a:ln w="12700" cap="flat" cmpd="sng" algn="ctr">
      <a:solidFill>
        <a:sysClr val="window" lastClr="FFFFFF">
          <a:lumMod val="85000"/>
        </a:sysClr>
      </a:solidFill>
      <a:round/>
    </a:ln>
    <a:effectLst/>
  </c:spPr>
  <c:txPr>
    <a:bodyPr/>
    <a:lstStyle/>
    <a:p>
      <a:pPr>
        <a:defRPr lang="zh-CN">
          <a:solidFill>
            <a:srgbClr val="61616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驻场客户签约情况</a:t>
            </a:r>
            <a:r>
              <a:rPr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家</a:t>
            </a:r>
            <a:r>
              <a:rPr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单位：万</a:t>
            </a:r>
            <a:endParaRPr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684D3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065380"/>
              </a:solid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0"/>
                  <c:y val="0.023540489642184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'[00-总结PPT图示模版-26年4月.xlsx]OGSM图表分析 '!$C$52:$D$52</c:f>
              <c:strCache>
                <c:ptCount val="2"/>
                <c:pt idx="0">
                  <c:v>总CEO合同金额</c:v>
                </c:pt>
                <c:pt idx="1">
                  <c:v>客均金额</c:v>
                </c:pt>
              </c:strCache>
            </c:strRef>
          </c:cat>
          <c:val>
            <c:numRef>
              <c:f>'[00-总结PPT图示模版-26年4月.xlsx]OGSM图表分析 '!$C$53:$D$53</c:f>
              <c:numCache>
                <c:formatCode>General</c:formatCode>
                <c:ptCount val="2"/>
                <c:pt idx="0">
                  <c:v>622.9</c:v>
                </c:pt>
                <c:pt idx="1">
                  <c:v>155.7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46128867"/>
        <c:axId val="427487653"/>
      </c:barChart>
      <c:catAx>
        <c:axId val="44612886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427487653"/>
        <c:crosses val="autoZero"/>
        <c:auto val="1"/>
        <c:lblAlgn val="ctr"/>
        <c:lblOffset val="100"/>
        <c:noMultiLvlLbl val="0"/>
      </c:catAx>
      <c:valAx>
        <c:axId val="427487653"/>
        <c:scaling>
          <c:orientation val="minMax"/>
          <c:max val="8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446128867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606398b-22f1-4775-84da-b029f0313d96}"/>
      </c:ext>
    </c:extLst>
  </c:chart>
  <c:spPr>
    <a:solidFill>
      <a:schemeClr val="bg1"/>
    </a:solidFill>
    <a:ln w="0" cap="flat" cmpd="sng" algn="ctr">
      <a:solidFill>
        <a:schemeClr val="bg1">
          <a:lumMod val="75000"/>
        </a:schemeClr>
      </a:solidFill>
      <a:miter lim="800000"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NPS分数趋势</a:t>
            </a:r>
            <a:endParaRPr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c:rich>
      </c:tx>
      <c:layout>
        <c:manualLayout>
          <c:xMode val="edge"/>
          <c:yMode val="edge"/>
          <c:x val="0.427125279642058"/>
          <c:y val="0.039605560944067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16469394656747"/>
          <c:y val="0.177899543378995"/>
          <c:w val="0.841032578063353"/>
          <c:h val="0.65640182648401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NPS数值</c:v>
                </c:pt>
              </c:strCache>
            </c:strRef>
          </c:tx>
          <c:spPr>
            <a:ln w="28575" cap="rnd">
              <a:solidFill>
                <a:srgbClr val="003298"/>
              </a:solidFill>
              <a:round/>
            </a:ln>
            <a:effectLst/>
          </c:spPr>
          <c:marker>
            <c:symbol val="none"/>
          </c:marker>
          <c:dLbls>
            <c:dLbl>
              <c:idx val="14"/>
              <c:layout>
                <c:manualLayout>
                  <c:x val="-0.00973154362416107"/>
                  <c:y val="0.00711283543485289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5"/>
              <c:layout>
                <c:manualLayout>
                  <c:x val="-0.0577286073881354"/>
                  <c:y val="0.0135916777176528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6"/>
              <c:layout>
                <c:manualLayout>
                  <c:x val="-1.01733188117777e-16"/>
                  <c:y val="-0.0111542192046557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41163310961969"/>
                      <c:h val="0.109117361784675"/>
                    </c:manualLayout>
                  </c15:layout>
                </c:ext>
              </c:extLst>
            </c:dLbl>
            <c:dLbl>
              <c:idx val="17"/>
              <c:layout>
                <c:manualLayout>
                  <c:x val="-0.0653838089947741"/>
                  <c:y val="0.0316061512820901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8"/>
              <c:layout>
                <c:manualLayout>
                  <c:x val="1.02527979073242e-16"/>
                  <c:y val="0.059139344924735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00" b="1" i="0" u="none" strike="noStrike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Sheet1!$A$2:$A$20</c:f>
              <c:strCache>
                <c:ptCount val="19"/>
                <c:pt idx="0">
                  <c:v>21年上半年</c:v>
                </c:pt>
                <c:pt idx="1">
                  <c:v>21Q3</c:v>
                </c:pt>
                <c:pt idx="2">
                  <c:v>21Q4</c:v>
                </c:pt>
                <c:pt idx="3">
                  <c:v>22Q1</c:v>
                </c:pt>
                <c:pt idx="4">
                  <c:v>22Q2</c:v>
                </c:pt>
                <c:pt idx="5">
                  <c:v>22Q3</c:v>
                </c:pt>
                <c:pt idx="6">
                  <c:v>23Q1</c:v>
                </c:pt>
                <c:pt idx="7">
                  <c:v>23Q2</c:v>
                </c:pt>
                <c:pt idx="8">
                  <c:v>23Q3</c:v>
                </c:pt>
                <c:pt idx="9">
                  <c:v>23Q4</c:v>
                </c:pt>
                <c:pt idx="10">
                  <c:v>24Q1</c:v>
                </c:pt>
                <c:pt idx="11">
                  <c:v>24Q2</c:v>
                </c:pt>
                <c:pt idx="12">
                  <c:v>24Q3</c:v>
                </c:pt>
                <c:pt idx="13">
                  <c:v>24Q4</c:v>
                </c:pt>
                <c:pt idx="14">
                  <c:v>25Q1</c:v>
                </c:pt>
                <c:pt idx="15">
                  <c:v>25Q2</c:v>
                </c:pt>
                <c:pt idx="16">
                  <c:v>25Q3</c:v>
                </c:pt>
                <c:pt idx="17">
                  <c:v>25Q4</c:v>
                </c:pt>
                <c:pt idx="18">
                  <c:v>26Q1</c:v>
                </c:pt>
              </c:strCache>
            </c:strRef>
          </c:cat>
          <c:val>
            <c:numRef>
              <c:f>Sheet1!$B$2:$B$20</c:f>
              <c:numCache>
                <c:formatCode>0.00%</c:formatCode>
                <c:ptCount val="19"/>
                <c:pt idx="0">
                  <c:v>0.48</c:v>
                </c:pt>
                <c:pt idx="1">
                  <c:v>0.46</c:v>
                </c:pt>
                <c:pt idx="2">
                  <c:v>0.56</c:v>
                </c:pt>
                <c:pt idx="3">
                  <c:v>0.48</c:v>
                </c:pt>
                <c:pt idx="4">
                  <c:v>0.46</c:v>
                </c:pt>
                <c:pt idx="5">
                  <c:v>0.57</c:v>
                </c:pt>
                <c:pt idx="6">
                  <c:v>0.53</c:v>
                </c:pt>
                <c:pt idx="7">
                  <c:v>0.424</c:v>
                </c:pt>
                <c:pt idx="8">
                  <c:v>0.36</c:v>
                </c:pt>
                <c:pt idx="9">
                  <c:v>0.285</c:v>
                </c:pt>
                <c:pt idx="10">
                  <c:v>0.475</c:v>
                </c:pt>
                <c:pt idx="11">
                  <c:v>0.513</c:v>
                </c:pt>
                <c:pt idx="12">
                  <c:v>0.487</c:v>
                </c:pt>
                <c:pt idx="13">
                  <c:v>0.53931</c:v>
                </c:pt>
                <c:pt idx="14">
                  <c:v>0.4322</c:v>
                </c:pt>
                <c:pt idx="15">
                  <c:v>0.3551</c:v>
                </c:pt>
                <c:pt idx="16">
                  <c:v>0.3923</c:v>
                </c:pt>
                <c:pt idx="17">
                  <c:v>0.347</c:v>
                </c:pt>
                <c:pt idx="18">
                  <c:v>0.3288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48380552"/>
        <c:axId val="848388096"/>
      </c:lineChart>
      <c:catAx>
        <c:axId val="8483805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rgbClr val="000000">
                <a:lumMod val="15000"/>
                <a:lumOff val="85000"/>
              </a:srgb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baseline="0">
                <a:solidFill>
                  <a:srgbClr val="000000">
                    <a:lumMod val="65000"/>
                    <a:lumOff val="35000"/>
                  </a:srgbClr>
                </a:solidFill>
                <a:latin typeface="Calibri" panose="020F0502020204030204" charset="0"/>
                <a:ea typeface="DengXian" charset="-122"/>
                <a:cs typeface="+mn-ea"/>
              </a:defRPr>
            </a:pPr>
          </a:p>
        </c:txPr>
        <c:crossAx val="848388096"/>
        <c:crosses val="autoZero"/>
        <c:auto val="1"/>
        <c:lblAlgn val="ctr"/>
        <c:lblOffset val="100"/>
        <c:noMultiLvlLbl val="1"/>
      </c:catAx>
      <c:valAx>
        <c:axId val="848388096"/>
        <c:scaling>
          <c:orientation val="minMax"/>
          <c:min val="0.2"/>
        </c:scaling>
        <c:delete val="0"/>
        <c:axPos val="l"/>
        <c:majorGridlines>
          <c:spPr>
            <a:ln w="12700" cap="flat" cmpd="sng" algn="ctr">
              <a:solidFill>
                <a:srgbClr val="E7E6E6">
                  <a:lumMod val="90000"/>
                </a:srgbClr>
              </a:solidFill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baseline="0">
                <a:solidFill>
                  <a:srgbClr val="0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defRPr>
            </a:pPr>
          </a:p>
        </c:txPr>
        <c:crossAx val="848380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62974eb-8633-4ff7-9f64-f98d67974a09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2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Microsoft YaHei Light" panose="020B0502040204020203" pitchFamily="34" charset="-122"/>
                <a:sym typeface="Microsoft YaHei Light" panose="020B0502040204020203" pitchFamily="34" charset="-122"/>
              </a:defRPr>
            </a:pPr>
            <a:r>
              <a:rPr lang="en-US" altLang="zh-CN" sz="1200">
                <a:latin typeface="Microsoft YaHei Light" panose="020B0502040204020203" pitchFamily="34" charset="-122"/>
                <a:ea typeface="Microsoft YaHei Light" panose="020B0502040204020203" pitchFamily="34" charset="-122"/>
                <a:cs typeface="Microsoft YaHei Light" panose="020B0502040204020203" pitchFamily="34" charset="-122"/>
                <a:sym typeface="Microsoft YaHei Light" panose="020B0502040204020203" pitchFamily="34" charset="-122"/>
              </a:rPr>
              <a:t>13</a:t>
            </a:r>
            <a:r>
              <a:rPr altLang="en-US" sz="1200">
                <a:latin typeface="Microsoft YaHei Light" panose="020B0502040204020203" pitchFamily="34" charset="-122"/>
                <a:ea typeface="Microsoft YaHei Light" panose="020B0502040204020203" pitchFamily="34" charset="-122"/>
                <a:cs typeface="Microsoft YaHei Light" panose="020B0502040204020203" pitchFamily="34" charset="-122"/>
                <a:sym typeface="Microsoft YaHei Light" panose="020B0502040204020203" pitchFamily="34" charset="-122"/>
              </a:rPr>
              <a:t>个</a:t>
            </a:r>
            <a:r>
              <a:rPr lang="en-US" altLang="zh-CN" sz="1200">
                <a:latin typeface="Microsoft YaHei Light" panose="020B0502040204020203" pitchFamily="34" charset="-122"/>
                <a:ea typeface="Microsoft YaHei Light" panose="020B0502040204020203" pitchFamily="34" charset="-122"/>
                <a:cs typeface="Microsoft YaHei Light" panose="020B0502040204020203" pitchFamily="34" charset="-122"/>
                <a:sym typeface="Microsoft YaHei Light" panose="020B0502040204020203" pitchFamily="34" charset="-122"/>
              </a:rPr>
              <a:t>NPS</a:t>
            </a:r>
            <a:r>
              <a:rPr sz="1200">
                <a:latin typeface="Microsoft YaHei Light" panose="020B0502040204020203" pitchFamily="34" charset="-122"/>
                <a:ea typeface="Microsoft YaHei Light" panose="020B0502040204020203" pitchFamily="34" charset="-122"/>
                <a:cs typeface="Microsoft YaHei Light" panose="020B0502040204020203" pitchFamily="34" charset="-122"/>
                <a:sym typeface="Microsoft YaHei Light" panose="020B0502040204020203" pitchFamily="34" charset="-122"/>
              </a:rPr>
              <a:t>低分原因分析</a:t>
            </a:r>
            <a:endParaRPr sz="1200">
              <a:latin typeface="Microsoft YaHei Light" panose="020B0502040204020203" pitchFamily="34" charset="-122"/>
              <a:ea typeface="Microsoft YaHei Light" panose="020B0502040204020203" pitchFamily="34" charset="-122"/>
              <a:cs typeface="Microsoft YaHei Light" panose="020B0502040204020203" pitchFamily="34" charset="-122"/>
              <a:sym typeface="Microsoft YaHei Light" panose="020B0502040204020203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'[有效客户回访明细-已脱敏-服务.xlsx]筛选分析-低分原因 (计数)'!$B$1</c:f>
              <c:strCache>
                <c:ptCount val="1"/>
                <c:pt idx="0">
                  <c:v>低分原因 (计数)</c:v>
                </c:pt>
              </c:strCache>
            </c:strRef>
          </c:tx>
          <c:spPr/>
          <c:explosion val="0"/>
          <c:dPt>
            <c:idx val="0"/>
            <c:bubble3D val="0"/>
            <c:spPr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90000">
                    <a:schemeClr val="accent1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chemeClr val="accent1">
                    <a:lumMod val="50000"/>
                    <a:alpha val="30000"/>
                  </a:schemeClr>
                </a:outerShdw>
              </a:effectLst>
            </c:spPr>
          </c:dPt>
          <c:dPt>
            <c:idx val="1"/>
            <c:bubble3D val="0"/>
            <c:spPr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90000">
                    <a:schemeClr val="accent2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chemeClr val="accent2">
                    <a:lumMod val="50000"/>
                    <a:alpha val="30000"/>
                  </a:schemeClr>
                </a:outerShdw>
              </a:effectLst>
            </c:spPr>
          </c:dPt>
          <c:dPt>
            <c:idx val="2"/>
            <c:bubble3D val="0"/>
            <c:spPr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90000">
                    <a:schemeClr val="accent3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3"/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chemeClr val="accent3">
                    <a:lumMod val="50000"/>
                    <a:alpha val="30000"/>
                  </a:schemeClr>
                </a:outerShdw>
              </a:effectLst>
            </c:spPr>
          </c:dPt>
          <c:dPt>
            <c:idx val="3"/>
            <c:bubble3D val="0"/>
            <c:spPr>
              <a:gradFill>
                <a:gsLst>
                  <a:gs pos="0">
                    <a:schemeClr val="accent4">
                      <a:lumMod val="40000"/>
                      <a:lumOff val="60000"/>
                    </a:schemeClr>
                  </a:gs>
                  <a:gs pos="90000">
                    <a:schemeClr val="accent4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chemeClr val="accent4">
                    <a:lumMod val="50000"/>
                    <a:alpha val="30000"/>
                  </a:schemeClr>
                </a:outerShdw>
              </a:effectLst>
            </c:spPr>
          </c:dPt>
          <c:dLbls>
            <c:dLbl>
              <c:idx val="0"/>
              <c:layout>
                <c:manualLayout>
                  <c:x val="-0.00801201802704056"/>
                  <c:y val="-0.1301840153803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Microsoft YaHei Light" panose="020B0502040204020203" pitchFamily="34" charset="-122"/>
                        <a:sym typeface="Microsoft YaHei Light" panose="020B0502040204020203" pitchFamily="34" charset="-122"/>
                      </a:defRPr>
                    </a:pPr>
                    <a:r>
                      <a:rPr sz="900" b="1"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Microsoft YaHei Light" panose="020B0502040204020203" pitchFamily="34" charset="-122"/>
                        <a:sym typeface="Microsoft YaHei Light" panose="020B0502040204020203" pitchFamily="34" charset="-122"/>
                      </a:rPr>
                      <a:t>响应不及时</a:t>
                    </a:r>
                    <a:endParaRPr sz="900" b="1">
                      <a:latin typeface="Microsoft YaHei Light" panose="020B0502040204020203" pitchFamily="34" charset="-122"/>
                      <a:ea typeface="Microsoft YaHei Light" panose="020B0502040204020203" pitchFamily="34" charset="-122"/>
                      <a:cs typeface="Microsoft YaHei Light" panose="020B0502040204020203" pitchFamily="34" charset="-122"/>
                      <a:sym typeface="Microsoft YaHei Light" panose="020B0502040204020203" pitchFamily="34" charset="-122"/>
                    </a:endParaRPr>
                  </a:p>
                  <a:p>
                    <a:pPr defTabSz="914400">
                      <a:defRPr lang="zh-CN" sz="9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Microsoft YaHei Light" panose="020B0502040204020203" pitchFamily="34" charset="-122"/>
                        <a:sym typeface="Microsoft YaHei Light" panose="020B0502040204020203" pitchFamily="34" charset="-122"/>
                      </a:defRPr>
                    </a:pPr>
                    <a:r>
                      <a:rPr sz="900" b="1"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Microsoft YaHei Light" panose="020B0502040204020203" pitchFamily="34" charset="-122"/>
                        <a:sym typeface="Microsoft YaHei Light" panose="020B0502040204020203" pitchFamily="34" charset="-122"/>
                      </a:rPr>
                      <a:t>（企微排队）62%</a:t>
                    </a:r>
                    <a:endParaRPr sz="900" b="1">
                      <a:latin typeface="Microsoft YaHei Light" panose="020B0502040204020203" pitchFamily="34" charset="-122"/>
                      <a:ea typeface="Microsoft YaHei Light" panose="020B0502040204020203" pitchFamily="34" charset="-122"/>
                      <a:cs typeface="Microsoft YaHei Light" panose="020B0502040204020203" pitchFamily="34" charset="-122"/>
                      <a:sym typeface="Microsoft YaHei Light" panose="020B0502040204020203" pitchFamily="34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Microsoft YaHei Light" panose="020B0502040204020203" pitchFamily="34" charset="-122"/>
                      <a:ea typeface="Microsoft YaHei Light" panose="020B0502040204020203" pitchFamily="34" charset="-122"/>
                      <a:cs typeface="Microsoft YaHei Light" panose="020B0502040204020203" pitchFamily="34" charset="-122"/>
                      <a:sym typeface="Microsoft YaHei Light" panose="020B0502040204020203" pitchFamily="34" charset="-122"/>
                    </a:defRPr>
                  </a:pPr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1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07127357703222"/>
                      <c:h val="0.313924745948915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173684210526316"/>
                  <c:y val="0.0861111111111111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1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13815789473684"/>
                      <c:h val="0.180555555555556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-0.181578947368421"/>
                  <c:y val="0.0444444444444444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8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Microsoft YaHei Light" panose="020B0502040204020203" pitchFamily="34" charset="-122"/>
                        <a:sym typeface="Microsoft YaHei Light" panose="020B0502040204020203" pitchFamily="34" charset="-122"/>
                      </a:defRPr>
                    </a:pPr>
                    <a:r>
                      <a:rPr sz="800"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Microsoft YaHei Light" panose="020B0502040204020203" pitchFamily="34" charset="-122"/>
                        <a:sym typeface="Microsoft YaHei Light" panose="020B0502040204020203" pitchFamily="34" charset="-122"/>
                      </a:rPr>
                      <a:t>不明确</a:t>
                    </a:r>
                    <a:r>
                      <a:rPr lang="en-US" altLang="zh-CN" sz="800"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Microsoft YaHei Light" panose="020B0502040204020203" pitchFamily="34" charset="-122"/>
                        <a:sym typeface="Microsoft YaHei Light" panose="020B0502040204020203" pitchFamily="34" charset="-122"/>
                      </a:rPr>
                      <a:t> </a:t>
                    </a:r>
                    <a:r>
                      <a:rPr sz="800"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Microsoft YaHei Light" panose="020B0502040204020203" pitchFamily="34" charset="-122"/>
                        <a:sym typeface="Microsoft YaHei Light" panose="020B0502040204020203" pitchFamily="34" charset="-122"/>
                      </a:rPr>
                      <a:t>8%（一个客户）</a:t>
                    </a:r>
                    <a:endParaRPr sz="800">
                      <a:latin typeface="Microsoft YaHei Light" panose="020B0502040204020203" pitchFamily="34" charset="-122"/>
                      <a:ea typeface="Microsoft YaHei Light" panose="020B0502040204020203" pitchFamily="34" charset="-122"/>
                      <a:cs typeface="Microsoft YaHei Light" panose="020B0502040204020203" pitchFamily="34" charset="-122"/>
                      <a:sym typeface="Microsoft YaHei Light" panose="020B0502040204020203" pitchFamily="34" charset="-122"/>
                    </a:endParaRP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1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14210526315789"/>
                      <c:h val="0.125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 Light" panose="020B0502040204020203" pitchFamily="34" charset="-122"/>
                    <a:ea typeface="Microsoft YaHei Light" panose="020B0502040204020203" pitchFamily="34" charset="-122"/>
                    <a:cs typeface="Microsoft YaHei Light" panose="020B0502040204020203" pitchFamily="34" charset="-122"/>
                    <a:sym typeface="Microsoft YaHei Light" panose="020B0502040204020203" pitchFamily="34" charset="-122"/>
                  </a:defRPr>
                </a:pPr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'[有效客户回访明细-已脱敏-服务.xlsx]筛选分析-低分原因 (计数)'!$A$2:$A$5</c:f>
              <c:strCache>
                <c:ptCount val="4"/>
                <c:pt idx="0">
                  <c:v>响应不及时</c:v>
                </c:pt>
                <c:pt idx="1">
                  <c:v>TS不能一对一</c:v>
                </c:pt>
                <c:pt idx="2">
                  <c:v>客户端问题企微不受理</c:v>
                </c:pt>
                <c:pt idx="3">
                  <c:v>不明确</c:v>
                </c:pt>
              </c:strCache>
            </c:strRef>
          </c:cat>
          <c:val>
            <c:numRef>
              <c:f>'[有效客户回访明细-已脱敏-服务.xlsx]筛选分析-低分原因 (计数)'!$B$2:$B$5</c:f>
              <c:numCache>
                <c:formatCode>General</c:formatCode>
                <c:ptCount val="4"/>
                <c:pt idx="0">
                  <c:v>8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e08710f-139f-473d-b778-19f171fd6173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800">
          <a:latin typeface="Microsoft YaHei Light" panose="020B0502040204020203" pitchFamily="34" charset="-122"/>
          <a:ea typeface="Microsoft YaHei Light" panose="020B0502040204020203" pitchFamily="34" charset="-122"/>
          <a:cs typeface="Microsoft YaHei Light" panose="020B0502040204020203" pitchFamily="34" charset="-122"/>
          <a:sym typeface="Microsoft YaHei Light" panose="020B0502040204020203" pitchFamily="34" charset="-122"/>
        </a:defRPr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44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自建在服客户数</a:t>
            </a:r>
            <a:endParaRPr sz="144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'[ppt源数据，最新.xlsx]在服客户数'!$A$34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56627E"/>
            </a:solidFill>
            <a:ln>
              <a:noFill/>
            </a:ln>
            <a:effectLst>
              <a:softEdge rad="12700"/>
            </a:effectLst>
          </c:spPr>
          <c:invertIfNegative val="0"/>
          <c:dLbls>
            <c:delete val="1"/>
          </c:dLbls>
          <c:cat>
            <c:strRef>
              <c:f>'[ppt源数据，最新.xlsx]在服客户数'!$B$32:$M$32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'[ppt源数据，最新.xlsx]在服客户数'!$B$34:$M$34</c:f>
              <c:numCache>
                <c:formatCode>General</c:formatCode>
                <c:ptCount val="12"/>
                <c:pt idx="0">
                  <c:v>1434</c:v>
                </c:pt>
                <c:pt idx="1">
                  <c:v>1444</c:v>
                </c:pt>
                <c:pt idx="2">
                  <c:v>1432</c:v>
                </c:pt>
                <c:pt idx="3">
                  <c:v>1423</c:v>
                </c:pt>
                <c:pt idx="4">
                  <c:v>1428</c:v>
                </c:pt>
                <c:pt idx="5">
                  <c:v>1413</c:v>
                </c:pt>
                <c:pt idx="6">
                  <c:v>1411</c:v>
                </c:pt>
                <c:pt idx="7">
                  <c:v>1416</c:v>
                </c:pt>
                <c:pt idx="8">
                  <c:v>1436</c:v>
                </c:pt>
                <c:pt idx="9">
                  <c:v>1448</c:v>
                </c:pt>
                <c:pt idx="10">
                  <c:v>1467</c:v>
                </c:pt>
                <c:pt idx="11">
                  <c:v>1464</c:v>
                </c:pt>
              </c:numCache>
            </c:numRef>
          </c:val>
        </c:ser>
        <c:ser>
          <c:idx val="2"/>
          <c:order val="2"/>
          <c:tx>
            <c:strRef>
              <c:f>'[ppt源数据，最新.xlsx]在服客户数'!$A$35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'[ppt源数据，最新.xlsx]在服客户数'!$B$32:$M$32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'[ppt源数据，最新.xlsx]在服客户数'!$B$35:$M$35</c:f>
              <c:numCache>
                <c:formatCode>General</c:formatCode>
                <c:ptCount val="12"/>
                <c:pt idx="0">
                  <c:v>1470</c:v>
                </c:pt>
                <c:pt idx="1">
                  <c:v>1489</c:v>
                </c:pt>
                <c:pt idx="2">
                  <c:v>1483</c:v>
                </c:pt>
                <c:pt idx="3">
                  <c:v>1488</c:v>
                </c:pt>
                <c:pt idx="4">
                  <c:v>1492</c:v>
                </c:pt>
                <c:pt idx="5">
                  <c:v>1495</c:v>
                </c:pt>
                <c:pt idx="6">
                  <c:v>1519</c:v>
                </c:pt>
                <c:pt idx="7">
                  <c:v>1535</c:v>
                </c:pt>
                <c:pt idx="8">
                  <c:v>1544</c:v>
                </c:pt>
                <c:pt idx="9">
                  <c:v>1556</c:v>
                </c:pt>
                <c:pt idx="10">
                  <c:v>1570</c:v>
                </c:pt>
                <c:pt idx="11">
                  <c:v>1557</c:v>
                </c:pt>
              </c:numCache>
            </c:numRef>
          </c:val>
        </c:ser>
        <c:ser>
          <c:idx val="3"/>
          <c:order val="3"/>
          <c:tx>
            <c:strRef>
              <c:f>'[ppt源数据，最新.xlsx]在服客户数'!$A$36</c:f>
              <c:strCache>
                <c:ptCount val="1"/>
                <c:pt idx="0">
                  <c:v>2026年</c:v>
                </c:pt>
              </c:strCache>
            </c:strRef>
          </c:tx>
          <c:spPr>
            <a:solidFill>
              <a:srgbClr val="EE874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'[ppt源数据，最新.xlsx]在服客户数'!$B$32:$M$32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'[ppt源数据，最新.xlsx]在服客户数'!$B$36:$M$36</c:f>
              <c:numCache>
                <c:formatCode>General</c:formatCode>
                <c:ptCount val="12"/>
                <c:pt idx="0">
                  <c:v>1532</c:v>
                </c:pt>
                <c:pt idx="1">
                  <c:v>1534</c:v>
                </c:pt>
                <c:pt idx="2">
                  <c:v>1551</c:v>
                </c:pt>
                <c:pt idx="3">
                  <c:v>1551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54315000"/>
        <c:axId val="620976149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'[ppt源数据，最新.xlsx]在服客户数'!$A$33</c15:sqref>
                        </c15:formulaRef>
                      </c:ext>
                    </c:extLst>
                    <c:strCache>
                      <c:ptCount val="1"/>
                      <c:pt idx="0">
                        <c:v>2023年</c:v>
                      </c:pt>
                    </c:strCache>
                  </c:strRef>
                </c:tx>
                <c:spPr>
                  <a:solidFill>
                    <a:schemeClr val="accent1">
                      <a:alpha val="88000"/>
                    </a:schemeClr>
                  </a:solidFill>
                  <a:ln>
                    <a:noFill/>
                  </a:ln>
                  <a:effectLst>
                    <a:softEdge rad="12700"/>
                  </a:effectLst>
                </c:spPr>
                <c:invertIfNegative val="0"/>
                <c:dLbls>
                  <c:delete val="1"/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'[ppt源数据，最新.xlsx]在服客户数'!$B$32:$M$32</c15:sqref>
                        </c15:formulaRef>
                      </c:ext>
                    </c:extLst>
                    <c:strCache>
                      <c:ptCount val="12"/>
                      <c:pt idx="0">
                        <c:v>1月</c:v>
                      </c:pt>
                      <c:pt idx="1">
                        <c:v>2月</c:v>
                      </c:pt>
                      <c:pt idx="2">
                        <c:v>3月</c:v>
                      </c:pt>
                      <c:pt idx="3">
                        <c:v>4月</c:v>
                      </c:pt>
                      <c:pt idx="4">
                        <c:v>5月</c:v>
                      </c:pt>
                      <c:pt idx="5">
                        <c:v>6月</c:v>
                      </c:pt>
                      <c:pt idx="6">
                        <c:v>7月</c:v>
                      </c:pt>
                      <c:pt idx="7">
                        <c:v>8月</c:v>
                      </c:pt>
                      <c:pt idx="8">
                        <c:v>9月</c:v>
                      </c:pt>
                      <c:pt idx="9">
                        <c:v>10月</c:v>
                      </c:pt>
                      <c:pt idx="10">
                        <c:v>11月</c:v>
                      </c:pt>
                      <c:pt idx="11">
                        <c:v>12月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{1379,1393,1409,1432,1432,1424,1436,1436,1434,1436,1447,1429}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1379</c:v>
                      </c:pt>
                      <c:pt idx="1">
                        <c:v>1393</c:v>
                      </c:pt>
                      <c:pt idx="2">
                        <c:v>1409</c:v>
                      </c:pt>
                      <c:pt idx="3">
                        <c:v>1432</c:v>
                      </c:pt>
                      <c:pt idx="4">
                        <c:v>1432</c:v>
                      </c:pt>
                      <c:pt idx="5">
                        <c:v>1424</c:v>
                      </c:pt>
                      <c:pt idx="6">
                        <c:v>1436</c:v>
                      </c:pt>
                      <c:pt idx="7">
                        <c:v>1436</c:v>
                      </c:pt>
                      <c:pt idx="8">
                        <c:v>1434</c:v>
                      </c:pt>
                      <c:pt idx="9">
                        <c:v>1436</c:v>
                      </c:pt>
                      <c:pt idx="10">
                        <c:v>1447</c:v>
                      </c:pt>
                      <c:pt idx="11">
                        <c:v>1429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8543150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620976149"/>
        <c:crosses val="autoZero"/>
        <c:auto val="1"/>
        <c:lblAlgn val="ctr"/>
        <c:lblOffset val="100"/>
        <c:noMultiLvlLbl val="0"/>
      </c:catAx>
      <c:valAx>
        <c:axId val="620976149"/>
        <c:scaling>
          <c:orientation val="minMax"/>
          <c:max val="1600"/>
          <c:min val="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854315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5d68241-d1c8-4e86-b223-c1aa16873654}"/>
      </c:ext>
    </c:extLst>
  </c:chart>
  <c:spPr>
    <a:pattFill prst="pct25">
      <a:fgClr>
        <a:schemeClr val="bg2"/>
      </a:fgClr>
      <a:bgClr>
        <a:schemeClr val="bg1"/>
      </a:bgClr>
    </a:pattFill>
    <a:ln w="9525" cap="flat" cmpd="sng" algn="ctr">
      <a:noFill/>
      <a:round/>
    </a:ln>
    <a:effectLst>
      <a:softEdge rad="12700"/>
    </a:effectLst>
  </c:spPr>
  <c:txPr>
    <a:bodyPr/>
    <a:lstStyle/>
    <a:p>
      <a:pPr>
        <a:defRPr lang="zh-CN" sz="12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000" b="1" i="0" u="none" strike="noStrike" kern="1200" spc="0" baseline="0">
                <a:solidFill>
                  <a:srgbClr val="1C28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000" b="1">
                <a:solidFill>
                  <a:srgbClr val="1C2836"/>
                </a:solidFill>
              </a:rPr>
              <a:t>整体平均交付损益表人天</a:t>
            </a:r>
            <a:endParaRPr sz="1000" b="1">
              <a:solidFill>
                <a:srgbClr val="1C2836"/>
              </a:solidFill>
            </a:endParaRPr>
          </a:p>
        </c:rich>
      </c:tx>
      <c:layout>
        <c:manualLayout>
          <c:xMode val="edge"/>
          <c:yMode val="edge"/>
          <c:x val="0.0314309346567411"/>
          <c:y val="0.080073630924988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'[00-总结PPT图示模版-26年4月.xlsx]损益人天及周期 (ing)'!$D$30</c:f>
              <c:strCache>
                <c:ptCount val="1"/>
                <c:pt idx="0">
                  <c:v>人天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4A3B8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1D4ED8"/>
              </a:solidFill>
              <a:ln>
                <a:noFill/>
              </a:ln>
              <a:effectLst/>
            </c:spPr>
          </c:dPt>
          <c:dLbls>
            <c:numFmt formatCode="General" sourceLinked="1"/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0" vertOverflow="clip" horzOverflow="clip" vert="horz" wrap="square" lIns="36576" tIns="18288" rIns="36576" bIns="18288" anchor="ctr" anchorCtr="1" forceAA="0">
                <a:spAutoFit/>
              </a:bodyPr>
              <a:lstStyle/>
              <a:p>
                <a:pPr>
                  <a:defRPr lang="zh-CN" sz="900" b="1" i="0" u="none" strike="noStrike" kern="1200" baseline="0">
                    <a:solidFill>
                      <a:srgbClr val="1C283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'[00-总结PPT图示模版-26年4月.xlsx]损益人天及周期 (ing)'!$C$31:$C$33</c:f>
              <c:strCache>
                <c:ptCount val="3"/>
                <c:pt idx="0">
                  <c:v>2024年</c:v>
                </c:pt>
                <c:pt idx="1">
                  <c:v>2025年</c:v>
                </c:pt>
                <c:pt idx="2">
                  <c:v>2026年</c:v>
                </c:pt>
              </c:strCache>
            </c:strRef>
          </c:cat>
          <c:val>
            <c:numRef>
              <c:f>'[00-总结PPT图示模版-26年4月.xlsx]损益人天及周期 (ing)'!$D$31:$D$33</c:f>
              <c:numCache>
                <c:formatCode>0.0</c:formatCode>
                <c:ptCount val="3"/>
                <c:pt idx="0">
                  <c:v>7.55009615384615</c:v>
                </c:pt>
                <c:pt idx="1">
                  <c:v>7.99359022556391</c:v>
                </c:pt>
                <c:pt idx="2">
                  <c:v>8.04875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73"/>
        <c:overlap val="-29"/>
        <c:axId val="143775580"/>
        <c:axId val="129024915"/>
      </c:barChart>
      <c:catAx>
        <c:axId val="1437755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rgbClr val="8A8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129024915"/>
        <c:crosses val="autoZero"/>
        <c:auto val="1"/>
        <c:lblAlgn val="ctr"/>
        <c:lblOffset val="100"/>
        <c:noMultiLvlLbl val="0"/>
      </c:catAx>
      <c:valAx>
        <c:axId val="129024915"/>
        <c:scaling>
          <c:orientation val="minMax"/>
        </c:scaling>
        <c:delete val="1"/>
        <c:axPos val="b"/>
        <c:numFmt formatCode="0.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1437755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6ca101b-82d7-425e-b1ee-da46e4fa0561}"/>
      </c:ext>
    </c:extLst>
  </c:chart>
  <c:spPr>
    <a:solidFill>
      <a:srgbClr val="F9FAFB"/>
    </a:solidFill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000" b="1" i="0" u="none" strike="noStrike" kern="1200" spc="0" baseline="0">
                <a:solidFill>
                  <a:srgbClr val="1C28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000" b="1">
                <a:solidFill>
                  <a:srgbClr val="1C2836"/>
                </a:solidFill>
              </a:rPr>
              <a:t>新购项目平均交付损益表人天</a:t>
            </a:r>
            <a:endParaRPr sz="1000" b="1">
              <a:solidFill>
                <a:srgbClr val="1C2836"/>
              </a:solidFill>
            </a:endParaRPr>
          </a:p>
        </c:rich>
      </c:tx>
      <c:layout>
        <c:manualLayout>
          <c:xMode val="edge"/>
          <c:yMode val="edge"/>
          <c:x val="0.0314309346567411"/>
          <c:y val="0.080073630924988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'[00-总结PPT图示模版-26年4月.xlsx]损益人天及周期 (ing)'!$D$34</c:f>
              <c:strCache>
                <c:ptCount val="1"/>
                <c:pt idx="0">
                  <c:v>人天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4A3B8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1D4ED8"/>
              </a:solidFill>
              <a:ln>
                <a:noFill/>
              </a:ln>
              <a:effectLst/>
            </c:spPr>
          </c:dPt>
          <c:dLbls>
            <c:numFmt formatCode="General" sourceLinked="1"/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0" vertOverflow="clip" horzOverflow="clip" vert="horz" wrap="square" lIns="36576" tIns="18288" rIns="36576" bIns="18288" anchor="ctr" anchorCtr="1" forceAA="0">
                <a:spAutoFit/>
              </a:bodyPr>
              <a:lstStyle/>
              <a:p>
                <a:pPr>
                  <a:defRPr lang="zh-CN" sz="900" b="1" i="0" u="none" strike="noStrike" kern="1200" baseline="0">
                    <a:solidFill>
                      <a:srgbClr val="1C283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'[00-总结PPT图示模版-26年4月.xlsx]损益人天及周期 (ing)'!$C$35:$C$37</c:f>
              <c:strCache>
                <c:ptCount val="3"/>
                <c:pt idx="0">
                  <c:v>2024年</c:v>
                </c:pt>
                <c:pt idx="1">
                  <c:v>2025年</c:v>
                </c:pt>
                <c:pt idx="2">
                  <c:v>2026年</c:v>
                </c:pt>
              </c:strCache>
            </c:strRef>
          </c:cat>
          <c:val>
            <c:numRef>
              <c:f>'[00-总结PPT图示模版-26年4月.xlsx]损益人天及周期 (ing)'!$D$35:$D$37</c:f>
              <c:numCache>
                <c:formatCode>0.0</c:formatCode>
                <c:ptCount val="3"/>
                <c:pt idx="0">
                  <c:v>10.1936184210526</c:v>
                </c:pt>
                <c:pt idx="1">
                  <c:v>11.523125</c:v>
                </c:pt>
                <c:pt idx="2">
                  <c:v>12.7132352941176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73"/>
        <c:overlap val="-29"/>
        <c:axId val="143775580"/>
        <c:axId val="129024915"/>
      </c:barChart>
      <c:catAx>
        <c:axId val="1437755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rgbClr val="8A8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129024915"/>
        <c:crosses val="autoZero"/>
        <c:auto val="1"/>
        <c:lblAlgn val="ctr"/>
        <c:lblOffset val="100"/>
        <c:noMultiLvlLbl val="0"/>
      </c:catAx>
      <c:valAx>
        <c:axId val="129024915"/>
        <c:scaling>
          <c:orientation val="minMax"/>
        </c:scaling>
        <c:delete val="1"/>
        <c:axPos val="b"/>
        <c:numFmt formatCode="0.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1437755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6ca101b-82d7-425e-b1ee-da46e4fa0561}"/>
      </c:ext>
    </c:extLst>
  </c:chart>
  <c:spPr>
    <a:solidFill>
      <a:srgbClr val="F9FAFB"/>
    </a:solidFill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000" b="1" i="0" u="none" strike="noStrike" kern="1200" spc="0" baseline="0">
                <a:solidFill>
                  <a:srgbClr val="1C28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000" b="1">
                <a:solidFill>
                  <a:srgbClr val="1C2836"/>
                </a:solidFill>
              </a:rPr>
              <a:t>非新购项目平均交付损益表人天</a:t>
            </a:r>
            <a:endParaRPr sz="1000" b="1">
              <a:solidFill>
                <a:srgbClr val="1C2836"/>
              </a:solidFill>
            </a:endParaRPr>
          </a:p>
        </c:rich>
      </c:tx>
      <c:layout>
        <c:manualLayout>
          <c:xMode val="edge"/>
          <c:yMode val="edge"/>
          <c:x val="0.0314309346567411"/>
          <c:y val="0.080073630924988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'[00-总结PPT图示模版-26年4月.xlsx]损益人天及周期 (ing)'!$D$38</c:f>
              <c:strCache>
                <c:ptCount val="1"/>
                <c:pt idx="0">
                  <c:v>人天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4A3B8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1D4ED8"/>
              </a:solidFill>
              <a:ln>
                <a:noFill/>
              </a:ln>
              <a:effectLst/>
            </c:spPr>
          </c:dPt>
          <c:dLbls>
            <c:numFmt formatCode="General" sourceLinked="1"/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0" vertOverflow="clip" horzOverflow="clip" vert="horz" wrap="square" lIns="36576" tIns="18288" rIns="36576" bIns="18288" anchor="ctr" anchorCtr="1" forceAA="0">
                <a:spAutoFit/>
              </a:bodyPr>
              <a:lstStyle/>
              <a:p>
                <a:pPr>
                  <a:defRPr lang="zh-CN" sz="900" b="1" i="0" u="none" strike="noStrike" kern="1200" baseline="0">
                    <a:solidFill>
                      <a:srgbClr val="1C283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'[00-总结PPT图示模版-26年4月.xlsx]损益人天及周期 (ing)'!$C$39:$C$41</c:f>
              <c:strCache>
                <c:ptCount val="3"/>
                <c:pt idx="0">
                  <c:v>2024年</c:v>
                </c:pt>
                <c:pt idx="1">
                  <c:v>2025年</c:v>
                </c:pt>
                <c:pt idx="2">
                  <c:v>2026年</c:v>
                </c:pt>
              </c:strCache>
            </c:strRef>
          </c:cat>
          <c:val>
            <c:numRef>
              <c:f>'[00-总结PPT图示模版-26年4月.xlsx]损益人天及周期 (ing)'!$D$39:$D$41</c:f>
              <c:numCache>
                <c:formatCode>0.0</c:formatCode>
                <c:ptCount val="3"/>
                <c:pt idx="0">
                  <c:v>6.02806818181819</c:v>
                </c:pt>
                <c:pt idx="1">
                  <c:v>6.00044117647059</c:v>
                </c:pt>
                <c:pt idx="2">
                  <c:v>6.2046511627907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73"/>
        <c:overlap val="-29"/>
        <c:axId val="143775580"/>
        <c:axId val="129024915"/>
      </c:barChart>
      <c:catAx>
        <c:axId val="1437755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rgbClr val="8A8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129024915"/>
        <c:crosses val="autoZero"/>
        <c:auto val="1"/>
        <c:lblAlgn val="ctr"/>
        <c:lblOffset val="100"/>
        <c:noMultiLvlLbl val="0"/>
      </c:catAx>
      <c:valAx>
        <c:axId val="129024915"/>
        <c:scaling>
          <c:orientation val="minMax"/>
        </c:scaling>
        <c:delete val="1"/>
        <c:axPos val="b"/>
        <c:numFmt formatCode="0.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1437755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6ca101b-82d7-425e-b1ee-da46e4fa0561}"/>
      </c:ext>
    </c:extLst>
  </c:chart>
  <c:spPr>
    <a:solidFill>
      <a:srgbClr val="F9FAFB"/>
    </a:solidFill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2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200" b="1">
                <a:solidFill>
                  <a:srgbClr val="1F2936"/>
                </a:solidFill>
              </a:rPr>
              <a:t>各分公司项目平均交付损益人天-3年投入趋势对比</a:t>
            </a:r>
            <a:endParaRPr sz="1200" b="1">
              <a:solidFill>
                <a:srgbClr val="1F2936"/>
              </a:solidFill>
            </a:endParaRPr>
          </a:p>
        </c:rich>
      </c:tx>
      <c:layout>
        <c:manualLayout>
          <c:xMode val="edge"/>
          <c:yMode val="edge"/>
          <c:x val="0.0216600088770528"/>
          <c:y val="0.021149674620390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'[00-总结PPT图示模版-26年4月.xlsx]损益人天及周期 (ing)'!$H$3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94A3B8"/>
            </a:solidFill>
            <a:ln w="28575">
              <a:solidFill>
                <a:sysClr val="window" lastClr="FFFFFF"/>
              </a:solidFill>
            </a:ln>
            <a:effectLst/>
            <a:sp3d contourW="28575"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'[00-总结PPT图示模版-26年4月.xlsx]损益人天及周期 (ing)'!$G$4:$G$13</c:f>
              <c:strCache>
                <c:ptCount val="10"/>
                <c:pt idx="0">
                  <c:v>武汉</c:v>
                </c:pt>
                <c:pt idx="1">
                  <c:v>总部其他</c:v>
                </c:pt>
                <c:pt idx="2">
                  <c:v>海外</c:v>
                </c:pt>
                <c:pt idx="3">
                  <c:v>西安太原</c:v>
                </c:pt>
                <c:pt idx="4">
                  <c:v>济南</c:v>
                </c:pt>
                <c:pt idx="5">
                  <c:v>上海</c:v>
                </c:pt>
                <c:pt idx="6">
                  <c:v>杭州南京</c:v>
                </c:pt>
                <c:pt idx="7">
                  <c:v>北京</c:v>
                </c:pt>
                <c:pt idx="8">
                  <c:v>广深厦</c:v>
                </c:pt>
                <c:pt idx="9">
                  <c:v>重庆成都</c:v>
                </c:pt>
              </c:strCache>
            </c:strRef>
          </c:cat>
          <c:val>
            <c:numRef>
              <c:f>'[00-总结PPT图示模版-26年4月.xlsx]损益人天及周期 (ing)'!$H$4:$H$13</c:f>
              <c:numCache>
                <c:formatCode>0.0_ ;[Red]\-0.0\ </c:formatCode>
                <c:ptCount val="10"/>
                <c:pt idx="0">
                  <c:v>4.603125</c:v>
                </c:pt>
                <c:pt idx="1">
                  <c:v>0</c:v>
                </c:pt>
                <c:pt idx="2">
                  <c:v>13</c:v>
                </c:pt>
                <c:pt idx="3">
                  <c:v>6.4875</c:v>
                </c:pt>
                <c:pt idx="4">
                  <c:v>4.65178571428571</c:v>
                </c:pt>
                <c:pt idx="5">
                  <c:v>3.5625</c:v>
                </c:pt>
                <c:pt idx="6">
                  <c:v>14.5229166666666</c:v>
                </c:pt>
                <c:pt idx="7">
                  <c:v>7.61071428571429</c:v>
                </c:pt>
                <c:pt idx="8">
                  <c:v>8.57133928571429</c:v>
                </c:pt>
                <c:pt idx="9">
                  <c:v>5.34821428571429</c:v>
                </c:pt>
              </c:numCache>
            </c:numRef>
          </c:val>
        </c:ser>
        <c:ser>
          <c:idx val="1"/>
          <c:order val="1"/>
          <c:tx>
            <c:strRef>
              <c:f>'[00-总结PPT图示模版-26年4月.xlsx]损益人天及周期 (ing)'!$I$3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60A5FA"/>
            </a:solidFill>
            <a:ln w="28575">
              <a:solidFill>
                <a:sysClr val="window" lastClr="FFFFFF"/>
              </a:solidFill>
            </a:ln>
            <a:effectLst/>
            <a:sp3d contourW="28575"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'[00-总结PPT图示模版-26年4月.xlsx]损益人天及周期 (ing)'!$G$4:$G$13</c:f>
              <c:strCache>
                <c:ptCount val="10"/>
                <c:pt idx="0">
                  <c:v>武汉</c:v>
                </c:pt>
                <c:pt idx="1">
                  <c:v>总部其他</c:v>
                </c:pt>
                <c:pt idx="2">
                  <c:v>海外</c:v>
                </c:pt>
                <c:pt idx="3">
                  <c:v>西安太原</c:v>
                </c:pt>
                <c:pt idx="4">
                  <c:v>济南</c:v>
                </c:pt>
                <c:pt idx="5">
                  <c:v>上海</c:v>
                </c:pt>
                <c:pt idx="6">
                  <c:v>杭州南京</c:v>
                </c:pt>
                <c:pt idx="7">
                  <c:v>北京</c:v>
                </c:pt>
                <c:pt idx="8">
                  <c:v>广深厦</c:v>
                </c:pt>
                <c:pt idx="9">
                  <c:v>重庆成都</c:v>
                </c:pt>
              </c:strCache>
            </c:strRef>
          </c:cat>
          <c:val>
            <c:numRef>
              <c:f>'[00-总结PPT图示模版-26年4月.xlsx]损益人天及周期 (ing)'!$I$4:$I$13</c:f>
              <c:numCache>
                <c:formatCode>0.0_ ;[Red]\-0.0\ </c:formatCode>
                <c:ptCount val="10"/>
                <c:pt idx="0">
                  <c:v>14.90625</c:v>
                </c:pt>
                <c:pt idx="1">
                  <c:v>0</c:v>
                </c:pt>
                <c:pt idx="2">
                  <c:v>32.81</c:v>
                </c:pt>
                <c:pt idx="3">
                  <c:v>5.02159090909091</c:v>
                </c:pt>
                <c:pt idx="4">
                  <c:v>6.42333333333334</c:v>
                </c:pt>
                <c:pt idx="5">
                  <c:v>8.164375</c:v>
                </c:pt>
                <c:pt idx="6">
                  <c:v>8.50390625</c:v>
                </c:pt>
                <c:pt idx="7">
                  <c:v>8.02962962962962</c:v>
                </c:pt>
                <c:pt idx="8">
                  <c:v>8.76607142857143</c:v>
                </c:pt>
                <c:pt idx="9">
                  <c:v>5.22954545454545</c:v>
                </c:pt>
              </c:numCache>
            </c:numRef>
          </c:val>
        </c:ser>
        <c:ser>
          <c:idx val="2"/>
          <c:order val="2"/>
          <c:tx>
            <c:strRef>
              <c:f>'[00-总结PPT图示模版-26年4月.xlsx]损益人天及周期 (ing)'!$J$3</c:f>
              <c:strCache>
                <c:ptCount val="1"/>
                <c:pt idx="0">
                  <c:v>2026年</c:v>
                </c:pt>
              </c:strCache>
            </c:strRef>
          </c:tx>
          <c:spPr>
            <a:solidFill>
              <a:srgbClr val="1D4ED8"/>
            </a:solidFill>
            <a:ln w="28575">
              <a:solidFill>
                <a:sysClr val="window" lastClr="FFFFFF"/>
              </a:solidFill>
            </a:ln>
            <a:effectLst/>
            <a:sp3d contourW="28575"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'[00-总结PPT图示模版-26年4月.xlsx]损益人天及周期 (ing)'!$G$4:$G$13</c:f>
              <c:strCache>
                <c:ptCount val="10"/>
                <c:pt idx="0">
                  <c:v>武汉</c:v>
                </c:pt>
                <c:pt idx="1">
                  <c:v>总部其他</c:v>
                </c:pt>
                <c:pt idx="2">
                  <c:v>海外</c:v>
                </c:pt>
                <c:pt idx="3">
                  <c:v>西安太原</c:v>
                </c:pt>
                <c:pt idx="4">
                  <c:v>济南</c:v>
                </c:pt>
                <c:pt idx="5">
                  <c:v>上海</c:v>
                </c:pt>
                <c:pt idx="6">
                  <c:v>杭州南京</c:v>
                </c:pt>
                <c:pt idx="7">
                  <c:v>北京</c:v>
                </c:pt>
                <c:pt idx="8">
                  <c:v>广深厦</c:v>
                </c:pt>
                <c:pt idx="9">
                  <c:v>重庆成都</c:v>
                </c:pt>
              </c:strCache>
            </c:strRef>
          </c:cat>
          <c:val>
            <c:numRef>
              <c:f>'[00-总结PPT图示模版-26年4月.xlsx]损益人天及周期 (ing)'!$J$4:$J$13</c:f>
              <c:numCache>
                <c:formatCode>0.0_ ;[Red]\-0.0\ </c:formatCode>
                <c:ptCount val="10"/>
                <c:pt idx="0">
                  <c:v>18.821875</c:v>
                </c:pt>
                <c:pt idx="1">
                  <c:v>15.56875</c:v>
                </c:pt>
                <c:pt idx="2">
                  <c:v>13.875</c:v>
                </c:pt>
                <c:pt idx="3">
                  <c:v>10.1458333333333</c:v>
                </c:pt>
                <c:pt idx="4">
                  <c:v>8.88636363636364</c:v>
                </c:pt>
                <c:pt idx="5">
                  <c:v>8.76484375</c:v>
                </c:pt>
                <c:pt idx="6">
                  <c:v>8.66979166666666</c:v>
                </c:pt>
                <c:pt idx="7">
                  <c:v>8.2125</c:v>
                </c:pt>
                <c:pt idx="8">
                  <c:v>5.50462962962963</c:v>
                </c:pt>
                <c:pt idx="9">
                  <c:v>4.92884615384615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100"/>
        <c:axId val="404833913"/>
        <c:axId val="26735317"/>
      </c:barChart>
      <c:catAx>
        <c:axId val="404833913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1" i="0" u="none" strike="noStrike" kern="1200" baseline="0">
                <a:solidFill>
                  <a:srgbClr val="1F29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26735317"/>
        <c:crosses val="autoZero"/>
        <c:auto val="1"/>
        <c:lblAlgn val="ctr"/>
        <c:lblOffset val="100"/>
        <c:noMultiLvlLbl val="0"/>
      </c:catAx>
      <c:valAx>
        <c:axId val="26735317"/>
        <c:scaling>
          <c:orientation val="minMax"/>
        </c:scaling>
        <c:delete val="0"/>
        <c:axPos val="b"/>
        <c:numFmt formatCode="0.0_ ;[Red]\-0.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4048339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744829116733245"/>
          <c:y val="0.01616659369848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2fded35-101a-4a57-99e3-1fe59e04ffe3}"/>
      </c:ext>
    </c:extLst>
  </c:chart>
  <c:spPr>
    <a:solidFill>
      <a:schemeClr val="bg1"/>
    </a:solidFill>
    <a:ln w="0" cap="flat" cmpd="sng" algn="ctr">
      <a:solidFill>
        <a:sysClr val="window" lastClr="FFFFFF">
          <a:lumMod val="85000"/>
          <a:alpha val="37000"/>
        </a:sys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0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400" b="1">
                <a:solidFill>
                  <a:srgbClr val="2E75B6"/>
                </a:solidFill>
              </a:rPr>
              <a:t>非KA-全国平均项目周期</a:t>
            </a:r>
            <a:endParaRPr sz="1400" b="1">
              <a:solidFill>
                <a:srgbClr val="2E75B6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'[00-总结PPT图示模版-26年4月.xlsx]损益人天及周期 (ing)'!$B$86</c:f>
              <c:strCache>
                <c:ptCount val="1"/>
                <c:pt idx="0">
                  <c:v>2024年</c:v>
                </c:pt>
              </c:strCache>
            </c:strRef>
          </c:tx>
          <c:spPr>
            <a:ln w="25400" cap="rnd">
              <a:solidFill>
                <a:srgbClr val="5D7FA1"/>
              </a:solidFill>
              <a:miter lim="800000"/>
              <a:tailEnd type="none"/>
            </a:ln>
            <a:effectLst>
              <a:outerShdw blurRad="50800" dist="38100" dir="16200000" rotWithShape="0">
                <a:schemeClr val="tx1">
                  <a:alpha val="40000"/>
                </a:schemeClr>
              </a:outerShdw>
            </a:effectLst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5400" cap="sq">
                <a:solidFill>
                  <a:srgbClr val="5D7FA1"/>
                </a:solidFill>
                <a:bevel/>
                <a:headEnd type="oval" w="lg" len="med"/>
                <a:tailEnd type="none"/>
              </a:ln>
              <a:effectLst>
                <a:outerShdw blurRad="50800" dist="38100" dir="16200000" rotWithShape="0">
                  <a:schemeClr val="tx1">
                    <a:alpha val="40000"/>
                  </a:schemeClr>
                </a:outerShdw>
              </a:effectLst>
            </c:spPr>
          </c:dPt>
          <c:dLbls>
            <c:numFmt formatCode="General" sourceLinked="1"/>
            <c:spPr>
              <a:solidFill>
                <a:srgbClr val="7A7D85"/>
              </a:solidFill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1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'[00-总结PPT图示模版-26年4月.xlsx]损益人天及周期 (ing)'!$C$85:$N$85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'[00-总结PPT图示模版-26年4月.xlsx]损益人天及周期 (ing)'!$C$86:$N$86</c:f>
              <c:numCache>
                <c:formatCode>0_ </c:formatCode>
                <c:ptCount val="12"/>
                <c:pt idx="0">
                  <c:v>146.48</c:v>
                </c:pt>
                <c:pt idx="1">
                  <c:v>139.442307692308</c:v>
                </c:pt>
                <c:pt idx="2">
                  <c:v>149.013888888889</c:v>
                </c:pt>
                <c:pt idx="3">
                  <c:v>151.721153846154</c:v>
                </c:pt>
                <c:pt idx="4">
                  <c:v>155.700787401575</c:v>
                </c:pt>
                <c:pt idx="5">
                  <c:v>149.7375</c:v>
                </c:pt>
                <c:pt idx="6">
                  <c:v>152.130208333333</c:v>
                </c:pt>
                <c:pt idx="7">
                  <c:v>147.929824561404</c:v>
                </c:pt>
                <c:pt idx="8">
                  <c:v>142.562962962963</c:v>
                </c:pt>
                <c:pt idx="9">
                  <c:v>147.846405228758</c:v>
                </c:pt>
                <c:pt idx="10">
                  <c:v>144.008571428571</c:v>
                </c:pt>
                <c:pt idx="11">
                  <c:v>138.20993227991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'[00-总结PPT图示模版-26年4月.xlsx]损益人天及周期 (ing)'!$B$87</c:f>
              <c:strCache>
                <c:ptCount val="1"/>
                <c:pt idx="0">
                  <c:v>2025年</c:v>
                </c:pt>
              </c:strCache>
            </c:strRef>
          </c:tx>
          <c:spPr>
            <a:ln w="25400" cap="rnd">
              <a:solidFill>
                <a:srgbClr val="5B9BD5"/>
              </a:solidFill>
              <a:miter lim="800000"/>
              <a:tailEnd type="none"/>
            </a:ln>
            <a:effectLst>
              <a:outerShdw blurRad="50800" dist="38100" dir="16200000" rotWithShape="0">
                <a:schemeClr val="tx1">
                  <a:alpha val="40000"/>
                </a:schemeClr>
              </a:outerShdw>
            </a:effectLst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5400" cap="sq">
                <a:solidFill>
                  <a:srgbClr val="5B9BD5"/>
                </a:solidFill>
                <a:bevel/>
                <a:headEnd type="oval" w="lg" len="med"/>
                <a:tailEnd type="none"/>
              </a:ln>
              <a:effectLst>
                <a:outerShdw blurRad="50800" dist="38100" dir="16200000" rotWithShape="0">
                  <a:schemeClr val="tx1">
                    <a:alpha val="40000"/>
                  </a:schemeClr>
                </a:outerShdw>
              </a:effectLst>
            </c:spPr>
          </c:dPt>
          <c:dLbls>
            <c:dLbl>
              <c:idx val="1"/>
              <c:layout>
                <c:manualLayout>
                  <c:x val="0"/>
                  <c:y val="0.0550122249388753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110588885816975"/>
                  <c:y val="0.0794621026894866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119804626301723"/>
                  <c:y val="0.0733496332518337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0.0672371638141809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0.045721271393643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230393512118699"/>
                  <c:y val="0.0611246943765281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-0.00230393512118699"/>
                  <c:y val="0.0459657701711491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8"/>
              <c:layout>
                <c:manualLayout>
                  <c:x val="0"/>
                  <c:y val="0.0366748166259169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9"/>
              <c:layout>
                <c:manualLayout>
                  <c:x val="0"/>
                  <c:y val="0.0366748166259169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0"/>
              <c:layout>
                <c:manualLayout>
                  <c:x val="0.00230393512118699"/>
                  <c:y val="0.0643031784841076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-0.00110588885816975"/>
                  <c:y val="0.0581907090464548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solidFill>
                <a:srgbClr val="5B9BD5"/>
              </a:solidFill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1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'[00-总结PPT图示模版-26年4月.xlsx]损益人天及周期 (ing)'!$C$85:$N$85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'[00-总结PPT图示模版-26年4月.xlsx]损益人天及周期 (ing)'!$C$87:$N$87</c:f>
              <c:numCache>
                <c:formatCode>0_ </c:formatCode>
                <c:ptCount val="12"/>
                <c:pt idx="0">
                  <c:v>102.333333333333</c:v>
                </c:pt>
                <c:pt idx="1">
                  <c:v>98.4363636363636</c:v>
                </c:pt>
                <c:pt idx="2">
                  <c:v>112.744680851064</c:v>
                </c:pt>
                <c:pt idx="3">
                  <c:v>118.248120300752</c:v>
                </c:pt>
                <c:pt idx="4">
                  <c:v>129.322784810127</c:v>
                </c:pt>
                <c:pt idx="5">
                  <c:v>133.633663366337</c:v>
                </c:pt>
                <c:pt idx="6">
                  <c:v>129.995867768595</c:v>
                </c:pt>
                <c:pt idx="7">
                  <c:v>130.730909090909</c:v>
                </c:pt>
                <c:pt idx="8">
                  <c:v>128.691318327974</c:v>
                </c:pt>
                <c:pt idx="9">
                  <c:v>129.053731343284</c:v>
                </c:pt>
                <c:pt idx="10">
                  <c:v>131.725130890052</c:v>
                </c:pt>
                <c:pt idx="11">
                  <c:v>125.148148148148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'[00-总结PPT图示模版-26年4月.xlsx]损益人天及周期 (ing)'!$B$88</c:f>
              <c:strCache>
                <c:ptCount val="1"/>
                <c:pt idx="0">
                  <c:v>2026年</c:v>
                </c:pt>
              </c:strCache>
            </c:strRef>
          </c:tx>
          <c:spPr>
            <a:ln w="25400" cap="rnd">
              <a:solidFill>
                <a:srgbClr val="31859C"/>
              </a:solidFill>
              <a:miter lim="800000"/>
              <a:tailEnd type="none"/>
            </a:ln>
            <a:effectLst>
              <a:outerShdw blurRad="50800" dist="38100" dir="16200000" rotWithShape="0">
                <a:schemeClr val="tx1">
                  <a:alpha val="40000"/>
                </a:schemeClr>
              </a:outerShdw>
            </a:effectLst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5400" cap="sq">
                <a:solidFill>
                  <a:srgbClr val="31859C"/>
                </a:solidFill>
                <a:bevel/>
                <a:headEnd type="oval" w="lg" len="med"/>
                <a:tailEnd type="none"/>
              </a:ln>
              <a:effectLst>
                <a:outerShdw blurRad="50800" dist="38100" dir="16200000" rotWithShape="0">
                  <a:schemeClr val="tx1">
                    <a:alpha val="40000"/>
                  </a:schemeClr>
                </a:outerShdw>
              </a:effectLst>
            </c:spPr>
          </c:dPt>
          <c:dLbls>
            <c:dLbl>
              <c:idx val="2"/>
              <c:layout>
                <c:manualLayout>
                  <c:x val="-0.0115196756059349"/>
                  <c:y val="0.0640586797066015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0.0334963325183374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0.0488997555012225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0.0640586797066015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230393512118699"/>
                  <c:y val="0.0518337408312958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"/>
                  <c:y val="0.0640586797066015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8"/>
              <c:layout>
                <c:manualLayout>
                  <c:x val="0.00110588885816975"/>
                  <c:y val="0.0579462102689487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9"/>
              <c:layout>
                <c:manualLayout>
                  <c:x val="-0.00350198138420422"/>
                  <c:y val="0.0611246943765281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0"/>
              <c:layout>
                <c:manualLayout>
                  <c:x val="-0.00820658715395558"/>
                  <c:y val="0.0679347826086956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0"/>
                  <c:y val="0.0714611872146119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solidFill>
                <a:srgbClr val="31859C"/>
              </a:solidFill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1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'[00-总结PPT图示模版-26年4月.xlsx]损益人天及周期 (ing)'!$C$85:$N$85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'[00-总结PPT图示模版-26年4月.xlsx]损益人天及周期 (ing)'!$C$88:$N$88</c:f>
              <c:numCache>
                <c:formatCode>0_ </c:formatCode>
                <c:ptCount val="12"/>
                <c:pt idx="0">
                  <c:v>149.866666666667</c:v>
                </c:pt>
                <c:pt idx="1">
                  <c:v>134.145454545455</c:v>
                </c:pt>
                <c:pt idx="2">
                  <c:v>132.164705882353</c:v>
                </c:pt>
                <c:pt idx="3">
                  <c:v>138.05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1"/>
        <c:axId val="941167615"/>
        <c:axId val="911372967"/>
      </c:lineChart>
      <c:catAx>
        <c:axId val="941167615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1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911372967"/>
        <c:crosses val="autoZero"/>
        <c:auto val="1"/>
        <c:lblAlgn val="ctr"/>
        <c:lblOffset val="100"/>
        <c:noMultiLvlLbl val="0"/>
      </c:catAx>
      <c:valAx>
        <c:axId val="911372967"/>
        <c:scaling>
          <c:orientation val="minMax"/>
        </c:scaling>
        <c:delete val="1"/>
        <c:axPos val="l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15000"/>
                </a:schemeClr>
              </a:solidFill>
              <a:round/>
            </a:ln>
            <a:effectLst/>
          </c:spPr>
        </c:majorGridlines>
        <c:numFmt formatCode="0_ 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941167615"/>
        <c:crosses val="autoZero"/>
        <c:crossBetween val="between"/>
      </c:valAx>
      <c:spPr>
        <a:noFill/>
        <a:ln w="6350">
          <a:solidFill>
            <a:schemeClr val="tx1">
              <a:lumMod val="50000"/>
              <a:lumOff val="50000"/>
              <a:alpha val="25000"/>
            </a:schemeClr>
          </a:solidFill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90586d8-46d9-4d48-ace0-ae5dbe1f606b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400" b="1">
                <a:solidFill>
                  <a:srgbClr val="2E75B6"/>
                </a:solidFill>
              </a:rPr>
              <a:t>非KA-各分公司平均项目周期</a:t>
            </a:r>
            <a:endParaRPr sz="1400" b="1">
              <a:solidFill>
                <a:srgbClr val="2E75B6"/>
              </a:solidFill>
            </a:endParaRPr>
          </a:p>
        </c:rich>
      </c:tx>
      <c:layout>
        <c:manualLayout>
          <c:xMode val="edge"/>
          <c:yMode val="edge"/>
          <c:x val="0.335956948956934"/>
          <c:y val="0.038740920096852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'[00-总结PPT图示模版-26年4月.xlsx]损益人天及周期 (ing)'!$R$86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7A7D85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7A7D85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Pt>
            <c:idx val="1"/>
            <c:invertIfNegative val="0"/>
            <c:bubble3D val="0"/>
            <c:spPr>
              <a:solidFill>
                <a:srgbClr val="7A7D85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Pt>
            <c:idx val="2"/>
            <c:invertIfNegative val="0"/>
            <c:bubble3D val="0"/>
            <c:spPr>
              <a:solidFill>
                <a:srgbClr val="7A7D85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Pt>
            <c:idx val="3"/>
            <c:invertIfNegative val="0"/>
            <c:bubble3D val="0"/>
            <c:spPr>
              <a:solidFill>
                <a:srgbClr val="7A7D85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Pt>
            <c:idx val="4"/>
            <c:invertIfNegative val="0"/>
            <c:bubble3D val="0"/>
            <c:spPr>
              <a:solidFill>
                <a:srgbClr val="7A7D85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Pt>
            <c:idx val="5"/>
            <c:invertIfNegative val="0"/>
            <c:bubble3D val="0"/>
            <c:spPr>
              <a:solidFill>
                <a:srgbClr val="7A7D85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Lbls>
            <c:dLbl>
              <c:idx val="0"/>
              <c:layout/>
              <c:numFmt formatCode="General" sourceLinked="1"/>
              <c:spPr>
                <a:solidFill>
                  <a:srgbClr val="7A7D85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937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0.00581502676758353"/>
                  <c:y val="0.00892857142857143"/>
                </c:manualLayout>
              </c:layout>
              <c:numFmt formatCode="General" sourceLinked="1"/>
              <c:spPr>
                <a:solidFill>
                  <a:srgbClr val="7A7D85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937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General" sourceLinked="1"/>
              <c:spPr>
                <a:solidFill>
                  <a:srgbClr val="7A7D85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937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solidFill>
                  <a:srgbClr val="7A7D85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937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General" sourceLinked="1"/>
              <c:spPr>
                <a:solidFill>
                  <a:srgbClr val="7A7D85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937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General" sourceLinked="1"/>
              <c:spPr>
                <a:solidFill>
                  <a:srgbClr val="7A7D85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937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-0.000648158150588744"/>
                  <c:y val="0.00083094346100635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8"/>
              <c:layout>
                <c:manualLayout>
                  <c:x val="-0.000702171329804472"/>
                  <c:y val="0.0041020812085348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9"/>
              <c:layout>
                <c:manualLayout>
                  <c:x val="-0.000219221396847193"/>
                  <c:y val="0.0046451039594462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solidFill>
                <a:srgbClr val="7A7D85"/>
              </a:solidFill>
              <a:ln>
                <a:noFill/>
              </a:ln>
              <a:effectLst/>
            </c:spPr>
            <c:txPr>
              <a:bodyPr rot="0" spcFirstLastPara="0" vertOverflow="ellipsis" vert="horz" wrap="square" lIns="39370" tIns="0" rIns="38100" bIns="0" anchor="ctr" anchorCtr="1" forceAA="0"/>
              <a:lstStyle/>
              <a:p>
                <a:pPr>
                  <a:defRPr lang="zh-CN" sz="800" b="1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'[00-总结PPT图示模版-26年4月.xlsx]损益人天及周期 (ing)'!$S$85:$AB$85</c:f>
              <c:strCache>
                <c:ptCount val="10"/>
                <c:pt idx="0">
                  <c:v>海外</c:v>
                </c:pt>
                <c:pt idx="1">
                  <c:v>武汉</c:v>
                </c:pt>
                <c:pt idx="2">
                  <c:v>上海</c:v>
                </c:pt>
                <c:pt idx="3">
                  <c:v>重庆成都</c:v>
                </c:pt>
                <c:pt idx="4">
                  <c:v>总部其他</c:v>
                </c:pt>
                <c:pt idx="5">
                  <c:v>广深厦</c:v>
                </c:pt>
                <c:pt idx="6">
                  <c:v>北京</c:v>
                </c:pt>
                <c:pt idx="7">
                  <c:v>杭州南京</c:v>
                </c:pt>
                <c:pt idx="8">
                  <c:v>西安太原</c:v>
                </c:pt>
                <c:pt idx="9">
                  <c:v>济南</c:v>
                </c:pt>
              </c:strCache>
            </c:strRef>
          </c:cat>
          <c:val>
            <c:numRef>
              <c:f>'[00-总结PPT图示模版-26年4月.xlsx]损益人天及周期 (ing)'!$S$86:$AB$86</c:f>
              <c:numCache>
                <c:formatCode>0_ </c:formatCode>
                <c:ptCount val="10"/>
                <c:pt idx="0">
                  <c:v>63</c:v>
                </c:pt>
                <c:pt idx="1">
                  <c:v>252</c:v>
                </c:pt>
                <c:pt idx="2">
                  <c:v>165.538461538462</c:v>
                </c:pt>
                <c:pt idx="3">
                  <c:v>212.642857142857</c:v>
                </c:pt>
                <c:pt idx="4">
                  <c:v>0</c:v>
                </c:pt>
                <c:pt idx="5">
                  <c:v>170.75</c:v>
                </c:pt>
                <c:pt idx="6">
                  <c:v>135.761904761905</c:v>
                </c:pt>
                <c:pt idx="7">
                  <c:v>87.5</c:v>
                </c:pt>
                <c:pt idx="8">
                  <c:v>112.5</c:v>
                </c:pt>
                <c:pt idx="9">
                  <c:v>63.8571428571429</c:v>
                </c:pt>
              </c:numCache>
            </c:numRef>
          </c:val>
        </c:ser>
        <c:ser>
          <c:idx val="1"/>
          <c:order val="1"/>
          <c:tx>
            <c:strRef>
              <c:f>'[00-总结PPT图示模版-26年4月.xlsx]损益人天及周期 (ing)'!$R$87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5B9BD5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Pt>
            <c:idx val="1"/>
            <c:invertIfNegative val="0"/>
            <c:bubble3D val="0"/>
            <c:spPr>
              <a:solidFill>
                <a:srgbClr val="5B9BD5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Pt>
            <c:idx val="2"/>
            <c:invertIfNegative val="0"/>
            <c:bubble3D val="0"/>
            <c:spPr>
              <a:solidFill>
                <a:srgbClr val="5B9BD5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Pt>
            <c:idx val="3"/>
            <c:invertIfNegative val="0"/>
            <c:bubble3D val="0"/>
            <c:spPr>
              <a:solidFill>
                <a:srgbClr val="5B9BD5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Pt>
            <c:idx val="4"/>
            <c:invertIfNegative val="0"/>
            <c:bubble3D val="0"/>
            <c:spPr>
              <a:solidFill>
                <a:srgbClr val="5B9BD5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Pt>
            <c:idx val="5"/>
            <c:invertIfNegative val="0"/>
            <c:bubble3D val="0"/>
            <c:spPr>
              <a:solidFill>
                <a:srgbClr val="5B9BD5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Lbls>
            <c:dLbl>
              <c:idx val="0"/>
              <c:layout/>
              <c:numFmt formatCode="General" sourceLinked="1"/>
              <c:spPr>
                <a:solidFill>
                  <a:srgbClr val="5B9BD5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0.000752207433202181"/>
                  <c:y val="-0.000485680719285737"/>
                </c:manualLayout>
              </c:layout>
              <c:numFmt formatCode="General" sourceLinked="1"/>
              <c:spPr>
                <a:solidFill>
                  <a:srgbClr val="5B9BD5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2.82369573160086e-5"/>
                  <c:y val="0.00100100653819173"/>
                </c:manualLayout>
              </c:layout>
              <c:numFmt formatCode="General" sourceLinked="1"/>
              <c:spPr>
                <a:solidFill>
                  <a:srgbClr val="5B9BD5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00600356935680112"/>
                  <c:y val="0.00562541320338134"/>
                </c:manualLayout>
              </c:layout>
              <c:numFmt formatCode="General" sourceLinked="1"/>
              <c:spPr>
                <a:solidFill>
                  <a:srgbClr val="5B9BD5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101532213402252"/>
                  <c:y val="0.000543271489694294"/>
                </c:manualLayout>
              </c:layout>
              <c:numFmt formatCode="General" sourceLinked="1"/>
              <c:spPr>
                <a:solidFill>
                  <a:srgbClr val="5B9BD5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0862719723929645"/>
                  <c:y val="0.00181386260590332"/>
                </c:manualLayout>
              </c:layout>
              <c:numFmt formatCode="General" sourceLinked="1"/>
              <c:spPr>
                <a:solidFill>
                  <a:srgbClr val="5B9BD5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290880240682396"/>
                  <c:y val="0.0072929171668667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solidFill>
                <a:srgbClr val="5B9BD5"/>
              </a:solidFill>
              <a:ln>
                <a:noFill/>
              </a:ln>
              <a:effectLst/>
            </c:spPr>
            <c:txPr>
              <a:bodyPr rot="0" spcFirstLastPara="0" vertOverflow="ellipsis" vert="horz" wrap="square" lIns="38100" tIns="0" rIns="38100" bIns="0" anchor="ctr" anchorCtr="1" forceAA="0"/>
              <a:lstStyle/>
              <a:p>
                <a:pPr>
                  <a:defRPr lang="zh-CN" sz="800" b="1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'[00-总结PPT图示模版-26年4月.xlsx]损益人天及周期 (ing)'!$S$85:$AB$85</c:f>
              <c:strCache>
                <c:ptCount val="10"/>
                <c:pt idx="0">
                  <c:v>海外</c:v>
                </c:pt>
                <c:pt idx="1">
                  <c:v>武汉</c:v>
                </c:pt>
                <c:pt idx="2">
                  <c:v>上海</c:v>
                </c:pt>
                <c:pt idx="3">
                  <c:v>重庆成都</c:v>
                </c:pt>
                <c:pt idx="4">
                  <c:v>总部其他</c:v>
                </c:pt>
                <c:pt idx="5">
                  <c:v>广深厦</c:v>
                </c:pt>
                <c:pt idx="6">
                  <c:v>北京</c:v>
                </c:pt>
                <c:pt idx="7">
                  <c:v>杭州南京</c:v>
                </c:pt>
                <c:pt idx="8">
                  <c:v>西安太原</c:v>
                </c:pt>
                <c:pt idx="9">
                  <c:v>济南</c:v>
                </c:pt>
              </c:strCache>
            </c:strRef>
          </c:cat>
          <c:val>
            <c:numRef>
              <c:f>'[00-总结PPT图示模版-26年4月.xlsx]损益人天及周期 (ing)'!$S$87:$AB$87</c:f>
              <c:numCache>
                <c:formatCode>0_ </c:formatCode>
                <c:ptCount val="10"/>
                <c:pt idx="0">
                  <c:v>833</c:v>
                </c:pt>
                <c:pt idx="1">
                  <c:v>104</c:v>
                </c:pt>
                <c:pt idx="2">
                  <c:v>131.45</c:v>
                </c:pt>
                <c:pt idx="3">
                  <c:v>101.090909090909</c:v>
                </c:pt>
                <c:pt idx="4">
                  <c:v>0</c:v>
                </c:pt>
                <c:pt idx="5">
                  <c:v>121.464285714286</c:v>
                </c:pt>
                <c:pt idx="6">
                  <c:v>103.148148148148</c:v>
                </c:pt>
                <c:pt idx="7">
                  <c:v>117.5</c:v>
                </c:pt>
                <c:pt idx="8">
                  <c:v>91.2727272727273</c:v>
                </c:pt>
                <c:pt idx="9">
                  <c:v>111.133333333333</c:v>
                </c:pt>
              </c:numCache>
            </c:numRef>
          </c:val>
        </c:ser>
        <c:ser>
          <c:idx val="2"/>
          <c:order val="2"/>
          <c:tx>
            <c:strRef>
              <c:f>'[00-总结PPT图示模版-26年4月.xlsx]损益人天及周期 (ing)'!$R$88</c:f>
              <c:strCache>
                <c:ptCount val="1"/>
                <c:pt idx="0">
                  <c:v>2026年</c:v>
                </c:pt>
              </c:strCache>
            </c:strRef>
          </c:tx>
          <c:spPr>
            <a:solidFill>
              <a:srgbClr val="31859C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31859C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Pt>
            <c:idx val="1"/>
            <c:invertIfNegative val="0"/>
            <c:bubble3D val="0"/>
            <c:spPr>
              <a:solidFill>
                <a:srgbClr val="31859C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Pt>
            <c:idx val="2"/>
            <c:invertIfNegative val="0"/>
            <c:bubble3D val="0"/>
            <c:spPr>
              <a:solidFill>
                <a:srgbClr val="31859C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Pt>
            <c:idx val="3"/>
            <c:invertIfNegative val="0"/>
            <c:bubble3D val="0"/>
            <c:spPr>
              <a:solidFill>
                <a:srgbClr val="31859C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Pt>
            <c:idx val="4"/>
            <c:invertIfNegative val="0"/>
            <c:bubble3D val="0"/>
            <c:spPr>
              <a:solidFill>
                <a:srgbClr val="31859C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Pt>
            <c:idx val="5"/>
            <c:invertIfNegative val="0"/>
            <c:bubble3D val="0"/>
            <c:spPr>
              <a:solidFill>
                <a:srgbClr val="31859C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10000"/>
                  </a:prstClr>
                </a:outerShdw>
              </a:effectLst>
            </c:spPr>
          </c:dPt>
          <c:dLbls>
            <c:dLbl>
              <c:idx val="0"/>
              <c:layout/>
              <c:numFmt formatCode="General" sourceLinked="1"/>
              <c:spPr>
                <a:solidFill>
                  <a:srgbClr val="31859C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.00424589256045782"/>
                  <c:y val="0.0152310924369748"/>
                </c:manualLayout>
              </c:layout>
              <c:numFmt formatCode="General" sourceLinked="1"/>
              <c:spPr>
                <a:solidFill>
                  <a:srgbClr val="31859C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147478812964016"/>
                  <c:y val="0.00762821704634354"/>
                </c:manualLayout>
              </c:layout>
              <c:numFmt formatCode="General" sourceLinked="1"/>
              <c:spPr>
                <a:solidFill>
                  <a:srgbClr val="31859C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00461510060919328"/>
                  <c:y val="0.0152310924369748"/>
                </c:manualLayout>
              </c:layout>
              <c:numFmt formatCode="General" sourceLinked="1"/>
              <c:spPr>
                <a:solidFill>
                  <a:srgbClr val="31859C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numFmt formatCode="General" sourceLinked="1"/>
              <c:spPr>
                <a:solidFill>
                  <a:srgbClr val="31859C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.00273848426211255"/>
                  <c:y val="0.00447756264598014"/>
                </c:manualLayout>
              </c:layout>
              <c:numFmt formatCode="General" sourceLinked="1"/>
              <c:spPr>
                <a:solidFill>
                  <a:srgbClr val="31859C"/>
                </a:solidFill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0" rIns="38100" bIns="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0431359861964822"/>
                  <c:y val="0.0079584010744327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8"/>
              <c:layout>
                <c:manualLayout>
                  <c:x val="0.000209901749834806"/>
                  <c:y val="0.008288481151985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solidFill>
                <a:srgbClr val="31859C"/>
              </a:solidFill>
              <a:ln>
                <a:noFill/>
              </a:ln>
              <a:effectLst/>
            </c:spPr>
            <c:txPr>
              <a:bodyPr rot="0" spcFirstLastPara="0" vertOverflow="ellipsis" vert="horz" wrap="square" lIns="38100" tIns="0" rIns="38100" bIns="0" anchor="ctr" anchorCtr="1" forceAA="0"/>
              <a:lstStyle/>
              <a:p>
                <a:pPr>
                  <a:defRPr lang="zh-CN" sz="800" b="1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'[00-总结PPT图示模版-26年4月.xlsx]损益人天及周期 (ing)'!$S$85:$AB$85</c:f>
              <c:strCache>
                <c:ptCount val="10"/>
                <c:pt idx="0">
                  <c:v>海外</c:v>
                </c:pt>
                <c:pt idx="1">
                  <c:v>武汉</c:v>
                </c:pt>
                <c:pt idx="2">
                  <c:v>上海</c:v>
                </c:pt>
                <c:pt idx="3">
                  <c:v>重庆成都</c:v>
                </c:pt>
                <c:pt idx="4">
                  <c:v>总部其他</c:v>
                </c:pt>
                <c:pt idx="5">
                  <c:v>广深厦</c:v>
                </c:pt>
                <c:pt idx="6">
                  <c:v>北京</c:v>
                </c:pt>
                <c:pt idx="7">
                  <c:v>杭州南京</c:v>
                </c:pt>
                <c:pt idx="8">
                  <c:v>西安太原</c:v>
                </c:pt>
                <c:pt idx="9">
                  <c:v>济南</c:v>
                </c:pt>
              </c:strCache>
            </c:strRef>
          </c:cat>
          <c:val>
            <c:numRef>
              <c:f>'[00-总结PPT图示模版-26年4月.xlsx]损益人天及周期 (ing)'!$S$88:$AB$88</c:f>
              <c:numCache>
                <c:formatCode>0_ </c:formatCode>
                <c:ptCount val="10"/>
                <c:pt idx="0">
                  <c:v>277</c:v>
                </c:pt>
                <c:pt idx="1">
                  <c:v>265.5</c:v>
                </c:pt>
                <c:pt idx="2">
                  <c:v>227.3125</c:v>
                </c:pt>
                <c:pt idx="3">
                  <c:v>148.230769230769</c:v>
                </c:pt>
                <c:pt idx="4">
                  <c:v>139</c:v>
                </c:pt>
                <c:pt idx="5">
                  <c:v>114.925925925926</c:v>
                </c:pt>
                <c:pt idx="6">
                  <c:v>114.857142857143</c:v>
                </c:pt>
                <c:pt idx="7">
                  <c:v>114</c:v>
                </c:pt>
                <c:pt idx="8">
                  <c:v>104.333333333333</c:v>
                </c:pt>
                <c:pt idx="9">
                  <c:v>97.4545454545455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2"/>
        <c:overlap val="-21"/>
        <c:axId val="552412656"/>
        <c:axId val="535796482"/>
      </c:barChart>
      <c:catAx>
        <c:axId val="552412656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35796482"/>
        <c:crosses val="autoZero"/>
        <c:auto val="1"/>
        <c:lblAlgn val="ctr"/>
        <c:lblOffset val="100"/>
        <c:noMultiLvlLbl val="0"/>
      </c:catAx>
      <c:valAx>
        <c:axId val="535796482"/>
        <c:scaling>
          <c:orientation val="minMax"/>
        </c:scaling>
        <c:delete val="1"/>
        <c:axPos val="l"/>
        <c:numFmt formatCode="0_ 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52412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3577e32-1ae1-475b-82e1-14040c7c3b42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P1</a:t>
            </a:r>
            <a:r>
              <a:rPr altLang="en-US"/>
              <a:t>数量（分月）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'[ppt源数据，最新.xlsx]P1'!$A$3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56627E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'[ppt源数据，最新.xlsx]P1'!$B$1:$M$1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'[ppt源数据，最新.xlsx]P1'!$B$3:$M$3</c:f>
              <c:numCache>
                <c:formatCode>General</c:formatCode>
                <c:ptCount val="12"/>
                <c:pt idx="0">
                  <c:v>15</c:v>
                </c:pt>
                <c:pt idx="1">
                  <c:v>9</c:v>
                </c:pt>
                <c:pt idx="2">
                  <c:v>14</c:v>
                </c:pt>
                <c:pt idx="3">
                  <c:v>27</c:v>
                </c:pt>
                <c:pt idx="4">
                  <c:v>17</c:v>
                </c:pt>
                <c:pt idx="5">
                  <c:v>13</c:v>
                </c:pt>
                <c:pt idx="6">
                  <c:v>21</c:v>
                </c:pt>
                <c:pt idx="7">
                  <c:v>29</c:v>
                </c:pt>
                <c:pt idx="8">
                  <c:v>19</c:v>
                </c:pt>
                <c:pt idx="9">
                  <c:v>20</c:v>
                </c:pt>
                <c:pt idx="10">
                  <c:v>13</c:v>
                </c:pt>
                <c:pt idx="11">
                  <c:v>22</c:v>
                </c:pt>
              </c:numCache>
            </c:numRef>
          </c:val>
        </c:ser>
        <c:ser>
          <c:idx val="2"/>
          <c:order val="2"/>
          <c:tx>
            <c:strRef>
              <c:f>'[ppt源数据，最新.xlsx]P1'!$A$4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'[ppt源数据，最新.xlsx]P1'!$B$1:$M$1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'[ppt源数据，最新.xlsx]P1'!$B$4:$M$4</c:f>
              <c:numCache>
                <c:formatCode>General</c:formatCode>
                <c:ptCount val="12"/>
                <c:pt idx="0">
                  <c:v>16</c:v>
                </c:pt>
                <c:pt idx="1">
                  <c:v>9</c:v>
                </c:pt>
                <c:pt idx="2">
                  <c:v>10</c:v>
                </c:pt>
                <c:pt idx="3">
                  <c:v>18</c:v>
                </c:pt>
                <c:pt idx="4">
                  <c:v>21</c:v>
                </c:pt>
                <c:pt idx="5">
                  <c:v>29</c:v>
                </c:pt>
                <c:pt idx="6">
                  <c:v>26</c:v>
                </c:pt>
                <c:pt idx="7">
                  <c:v>14</c:v>
                </c:pt>
                <c:pt idx="8">
                  <c:v>25</c:v>
                </c:pt>
                <c:pt idx="9">
                  <c:v>12</c:v>
                </c:pt>
                <c:pt idx="10">
                  <c:v>12</c:v>
                </c:pt>
                <c:pt idx="11">
                  <c:v>17</c:v>
                </c:pt>
              </c:numCache>
            </c:numRef>
          </c:val>
        </c:ser>
        <c:ser>
          <c:idx val="3"/>
          <c:order val="3"/>
          <c:tx>
            <c:strRef>
              <c:f>'[ppt源数据，最新.xlsx]P1'!$A$5</c:f>
              <c:strCache>
                <c:ptCount val="1"/>
                <c:pt idx="0">
                  <c:v>2026年</c:v>
                </c:pt>
              </c:strCache>
            </c:strRef>
          </c:tx>
          <c:spPr>
            <a:solidFill>
              <a:srgbClr val="EE874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'[ppt源数据，最新.xlsx]P1'!$B$1:$M$1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'[ppt源数据，最新.xlsx]P1'!$B$5:$M$5</c:f>
              <c:numCache>
                <c:formatCode>General</c:formatCode>
                <c:ptCount val="12"/>
                <c:pt idx="0">
                  <c:v>15</c:v>
                </c:pt>
                <c:pt idx="1">
                  <c:v>5</c:v>
                </c:pt>
                <c:pt idx="2">
                  <c:v>14</c:v>
                </c:pt>
                <c:pt idx="3">
                  <c:v>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191739362"/>
        <c:axId val="846665745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'[ppt源数据，最新.xlsx]P1'!$A$2</c15:sqref>
                        </c15:formulaRef>
                      </c:ext>
                    </c:extLst>
                    <c:strCache>
                      <c:ptCount val="1"/>
                      <c:pt idx="0">
                        <c:v>2023年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'[ppt源数据，最新.xlsx]P1'!$B$1:$M$1</c15:sqref>
                        </c15:formulaRef>
                      </c:ext>
                    </c:extLst>
                    <c:strCache>
                      <c:ptCount val="12"/>
                      <c:pt idx="0">
                        <c:v>1月</c:v>
                      </c:pt>
                      <c:pt idx="1">
                        <c:v>2月</c:v>
                      </c:pt>
                      <c:pt idx="2">
                        <c:v>3月</c:v>
                      </c:pt>
                      <c:pt idx="3">
                        <c:v>4月</c:v>
                      </c:pt>
                      <c:pt idx="4">
                        <c:v>5月</c:v>
                      </c:pt>
                      <c:pt idx="5">
                        <c:v>6月</c:v>
                      </c:pt>
                      <c:pt idx="6">
                        <c:v>7月</c:v>
                      </c:pt>
                      <c:pt idx="7">
                        <c:v>8月</c:v>
                      </c:pt>
                      <c:pt idx="8">
                        <c:v>9月</c:v>
                      </c:pt>
                      <c:pt idx="9">
                        <c:v>10月</c:v>
                      </c:pt>
                      <c:pt idx="10">
                        <c:v>11月</c:v>
                      </c:pt>
                      <c:pt idx="11">
                        <c:v>12月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{4,17,16,14,19,22,30,21,16,16,23,23}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4</c:v>
                      </c:pt>
                      <c:pt idx="1">
                        <c:v>17</c:v>
                      </c:pt>
                      <c:pt idx="2">
                        <c:v>16</c:v>
                      </c:pt>
                      <c:pt idx="3">
                        <c:v>14</c:v>
                      </c:pt>
                      <c:pt idx="4">
                        <c:v>19</c:v>
                      </c:pt>
                      <c:pt idx="5">
                        <c:v>22</c:v>
                      </c:pt>
                      <c:pt idx="6">
                        <c:v>30</c:v>
                      </c:pt>
                      <c:pt idx="7">
                        <c:v>21</c:v>
                      </c:pt>
                      <c:pt idx="8">
                        <c:v>16</c:v>
                      </c:pt>
                      <c:pt idx="9">
                        <c:v>16</c:v>
                      </c:pt>
                      <c:pt idx="10">
                        <c:v>23</c:v>
                      </c:pt>
                      <c:pt idx="11">
                        <c:v>23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19173936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46665745"/>
        <c:crosses val="autoZero"/>
        <c:auto val="1"/>
        <c:lblAlgn val="ctr"/>
        <c:lblOffset val="100"/>
        <c:noMultiLvlLbl val="0"/>
      </c:catAx>
      <c:valAx>
        <c:axId val="84666574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173936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c4d1b25-e913-4dac-a7cd-9057d5539181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22192655667908"/>
          <c:y val="0.22281822051937"/>
          <c:w val="0.947933297853468"/>
          <c:h val="0.65415070242656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已完成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巡检完成</c:v>
                </c:pt>
              </c:strCache>
            </c:strRef>
          </c:cat>
          <c:val>
            <c:numRef>
              <c:f>Sheet1!$B$2</c:f>
              <c:numCache>
                <c:formatCode>0.0%</c:formatCode>
                <c:ptCount val="1"/>
                <c:pt idx="0">
                  <c:v>0.262483994878361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客户不做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00144679373367759"/>
                  <c:y val="-0.00079713797449408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623121422033466"/>
                      <c:h val="0.211588556765431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巡检完成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已通知未做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巡检完成</c:v>
                </c:pt>
              </c:strCache>
            </c:strRef>
          </c:cat>
          <c:val>
            <c:numRef>
              <c:f>Sheet1!$D$2</c:f>
              <c:numCache>
                <c:formatCode>0.0%</c:formatCode>
                <c:ptCount val="1"/>
                <c:pt idx="0">
                  <c:v>0.737516005121639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8"/>
        <c:overlap val="100"/>
        <c:axId val="-484573840"/>
        <c:axId val="-623181376"/>
      </c:barChart>
      <c:catAx>
        <c:axId val="-4845738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623181376"/>
        <c:crosses val="autoZero"/>
        <c:auto val="1"/>
        <c:lblAlgn val="ctr"/>
        <c:lblOffset val="100"/>
        <c:noMultiLvlLbl val="0"/>
      </c:catAx>
      <c:valAx>
        <c:axId val="-623181376"/>
        <c:scaling>
          <c:orientation val="minMax"/>
          <c:min val="0"/>
        </c:scaling>
        <c:delete val="0"/>
        <c:axPos val="b"/>
        <c:numFmt formatCode="0%" sourceLinked="1"/>
        <c:majorTickMark val="out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484573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395777896044"/>
          <c:y val="0.851012536162006"/>
          <c:w val="0.527851694163562"/>
          <c:h val="0.13452266152362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1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d82c289-47c9-4b21-8966-8a59685c06df}"/>
      </c:ext>
    </c:extLst>
  </c:chart>
  <c:spPr>
    <a:noFill/>
    <a:ln>
      <a:noFill/>
    </a:ln>
    <a:effectLst/>
  </c:spPr>
  <c:txPr>
    <a:bodyPr/>
    <a:lstStyle/>
    <a:p>
      <a:pPr>
        <a:defRPr lang="zh-CN" sz="1000" b="1">
          <a:solidFill>
            <a:schemeClr val="bg2">
              <a:lumMod val="10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76871249605222"/>
          <c:y val="0.192528735632184"/>
          <c:w val="0.907358669333614"/>
          <c:h val="0.6236453201970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已完成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0473734077271292"/>
                  <c:y val="0.024630541871921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25年上半年</c:v>
                </c:pt>
                <c:pt idx="1">
                  <c:v>25年下半年</c:v>
                </c:pt>
                <c:pt idx="2">
                  <c:v>26年上半年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241</c:v>
                </c:pt>
                <c:pt idx="1">
                  <c:v>100</c:v>
                </c:pt>
                <c:pt idx="2">
                  <c:v>205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696081292"/>
        <c:axId val="45336758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0.00473734077271292"/>
                  <c:y val="-0.021756978653530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207390251605432"/>
                  <c:y val="0.068144499178981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157911359090431"/>
                  <c:y val="-0.018678160919540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25年上半年</c:v>
                </c:pt>
                <c:pt idx="1">
                  <c:v>25年下半年</c:v>
                </c:pt>
                <c:pt idx="2">
                  <c:v>26年上半年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0.314</c:v>
                </c:pt>
                <c:pt idx="1">
                  <c:v>0.133</c:v>
                </c:pt>
                <c:pt idx="2">
                  <c:v>0.262483994878361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1"/>
        <c:axId val="922432887"/>
        <c:axId val="924351678"/>
      </c:lineChart>
      <c:catAx>
        <c:axId val="69608129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453367582"/>
        <c:crosses val="autoZero"/>
        <c:auto val="1"/>
        <c:lblAlgn val="ctr"/>
        <c:lblOffset val="100"/>
        <c:noMultiLvlLbl val="0"/>
      </c:catAx>
      <c:valAx>
        <c:axId val="453367582"/>
        <c:scaling>
          <c:orientation val="minMax"/>
          <c:max val="30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696081292"/>
        <c:crosses val="autoZero"/>
        <c:crossBetween val="between"/>
      </c:valAx>
      <c:catAx>
        <c:axId val="922432887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924351678"/>
        <c:crosses val="autoZero"/>
        <c:auto val="1"/>
        <c:lblAlgn val="ctr"/>
        <c:lblOffset val="100"/>
        <c:noMultiLvlLbl val="0"/>
      </c:catAx>
      <c:valAx>
        <c:axId val="924351678"/>
        <c:scaling>
          <c:orientation val="minMax"/>
          <c:min val="-1"/>
        </c:scaling>
        <c:delete val="0"/>
        <c:axPos val="r"/>
        <c:numFmt formatCode="0.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92243288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0143172965575"/>
          <c:y val="0.92241379310344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8d6b583-b6ae-4d9c-9851-9a430634b7e5}"/>
      </c:ext>
    </c:extLst>
  </c:chart>
  <c:spPr>
    <a:noFill/>
    <a:ln w="6350" cap="flat" cmpd="sng" algn="ctr">
      <a:solidFill>
        <a:srgbClr val="D2DEEF"/>
      </a:solidFill>
      <a:prstDash val="dash"/>
      <a:miter lim="800000"/>
    </a:ln>
    <a:effectLst/>
    <a:sp3d>
      <a:extrusionClr>
        <a:srgbClr val="FFFFFF"/>
      </a:extrusionClr>
      <a:contourClr>
        <a:srgbClr val="FFFFFF"/>
      </a:contourClr>
    </a:sp3d>
  </c:spPr>
  <c:txPr>
    <a:bodyPr/>
    <a:lstStyle/>
    <a:p>
      <a:pPr>
        <a:defRPr lang="zh-CN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0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rgbClr val="000000">
        <a:lumMod val="65000"/>
        <a:lumOff val="35000"/>
      </a:srgbClr>
    </cs:fontRef>
    <cs:defRPr sz="1195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1195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1330"/>
  </cs:chartArea>
  <cs:dataLabel>
    <cs:lnRef idx="0"/>
    <cs:fillRef idx="0"/>
    <cs:effectRef idx="0"/>
    <cs:fontRef idx="minor">
      <a:srgbClr val="000000">
        <a:lumMod val="65000"/>
        <a:lumOff val="35000"/>
      </a:srgbClr>
    </cs:fontRef>
    <cs:defRPr sz="1195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195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rgbClr val="000000"/>
    </cs:fontRef>
    <cs:spPr>
      <a:solidFill>
        <a:srgbClr val="FFFFFF"/>
      </a:solidFill>
      <a:ln>
        <a:solidFill>
          <a:srgbClr val="FFFFFF"/>
        </a:solidFill>
      </a:ln>
    </cs:spPr>
  </cs:dataPoint>
  <cs:dataPoint3D>
    <cs:lnRef idx="0"/>
    <cs:fillRef idx="0">
      <cs:styleClr val="auto"/>
    </cs:fillRef>
    <cs:effectRef idx="0"/>
    <cs:fontRef idx="minor">
      <a:srgbClr val="000000"/>
    </cs:fontRef>
    <cs:spPr>
      <a:solidFill>
        <a:srgbClr val="FFFFFF"/>
      </a:solidFill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000000"/>
    </cs:fontRef>
    <cs:spPr>
      <a:solidFill>
        <a:srgbClr val="FFFFFF"/>
      </a:solidFill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ln w="9525">
        <a:solidFill>
          <a:srgbClr val="000000">
            <a:lumMod val="15000"/>
            <a:lumOff val="85000"/>
          </a:srgbClr>
        </a:solidFill>
      </a:ln>
    </cs:spPr>
    <cs:defRPr sz="1195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65000"/>
          <a:lumOff val="35000"/>
        </a:srgbClr>
      </a:solidFill>
      <a:ln w="9525">
        <a:solidFill>
          <a:srgbClr val="000000">
            <a:lumMod val="65000"/>
            <a:lumOff val="35000"/>
          </a:srgbClr>
        </a:solidFill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75000"/>
            <a:lumOff val="25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1195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1195"/>
  </cs:seriesAxis>
  <cs:seriesLine>
    <cs:lnRef idx="0"/>
    <cs:fillRef idx="0"/>
    <cs:effectRef idx="0"/>
    <cs:fontRef idx="minor">
      <a:srgbClr val="000000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rgbClr val="000000">
        <a:lumMod val="65000"/>
        <a:lumOff val="35000"/>
      </a:srgbClr>
    </cs:fontRef>
    <cs:defRPr sz="186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ash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1195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>
        <a:solidFill>
          <a:srgbClr val="000000">
            <a:lumMod val="15000"/>
            <a:lumOff val="85000"/>
          </a:srgbClr>
        </a:solidFill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1195"/>
  </cs:valueAxis>
  <cs:wall>
    <cs:lnRef idx="0"/>
    <cs:fillRef idx="0"/>
    <cs:effectRef idx="0"/>
    <cs:fontRef idx="minor">
      <a:srgbClr val="000000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1008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0.63137</cdr:x>
      <cdr:y>0.12366</cdr:y>
    </cdr:from>
    <cdr:to>
      <cdr:x>0.76383</cdr:x>
      <cdr:y>0.18323</cdr:y>
    </cdr:to>
    <cdr:sp>
      <cdr:nvSpPr>
        <cdr:cNvPr id="2" name="矩形 1"/>
        <cdr:cNvSpPr/>
      </cdr:nvSpPr>
      <cdr:spPr xmlns:a="http://schemas.openxmlformats.org/drawingml/2006/main">
        <a:xfrm xmlns:a="http://schemas.openxmlformats.org/drawingml/2006/main">
          <a:off x="3471545" y="365125"/>
          <a:ext cx="728345" cy="175895"/>
        </a:xfrm>
        <a:prstGeom xmlns:a="http://schemas.openxmlformats.org/drawingml/2006/main" prst="rect">
          <a:avLst/>
        </a:prstGeom>
      </cdr:spPr>
      <cdr:txBody xmlns:a="http://schemas.openxmlformats.org/drawingml/2006/main">
        <a:bodyPr vertOverflow="clip" horzOverflow="clip" wrap="square" rtlCol="0" anchor="t"/>
        <a:lstStyle>
          <a:defPPr>
            <a:defRPr lang="zh-CN"/>
          </a:defPPr>
          <a:lvl1pPr marL="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9pPr>
        </a:lstStyle>
        <a:p>
          <a:r>
            <a:rPr lang="zh-CN" altLang="en-US" sz="900">
              <a:latin typeface="微软雅黑" panose="020B0503020204020204" pitchFamily="34" charset="-122"/>
              <a:ea typeface="微软雅黑" panose="020B0503020204020204" pitchFamily="34" charset="-122"/>
            </a:rPr>
            <a:t>单位：万</a:t>
          </a:r>
          <a:endParaRPr lang="zh-CN" altLang="en-US" sz="900">
            <a:latin typeface="微软雅黑" panose="020B0503020204020204" pitchFamily="34" charset="-122"/>
            <a:ea typeface="微软雅黑" panose="020B0503020204020204" pitchFamily="34" charset="-122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1E96F-0AB7-4DB3-ADB6-4F239647C5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E6C61-0547-4633-9570-D719A1A32F2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FE6C61-0547-4633-9570-D719A1A32F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幻灯片图像占位符 6145"/>
          <p:cNvSpPr>
            <a:spLocks noGrp="1" noRot="1" noChangeAspect="1"/>
          </p:cNvSpPr>
          <p:nvPr>
            <p:ph type="sldImg"/>
          </p:nvPr>
        </p:nvSpPr>
        <p:spPr>
          <a:ln w="1"/>
        </p:spPr>
      </p:sp>
      <p:sp>
        <p:nvSpPr>
          <p:cNvPr id="30723" name="文本占位符 6146"/>
          <p:cNvSpPr>
            <a:spLocks noGrp="1" noRot="1" noChangeAspect="1"/>
          </p:cNvSpPr>
          <p:nvPr>
            <p:ph type="body"/>
          </p:nvPr>
        </p:nvSpPr>
        <p:spPr>
          <a:xfrm>
            <a:off x="-619125" y="8210550"/>
            <a:ext cx="7042150" cy="8928100"/>
          </a:xfrm>
          <a:prstGeom prst="rect">
            <a:avLst/>
          </a:prstGeom>
          <a:noFill/>
          <a:ln w="1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/>
            <a:endParaRPr lang="zh-CN" altLang="en-US" dirty="0">
              <a:ea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幻灯片图像占位符 6145"/>
          <p:cNvSpPr>
            <a:spLocks noGrp="1" noRot="1" noChangeAspect="1"/>
          </p:cNvSpPr>
          <p:nvPr>
            <p:ph type="sldImg"/>
          </p:nvPr>
        </p:nvSpPr>
        <p:spPr>
          <a:ln w="1"/>
        </p:spPr>
      </p:sp>
      <p:sp>
        <p:nvSpPr>
          <p:cNvPr id="30723" name="文本占位符 6146"/>
          <p:cNvSpPr>
            <a:spLocks noGrp="1" noRot="1" noChangeAspect="1"/>
          </p:cNvSpPr>
          <p:nvPr>
            <p:ph type="body"/>
          </p:nvPr>
        </p:nvSpPr>
        <p:spPr>
          <a:xfrm>
            <a:off x="-619125" y="8210550"/>
            <a:ext cx="7042150" cy="8928100"/>
          </a:xfrm>
          <a:prstGeom prst="rect">
            <a:avLst/>
          </a:prstGeom>
          <a:noFill/>
          <a:ln w="1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/>
            <a:endParaRPr lang="zh-CN" altLang="en-US" dirty="0">
              <a:ea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FE6C61-0547-4633-9570-D719A1A32F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幻灯片图像占位符 6145"/>
          <p:cNvSpPr>
            <a:spLocks noGrp="1" noRot="1" noChangeAspect="1"/>
          </p:cNvSpPr>
          <p:nvPr>
            <p:ph type="sldImg"/>
          </p:nvPr>
        </p:nvSpPr>
        <p:spPr>
          <a:ln w="1"/>
        </p:spPr>
      </p:sp>
      <p:sp>
        <p:nvSpPr>
          <p:cNvPr id="30723" name="文本占位符 6146"/>
          <p:cNvSpPr>
            <a:spLocks noGrp="1" noRot="1" noChangeAspect="1"/>
          </p:cNvSpPr>
          <p:nvPr>
            <p:ph type="body"/>
          </p:nvPr>
        </p:nvSpPr>
        <p:spPr>
          <a:xfrm>
            <a:off x="-619125" y="8210550"/>
            <a:ext cx="7042150" cy="8928100"/>
          </a:xfrm>
          <a:prstGeom prst="rect">
            <a:avLst/>
          </a:prstGeom>
          <a:noFill/>
          <a:ln w="1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/>
            <a:endParaRPr lang="zh-CN" altLang="en-US" dirty="0">
              <a:ea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FE6C61-0547-4633-9570-D719A1A32F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2356832"/>
            <a:ext cx="270456" cy="163561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409976" y="2356832"/>
            <a:ext cx="1624885" cy="163561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588947"/>
            <a:ext cx="12192000" cy="2831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921393" y="6601967"/>
            <a:ext cx="645182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http://www.coremail.cn/             </a:t>
            </a:r>
            <a:endParaRPr lang="zh-CN" altLang="en-US" sz="1100" dirty="0">
              <a:solidFill>
                <a:schemeClr val="bg1"/>
              </a:solidFill>
            </a:endParaRPr>
          </a:p>
        </p:txBody>
      </p:sp>
      <p:pic>
        <p:nvPicPr>
          <p:cNvPr id="3" name="图片 2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707" y="524160"/>
            <a:ext cx="1707633" cy="37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H="1">
            <a:off x="0" y="6564240"/>
            <a:ext cx="9432000" cy="0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5967" y="6241700"/>
            <a:ext cx="1707633" cy="37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AADD60-3909-4250-A0A2-8B29FFC64C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C556C2-14C8-496D-821E-12696BA84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AADD60-3909-4250-A0A2-8B29FFC64C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C556C2-14C8-496D-821E-12696BA84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AADD60-3909-4250-A0A2-8B29FFC64C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C556C2-14C8-496D-821E-12696BA84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AADD60-3909-4250-A0A2-8B29FFC64C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C556C2-14C8-496D-821E-12696BA84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AADD60-3909-4250-A0A2-8B29FFC64C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C556C2-14C8-496D-821E-12696BA84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AADD60-3909-4250-A0A2-8B29FFC64C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C556C2-14C8-496D-821E-12696BA84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AADD60-3909-4250-A0A2-8B29FFC64C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C556C2-14C8-496D-821E-12696BA84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AADD60-3909-4250-A0A2-8B29FFC64C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C556C2-14C8-496D-821E-12696BA84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588947"/>
            <a:ext cx="12192000" cy="2831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707" y="524160"/>
            <a:ext cx="1707633" cy="37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8"/>
          <p:cNvSpPr>
            <a:spLocks noChangeArrowheads="1"/>
          </p:cNvSpPr>
          <p:nvPr userDrawn="1"/>
        </p:nvSpPr>
        <p:spPr bwMode="auto">
          <a:xfrm>
            <a:off x="0" y="6588125"/>
            <a:ext cx="12192000" cy="284163"/>
          </a:xfrm>
          <a:prstGeom prst="rect">
            <a:avLst/>
          </a:prstGeom>
          <a:solidFill>
            <a:srgbClr val="2E7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90204" pitchFamily="34" charset="0"/>
              <a:buNone/>
              <a:defRPr/>
            </a:pPr>
            <a:endParaRPr lang="zh-CN" altLang="zh-CN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矩形 9"/>
          <p:cNvSpPr>
            <a:spLocks noChangeArrowheads="1"/>
          </p:cNvSpPr>
          <p:nvPr userDrawn="1"/>
        </p:nvSpPr>
        <p:spPr bwMode="auto">
          <a:xfrm>
            <a:off x="2921000" y="6602413"/>
            <a:ext cx="64516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90204" pitchFamily="34" charset="0"/>
              <a:buNone/>
              <a:defRPr/>
            </a:pPr>
            <a:r>
              <a:rPr lang="zh-CN" altLang="zh-CN" sz="11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等线" panose="02010600030101010101" charset="-122"/>
              </a:rPr>
              <a:t>官网：http://www.coremail.cn/             购买咨询：400-000-1631</a:t>
            </a:r>
            <a:endParaRPr lang="zh-CN" altLang="zh-CN" sz="110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0499" y="288926"/>
            <a:ext cx="9012877" cy="523220"/>
          </a:xfrm>
          <a:prstGeom prst="rect">
            <a:avLst/>
          </a:prstGeom>
        </p:spPr>
        <p:txBody>
          <a:bodyPr/>
          <a:lstStyle>
            <a:lvl1pPr>
              <a:defRPr lang="zh-CN" altLang="en-US" sz="2800" b="0" kern="1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707" y="524160"/>
            <a:ext cx="1707633" cy="37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 flipH="1">
            <a:off x="0" y="894960"/>
            <a:ext cx="9432000" cy="0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0" y="6588947"/>
            <a:ext cx="12192000" cy="2831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921393" y="6601967"/>
            <a:ext cx="645182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http://www.coremail.cn/             </a:t>
            </a:r>
            <a:endParaRPr lang="zh-CN" altLang="en-US" sz="1100" dirty="0">
              <a:solidFill>
                <a:schemeClr val="bg1"/>
              </a:solidFill>
            </a:endParaRPr>
          </a:p>
        </p:txBody>
      </p:sp>
      <p:pic>
        <p:nvPicPr>
          <p:cNvPr id="3" name="图片 2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707" y="524160"/>
            <a:ext cx="1707633" cy="37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DD60-3909-4250-A0A2-8B29FFC64C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556C2-14C8-496D-821E-12696BA84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DD60-3909-4250-A0A2-8B29FFC64C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556C2-14C8-496D-821E-12696BA84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DD60-3909-4250-A0A2-8B29FFC64C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556C2-14C8-496D-821E-12696BA84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DD60-3909-4250-A0A2-8B29FFC64C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556C2-14C8-496D-821E-12696BA84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DD60-3909-4250-A0A2-8B29FFC64C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556C2-14C8-496D-821E-12696BA84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2356832"/>
            <a:ext cx="270456" cy="163561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 userDrawn="1"/>
        </p:nvSpPr>
        <p:spPr>
          <a:xfrm>
            <a:off x="409976" y="2356832"/>
            <a:ext cx="1624885" cy="163561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3" name="图片 2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707" y="524160"/>
            <a:ext cx="1707633" cy="37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H="1">
            <a:off x="0" y="6564240"/>
            <a:ext cx="9432000" cy="0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"/>
          <p:cNvSpPr txBox="1">
            <a:spLocks noChangeArrowheads="1"/>
          </p:cNvSpPr>
          <p:nvPr userDrawn="1"/>
        </p:nvSpPr>
        <p:spPr bwMode="auto">
          <a:xfrm>
            <a:off x="395495" y="357197"/>
            <a:ext cx="3929063" cy="777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defTabSz="685165" eaLnBrk="1" hangingPunct="1">
              <a:defRPr/>
            </a:pPr>
            <a:r>
              <a:rPr lang="zh-CN" altLang="en-US" sz="4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目录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</a:t>
            </a:r>
            <a:r>
              <a:rPr lang="en-US" altLang="zh-CN" sz="2100" dirty="0">
                <a:solidFill>
                  <a:sysClr val="window" lastClr="FFFFFF">
                    <a:lumMod val="65000"/>
                  </a:sysClr>
                </a:solidFill>
                <a:latin typeface="Arial" panose="020B0604020202090204" pitchFamily="34" charset="0"/>
                <a:ea typeface="Arial Unicode MS" panose="020B0604020202020204" pitchFamily="34" charset="-122"/>
                <a:cs typeface="Arial" panose="020B0604020202090204" pitchFamily="34" charset="0"/>
              </a:rPr>
              <a:t>Contents</a:t>
            </a:r>
            <a:endParaRPr lang="zh-CN" altLang="en-US" sz="2100" dirty="0">
              <a:solidFill>
                <a:sysClr val="window" lastClr="FFFFFF">
                  <a:lumMod val="65000"/>
                </a:sysClr>
              </a:solidFill>
              <a:latin typeface="Arial" panose="020B0604020202090204" pitchFamily="34" charset="0"/>
              <a:ea typeface="Arial Unicode MS" panose="020B0604020202020204" pitchFamily="34" charset="-122"/>
              <a:cs typeface="Arial" panose="020B0604020202090204" pitchFamily="34" charset="0"/>
            </a:endParaRPr>
          </a:p>
        </p:txBody>
      </p:sp>
      <p:pic>
        <p:nvPicPr>
          <p:cNvPr id="2" name="图片 1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5967" y="6241700"/>
            <a:ext cx="1707633" cy="37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 userDrawn="1"/>
        </p:nvSpPr>
        <p:spPr>
          <a:xfrm>
            <a:off x="2644781" y="2227263"/>
            <a:ext cx="6524625" cy="2417762"/>
          </a:xfrm>
          <a:prstGeom prst="rect">
            <a:avLst/>
          </a:prstGeom>
        </p:spPr>
        <p:txBody>
          <a:bodyPr lIns="68572" tIns="34287" rIns="68572" bIns="34287"/>
          <a:lstStyle/>
          <a:p>
            <a:pPr marL="257175" indent="-257175" algn="ctr">
              <a:spcBef>
                <a:spcPct val="20000"/>
              </a:spcBef>
              <a:defRPr/>
            </a:pPr>
            <a:r>
              <a:rPr lang="en-US" altLang="zh-CN" sz="7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Thanks</a:t>
            </a:r>
            <a:br>
              <a:rPr lang="en-US" altLang="zh-CN" sz="135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</a:br>
            <a:endParaRPr lang="zh-CN" altLang="en-US" sz="1950" kern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47" y="446914"/>
            <a:ext cx="2425216" cy="35785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588947"/>
            <a:ext cx="12192000" cy="2831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921393" y="6601967"/>
            <a:ext cx="645182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http://www.coremail.cn/             </a:t>
            </a:r>
            <a:endParaRPr lang="zh-CN" altLang="en-US" sz="1100" dirty="0">
              <a:solidFill>
                <a:schemeClr val="bg1"/>
              </a:solidFill>
            </a:endParaRPr>
          </a:p>
        </p:txBody>
      </p:sp>
      <p:pic>
        <p:nvPicPr>
          <p:cNvPr id="3" name="图片 2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707" y="524160"/>
            <a:ext cx="1707633" cy="37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588947"/>
            <a:ext cx="12192000" cy="2831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707" y="524160"/>
            <a:ext cx="1707633" cy="37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588955"/>
            <a:ext cx="12192000" cy="2831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 userDrawn="1"/>
        </p:nvSpPr>
        <p:spPr>
          <a:xfrm>
            <a:off x="2921393" y="6601975"/>
            <a:ext cx="6451824" cy="260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00" smtClean="0">
                <a:solidFill>
                  <a:schemeClr val="bg1"/>
                </a:solidFill>
              </a:rPr>
              <a:t>官网：http://www.coremail.cn/             购买咨询：400-000-1631</a:t>
            </a:r>
            <a:endParaRPr lang="zh-CN" altLang="en-US" sz="1100" smtClean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21570" y="577850"/>
            <a:ext cx="1458595" cy="31686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8" Type="http://schemas.openxmlformats.org/officeDocument/2006/relationships/theme" Target="../theme/theme2.xml"/><Relationship Id="rId17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2.xml"/><Relationship Id="rId4" Type="http://schemas.openxmlformats.org/officeDocument/2006/relationships/image" Target="../media/image3.png"/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chart" Target="../charts/chart7.xml"/><Relationship Id="rId1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9.svg"/><Relationship Id="rId16" Type="http://schemas.openxmlformats.org/officeDocument/2006/relationships/image" Target="../media/image8.png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image" Target="../media/image7.svg"/><Relationship Id="rId11" Type="http://schemas.openxmlformats.org/officeDocument/2006/relationships/image" Target="../media/image6.png"/><Relationship Id="rId10" Type="http://schemas.openxmlformats.org/officeDocument/2006/relationships/tags" Target="../tags/tag14.xml"/><Relationship Id="rId1" Type="http://schemas.openxmlformats.org/officeDocument/2006/relationships/chart" Target="../charts/chart1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8.xml"/><Relationship Id="rId2" Type="http://schemas.openxmlformats.org/officeDocument/2006/relationships/chart" Target="../charts/chart13.xml"/><Relationship Id="rId1" Type="http://schemas.openxmlformats.org/officeDocument/2006/relationships/chart" Target="../charts/chart1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3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chart" Target="../charts/chart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chart" Target="../charts/chart18.xml"/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chart" Target="../charts/chart1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3.xml"/><Relationship Id="rId2" Type="http://schemas.openxmlformats.org/officeDocument/2006/relationships/chart" Target="../charts/chart20.xml"/><Relationship Id="rId1" Type="http://schemas.openxmlformats.org/officeDocument/2006/relationships/chart" Target="../charts/chart1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44.xml"/><Relationship Id="rId13" Type="http://schemas.openxmlformats.org/officeDocument/2006/relationships/image" Target="../media/image12.png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47.xml"/><Relationship Id="rId5" Type="http://schemas.openxmlformats.org/officeDocument/2006/relationships/image" Target="../media/image13.wmf"/><Relationship Id="rId4" Type="http://schemas.openxmlformats.org/officeDocument/2006/relationships/package" Target="../embeddings/Workbook4.xlsx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chart" Target="../charts/chart2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49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tags" Target="../tags/tag6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tags" Target="../tags/tag83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8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9.xml"/><Relationship Id="rId2" Type="http://schemas.openxmlformats.org/officeDocument/2006/relationships/chart" Target="../charts/chart23.xml"/><Relationship Id="rId1" Type="http://schemas.openxmlformats.org/officeDocument/2006/relationships/chart" Target="../charts/chart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100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6" Type="http://schemas.openxmlformats.org/officeDocument/2006/relationships/notesSlide" Target="../notesSlides/notesSlide18.xml"/><Relationship Id="rId25" Type="http://schemas.openxmlformats.org/officeDocument/2006/relationships/slideLayout" Target="../slideLayouts/slideLayout30.xml"/><Relationship Id="rId24" Type="http://schemas.openxmlformats.org/officeDocument/2006/relationships/image" Target="../media/image28.png"/><Relationship Id="rId23" Type="http://schemas.openxmlformats.org/officeDocument/2006/relationships/image" Target="../media/image27.png"/><Relationship Id="rId22" Type="http://schemas.openxmlformats.org/officeDocument/2006/relationships/image" Target="../media/image26.png"/><Relationship Id="rId21" Type="http://schemas.openxmlformats.org/officeDocument/2006/relationships/image" Target="../media/image25.png"/><Relationship Id="rId20" Type="http://schemas.openxmlformats.org/officeDocument/2006/relationships/image" Target="../media/image24.png"/><Relationship Id="rId2" Type="http://schemas.openxmlformats.org/officeDocument/2006/relationships/tags" Target="../tags/tag102.xml"/><Relationship Id="rId19" Type="http://schemas.openxmlformats.org/officeDocument/2006/relationships/image" Target="../media/image23.png"/><Relationship Id="rId18" Type="http://schemas.openxmlformats.org/officeDocument/2006/relationships/tags" Target="../tags/tag118.xml"/><Relationship Id="rId17" Type="http://schemas.openxmlformats.org/officeDocument/2006/relationships/tags" Target="../tags/tag117.xml"/><Relationship Id="rId16" Type="http://schemas.openxmlformats.org/officeDocument/2006/relationships/tags" Target="../tags/tag116.xml"/><Relationship Id="rId15" Type="http://schemas.openxmlformats.org/officeDocument/2006/relationships/tags" Target="../tags/tag115.xml"/><Relationship Id="rId14" Type="http://schemas.openxmlformats.org/officeDocument/2006/relationships/tags" Target="../tags/tag114.xml"/><Relationship Id="rId13" Type="http://schemas.openxmlformats.org/officeDocument/2006/relationships/tags" Target="../tags/tag113.xml"/><Relationship Id="rId12" Type="http://schemas.openxmlformats.org/officeDocument/2006/relationships/tags" Target="../tags/tag112.xml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tags" Target="../tags/tag10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4" Type="http://schemas.openxmlformats.org/officeDocument/2006/relationships/notesSlide" Target="../notesSlides/notesSlide19.xml"/><Relationship Id="rId13" Type="http://schemas.openxmlformats.org/officeDocument/2006/relationships/slideLayout" Target="../slideLayouts/slideLayout30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tags" Target="../tags/tag119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4" Type="http://schemas.openxmlformats.org/officeDocument/2006/relationships/slideLayout" Target="../slideLayouts/slideLayout26.xml"/><Relationship Id="rId23" Type="http://schemas.openxmlformats.org/officeDocument/2006/relationships/themeOverride" Target="../theme/themeOverride11.xml"/><Relationship Id="rId22" Type="http://schemas.openxmlformats.org/officeDocument/2006/relationships/tags" Target="../tags/tag142.xml"/><Relationship Id="rId21" Type="http://schemas.openxmlformats.org/officeDocument/2006/relationships/tags" Target="../tags/tag141.xml"/><Relationship Id="rId20" Type="http://schemas.openxmlformats.org/officeDocument/2006/relationships/tags" Target="../tags/tag140.xml"/><Relationship Id="rId2" Type="http://schemas.openxmlformats.org/officeDocument/2006/relationships/tags" Target="../tags/tag132.xml"/><Relationship Id="rId19" Type="http://schemas.openxmlformats.org/officeDocument/2006/relationships/image" Target="../media/image38.svg"/><Relationship Id="rId18" Type="http://schemas.openxmlformats.org/officeDocument/2006/relationships/image" Target="../media/image37.png"/><Relationship Id="rId17" Type="http://schemas.openxmlformats.org/officeDocument/2006/relationships/image" Target="../media/image36.svg"/><Relationship Id="rId16" Type="http://schemas.openxmlformats.org/officeDocument/2006/relationships/image" Target="../media/image35.png"/><Relationship Id="rId15" Type="http://schemas.openxmlformats.org/officeDocument/2006/relationships/tags" Target="../tags/tag139.xml"/><Relationship Id="rId14" Type="http://schemas.openxmlformats.org/officeDocument/2006/relationships/image" Target="../media/image34.svg"/><Relationship Id="rId13" Type="http://schemas.openxmlformats.org/officeDocument/2006/relationships/image" Target="../media/image33.png"/><Relationship Id="rId12" Type="http://schemas.openxmlformats.org/officeDocument/2006/relationships/tags" Target="../tags/tag138.xml"/><Relationship Id="rId11" Type="http://schemas.openxmlformats.org/officeDocument/2006/relationships/image" Target="../media/image32.svg"/><Relationship Id="rId10" Type="http://schemas.openxmlformats.org/officeDocument/2006/relationships/image" Target="../media/image31.png"/><Relationship Id="rId1" Type="http://schemas.openxmlformats.org/officeDocument/2006/relationships/tags" Target="../tags/tag1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43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tags" Target="../tags/tag144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tags" Target="../tags/tag145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tags" Target="../tags/tag146.xml"/><Relationship Id="rId1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tags" Target="../tags/tag147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48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4" Type="http://schemas.openxmlformats.org/officeDocument/2006/relationships/slideLayout" Target="../slideLayouts/slideLayout31.xml"/><Relationship Id="rId13" Type="http://schemas.openxmlformats.org/officeDocument/2006/relationships/tags" Target="../tags/tag161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tags" Target="../tags/tag149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7" Type="http://schemas.openxmlformats.org/officeDocument/2006/relationships/slideLayout" Target="../slideLayouts/slideLayout31.xml"/><Relationship Id="rId36" Type="http://schemas.openxmlformats.org/officeDocument/2006/relationships/tags" Target="../tags/tag196.xml"/><Relationship Id="rId35" Type="http://schemas.openxmlformats.org/officeDocument/2006/relationships/tags" Target="../tags/tag195.xml"/><Relationship Id="rId34" Type="http://schemas.openxmlformats.org/officeDocument/2006/relationships/tags" Target="../tags/tag194.xml"/><Relationship Id="rId33" Type="http://schemas.openxmlformats.org/officeDocument/2006/relationships/tags" Target="../tags/tag193.xml"/><Relationship Id="rId32" Type="http://schemas.openxmlformats.org/officeDocument/2006/relationships/tags" Target="../tags/tag192.xml"/><Relationship Id="rId31" Type="http://schemas.openxmlformats.org/officeDocument/2006/relationships/tags" Target="../tags/tag191.xml"/><Relationship Id="rId30" Type="http://schemas.openxmlformats.org/officeDocument/2006/relationships/tags" Target="../tags/tag190.xml"/><Relationship Id="rId3" Type="http://schemas.openxmlformats.org/officeDocument/2006/relationships/tags" Target="../tags/tag164.xml"/><Relationship Id="rId29" Type="http://schemas.openxmlformats.org/officeDocument/2006/relationships/tags" Target="../tags/tag189.xml"/><Relationship Id="rId28" Type="http://schemas.openxmlformats.org/officeDocument/2006/relationships/tags" Target="../tags/tag188.xml"/><Relationship Id="rId27" Type="http://schemas.openxmlformats.org/officeDocument/2006/relationships/image" Target="../media/image46.png"/><Relationship Id="rId26" Type="http://schemas.openxmlformats.org/officeDocument/2006/relationships/tags" Target="../tags/tag187.xml"/><Relationship Id="rId25" Type="http://schemas.openxmlformats.org/officeDocument/2006/relationships/tags" Target="../tags/tag186.xml"/><Relationship Id="rId24" Type="http://schemas.openxmlformats.org/officeDocument/2006/relationships/tags" Target="../tags/tag185.xml"/><Relationship Id="rId23" Type="http://schemas.openxmlformats.org/officeDocument/2006/relationships/tags" Target="../tags/tag184.xml"/><Relationship Id="rId22" Type="http://schemas.openxmlformats.org/officeDocument/2006/relationships/tags" Target="../tags/tag183.xml"/><Relationship Id="rId21" Type="http://schemas.openxmlformats.org/officeDocument/2006/relationships/tags" Target="../tags/tag182.xml"/><Relationship Id="rId20" Type="http://schemas.openxmlformats.org/officeDocument/2006/relationships/tags" Target="../tags/tag181.xml"/><Relationship Id="rId2" Type="http://schemas.openxmlformats.org/officeDocument/2006/relationships/tags" Target="../tags/tag163.xml"/><Relationship Id="rId19" Type="http://schemas.openxmlformats.org/officeDocument/2006/relationships/tags" Target="../tags/tag180.xml"/><Relationship Id="rId18" Type="http://schemas.openxmlformats.org/officeDocument/2006/relationships/tags" Target="../tags/tag179.xml"/><Relationship Id="rId17" Type="http://schemas.openxmlformats.org/officeDocument/2006/relationships/tags" Target="../tags/tag178.xml"/><Relationship Id="rId16" Type="http://schemas.openxmlformats.org/officeDocument/2006/relationships/tags" Target="../tags/tag177.xml"/><Relationship Id="rId15" Type="http://schemas.openxmlformats.org/officeDocument/2006/relationships/tags" Target="../tags/tag176.xml"/><Relationship Id="rId14" Type="http://schemas.openxmlformats.org/officeDocument/2006/relationships/tags" Target="../tags/tag175.xml"/><Relationship Id="rId13" Type="http://schemas.openxmlformats.org/officeDocument/2006/relationships/tags" Target="../tags/tag174.xml"/><Relationship Id="rId12" Type="http://schemas.openxmlformats.org/officeDocument/2006/relationships/tags" Target="../tags/tag173.xml"/><Relationship Id="rId11" Type="http://schemas.openxmlformats.org/officeDocument/2006/relationships/tags" Target="../tags/tag172.xml"/><Relationship Id="rId10" Type="http://schemas.openxmlformats.org/officeDocument/2006/relationships/tags" Target="../tags/tag171.xml"/><Relationship Id="rId1" Type="http://schemas.openxmlformats.org/officeDocument/2006/relationships/tags" Target="../tags/tag162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3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85670" y="2637790"/>
            <a:ext cx="915924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4</a:t>
            </a:r>
            <a:r>
              <a:rPr lang="zh-CN" altLang="en-US" sz="6000" b="1" dirty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月总结 </a:t>
            </a:r>
            <a:r>
              <a:rPr lang="en-US" altLang="zh-CN" sz="6000" b="1" dirty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AND 5</a:t>
            </a:r>
            <a:r>
              <a:rPr lang="zh-CN" altLang="en-US" sz="6000" b="1" dirty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月计划</a:t>
            </a:r>
            <a:endParaRPr lang="zh-CN" altLang="en-US" sz="6000" b="1" dirty="0" smtClean="0">
              <a:solidFill>
                <a:srgbClr val="595E6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535842" y="4299582"/>
            <a:ext cx="987425" cy="755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dirty="0">
                <a:solidFill>
                  <a:srgbClr val="606060"/>
                </a:solidFill>
                <a:latin typeface="等线" panose="02010600030101010101" charset="-122"/>
                <a:ea typeface="等线" panose="02010600030101010101" charset="-122"/>
              </a:rPr>
              <a:t>Marvin</a:t>
            </a:r>
            <a:endParaRPr lang="en-US" altLang="zh-CN" b="1" dirty="0">
              <a:solidFill>
                <a:srgbClr val="60606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b="1" dirty="0">
                <a:solidFill>
                  <a:srgbClr val="606060"/>
                </a:solidFill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b="1" dirty="0" smtClean="0">
                <a:solidFill>
                  <a:srgbClr val="606060"/>
                </a:solidFill>
                <a:latin typeface="等线" panose="02010600030101010101" charset="-122"/>
                <a:ea typeface="等线" panose="02010600030101010101" charset="-122"/>
              </a:rPr>
              <a:t>2025.5</a:t>
            </a:r>
            <a:endParaRPr lang="en-US" altLang="zh-CN" b="1" dirty="0">
              <a:solidFill>
                <a:srgbClr val="60606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9" name="矩形 8"/>
          <p:cNvSpPr/>
          <p:nvPr/>
        </p:nvSpPr>
        <p:spPr>
          <a:xfrm>
            <a:off x="0" y="6588125"/>
            <a:ext cx="12192000" cy="284163"/>
          </a:xfrm>
          <a:prstGeom prst="rect">
            <a:avLst/>
          </a:prstGeom>
          <a:solidFill>
            <a:srgbClr val="2E75B5"/>
          </a:solidFill>
          <a:ln w="9525">
            <a:noFill/>
          </a:ln>
        </p:spPr>
        <p:txBody>
          <a:bodyPr anchor="ctr"/>
          <a:p>
            <a:pPr algn="ctr" eaLnBrk="0" hangingPunct="0"/>
            <a:endParaRPr lang="zh-CN" altLang="zh-CN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700" name="矩形 9"/>
          <p:cNvSpPr/>
          <p:nvPr/>
        </p:nvSpPr>
        <p:spPr>
          <a:xfrm>
            <a:off x="2921000" y="6602413"/>
            <a:ext cx="6451600" cy="2587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 eaLnBrk="0" hangingPunct="0"/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官网：</a:t>
            </a: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http://www.coremail.cn/             </a:t>
            </a: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购买咨询：</a:t>
            </a: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400-000-1631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701" name="文本框 1"/>
          <p:cNvSpPr txBox="1"/>
          <p:nvPr/>
        </p:nvSpPr>
        <p:spPr>
          <a:xfrm>
            <a:off x="246063" y="250825"/>
            <a:ext cx="8558212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微软雅黑" panose="020B0503020204020204" pitchFamily="34" charset="-122"/>
              </a:rPr>
              <a:t>一、人员盘点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14175" y="4710000"/>
            <a:ext cx="1397061" cy="17326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830918" y="4710000"/>
            <a:ext cx="3425250" cy="17323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495062" y="1633636"/>
            <a:ext cx="2221865" cy="45311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服务体系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VP 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吴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秀诚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矩形 18"/>
          <p:cNvSpPr/>
          <p:nvPr/>
        </p:nvSpPr>
        <p:spPr>
          <a:xfrm>
            <a:off x="2524263" y="2046108"/>
            <a:ext cx="1760362" cy="53330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6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技术专家</a:t>
            </a:r>
            <a:r>
              <a:rPr lang="en-US" altLang="zh-CN" sz="1600" b="1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 </a:t>
            </a:r>
            <a:r>
              <a:rPr lang="zh-CN" altLang="en-US" sz="1600" b="1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易志荣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9" name="矩形 26"/>
          <p:cNvSpPr/>
          <p:nvPr/>
        </p:nvSpPr>
        <p:spPr>
          <a:xfrm>
            <a:off x="10490576" y="2810420"/>
            <a:ext cx="1326456" cy="576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战略合作部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周雅楠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26"/>
          <p:cNvSpPr/>
          <p:nvPr/>
        </p:nvSpPr>
        <p:spPr>
          <a:xfrm>
            <a:off x="8967798" y="2810420"/>
            <a:ext cx="1339582" cy="576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服务管理部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王梓晴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>
            <a:endCxn id="8" idx="3"/>
          </p:cNvCxnSpPr>
          <p:nvPr/>
        </p:nvCxnSpPr>
        <p:spPr>
          <a:xfrm flipH="1" flipV="1">
            <a:off x="4284625" y="2312762"/>
            <a:ext cx="1319619" cy="132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2" name="矩形 26"/>
          <p:cNvSpPr/>
          <p:nvPr/>
        </p:nvSpPr>
        <p:spPr>
          <a:xfrm>
            <a:off x="4790606" y="2810420"/>
            <a:ext cx="1627278" cy="576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技术交付中心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王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峰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程云骏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13" name="连接符: 肘形 113"/>
          <p:cNvCxnSpPr>
            <a:stCxn id="12" idx="2"/>
            <a:endCxn id="33" idx="0"/>
          </p:cNvCxnSpPr>
          <p:nvPr/>
        </p:nvCxnSpPr>
        <p:spPr>
          <a:xfrm rot="16200000" flipH="1">
            <a:off x="5620342" y="3370322"/>
            <a:ext cx="642984" cy="675179"/>
          </a:xfrm>
          <a:prstGeom prst="bentConnector3">
            <a:avLst>
              <a:gd name="adj1" fmla="val 80836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4" name="连接符: 肘形 154"/>
          <p:cNvCxnSpPr>
            <a:stCxn id="12" idx="2"/>
            <a:endCxn id="34" idx="0"/>
          </p:cNvCxnSpPr>
          <p:nvPr/>
        </p:nvCxnSpPr>
        <p:spPr>
          <a:xfrm rot="16200000" flipH="1">
            <a:off x="6569504" y="2421161"/>
            <a:ext cx="642985" cy="2573502"/>
          </a:xfrm>
          <a:prstGeom prst="bentConnector3">
            <a:avLst>
              <a:gd name="adj1" fmla="val 80835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5" name="连接符: 肘形 158"/>
          <p:cNvCxnSpPr>
            <a:stCxn id="12" idx="2"/>
            <a:endCxn id="32" idx="0"/>
          </p:cNvCxnSpPr>
          <p:nvPr/>
        </p:nvCxnSpPr>
        <p:spPr>
          <a:xfrm rot="5400000">
            <a:off x="4793107" y="3218266"/>
            <a:ext cx="642984" cy="979293"/>
          </a:xfrm>
          <a:prstGeom prst="bentConnector3">
            <a:avLst>
              <a:gd name="adj1" fmla="val 80836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6" name="矩形 26"/>
          <p:cNvSpPr/>
          <p:nvPr/>
        </p:nvSpPr>
        <p:spPr>
          <a:xfrm>
            <a:off x="118955" y="2810420"/>
            <a:ext cx="2155860" cy="576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技术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支持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部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易志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荣（兼）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黄俊杰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矩形 18"/>
          <p:cNvSpPr/>
          <p:nvPr/>
        </p:nvSpPr>
        <p:spPr>
          <a:xfrm>
            <a:off x="809762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zh-CN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TS </a:t>
            </a: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一部  王熙涵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18" name="矩形 18"/>
          <p:cNvSpPr/>
          <p:nvPr/>
        </p:nvSpPr>
        <p:spPr>
          <a:xfrm>
            <a:off x="1239495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TS </a:t>
            </a: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二部  黄俊杰兼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cxnSp>
        <p:nvCxnSpPr>
          <p:cNvPr id="19" name="连接符: 肘形 172"/>
          <p:cNvCxnSpPr>
            <a:stCxn id="16" idx="2"/>
            <a:endCxn id="17" idx="0"/>
          </p:cNvCxnSpPr>
          <p:nvPr/>
        </p:nvCxnSpPr>
        <p:spPr>
          <a:xfrm rot="5400000">
            <a:off x="346475" y="4011708"/>
            <a:ext cx="1475699" cy="225123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连接符: 肘形 179"/>
          <p:cNvCxnSpPr>
            <a:stCxn id="16" idx="2"/>
            <a:endCxn id="18" idx="0"/>
          </p:cNvCxnSpPr>
          <p:nvPr/>
        </p:nvCxnSpPr>
        <p:spPr>
          <a:xfrm rot="16200000" flipH="1">
            <a:off x="561341" y="4021964"/>
            <a:ext cx="1475699" cy="204610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1" name="矩形 3"/>
          <p:cNvSpPr/>
          <p:nvPr/>
        </p:nvSpPr>
        <p:spPr>
          <a:xfrm>
            <a:off x="4706834" y="960115"/>
            <a:ext cx="1794822" cy="55063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600" b="1" dirty="0" err="1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Coremail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陈磊华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3" name="直接连接符 42"/>
          <p:cNvCxnSpPr>
            <a:stCxn id="21" idx="2"/>
            <a:endCxn id="4" idx="0"/>
          </p:cNvCxnSpPr>
          <p:nvPr/>
        </p:nvCxnSpPr>
        <p:spPr>
          <a:xfrm>
            <a:off x="5604245" y="1510748"/>
            <a:ext cx="1750" cy="122888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2" name="连接符: 肘形 57"/>
          <p:cNvCxnSpPr>
            <a:stCxn id="4" idx="2"/>
            <a:endCxn id="9" idx="0"/>
          </p:cNvCxnSpPr>
          <p:nvPr/>
        </p:nvCxnSpPr>
        <p:spPr>
          <a:xfrm rot="16200000" flipH="1">
            <a:off x="8018065" y="-325320"/>
            <a:ext cx="723669" cy="5547809"/>
          </a:xfrm>
          <a:prstGeom prst="bentConnector3">
            <a:avLst>
              <a:gd name="adj1" fmla="val 80366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2" name="连接符: 肘形 57"/>
          <p:cNvCxnSpPr>
            <a:stCxn id="4" idx="2"/>
            <a:endCxn id="16" idx="0"/>
          </p:cNvCxnSpPr>
          <p:nvPr/>
        </p:nvCxnSpPr>
        <p:spPr>
          <a:xfrm rot="5400000">
            <a:off x="3039606" y="244030"/>
            <a:ext cx="723669" cy="4409110"/>
          </a:xfrm>
          <a:prstGeom prst="bentConnector3">
            <a:avLst>
              <a:gd name="adj1" fmla="val 80364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3" name="连接符: 肘形 57"/>
          <p:cNvCxnSpPr>
            <a:stCxn id="4" idx="2"/>
            <a:endCxn id="12" idx="0"/>
          </p:cNvCxnSpPr>
          <p:nvPr/>
        </p:nvCxnSpPr>
        <p:spPr>
          <a:xfrm rot="5400000">
            <a:off x="5243286" y="2447710"/>
            <a:ext cx="723669" cy="1750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4" name="连接符: 肘形 57"/>
          <p:cNvCxnSpPr>
            <a:stCxn id="4" idx="2"/>
            <a:endCxn id="10" idx="0"/>
          </p:cNvCxnSpPr>
          <p:nvPr/>
        </p:nvCxnSpPr>
        <p:spPr>
          <a:xfrm rot="16200000" flipH="1">
            <a:off x="7259958" y="432788"/>
            <a:ext cx="723669" cy="4031594"/>
          </a:xfrm>
          <a:prstGeom prst="bentConnector3">
            <a:avLst>
              <a:gd name="adj1" fmla="val 80365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5" name="矩形 26"/>
          <p:cNvSpPr/>
          <p:nvPr/>
        </p:nvSpPr>
        <p:spPr>
          <a:xfrm>
            <a:off x="2338966" y="2810420"/>
            <a:ext cx="1203468" cy="576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售后服务部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张晓航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6" name="矩形 18"/>
          <p:cNvSpPr/>
          <p:nvPr/>
        </p:nvSpPr>
        <p:spPr>
          <a:xfrm>
            <a:off x="2352664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客户服务一部  王荣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27" name="矩形 18"/>
          <p:cNvSpPr/>
          <p:nvPr/>
        </p:nvSpPr>
        <p:spPr>
          <a:xfrm>
            <a:off x="2781504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客户服务二部  于婷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cxnSp>
        <p:nvCxnSpPr>
          <p:cNvPr id="28" name="连接符: 肘形 172"/>
          <p:cNvCxnSpPr>
            <a:stCxn id="25" idx="2"/>
            <a:endCxn id="26" idx="0"/>
          </p:cNvCxnSpPr>
          <p:nvPr/>
        </p:nvCxnSpPr>
        <p:spPr>
          <a:xfrm rot="5400000">
            <a:off x="1989833" y="3911251"/>
            <a:ext cx="1475699" cy="426036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62" name="连接符: 肘形 179"/>
          <p:cNvCxnSpPr/>
          <p:nvPr/>
        </p:nvCxnSpPr>
        <p:spPr>
          <a:xfrm rot="5400000">
            <a:off x="2207878" y="4122208"/>
            <a:ext cx="1475698" cy="4122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9" name="矩形 18"/>
          <p:cNvSpPr/>
          <p:nvPr/>
        </p:nvSpPr>
        <p:spPr>
          <a:xfrm>
            <a:off x="3236938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大客户服务部 巩元元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cxnSp>
        <p:nvCxnSpPr>
          <p:cNvPr id="30" name="连接符: 肘形 179"/>
          <p:cNvCxnSpPr>
            <a:stCxn id="25" idx="2"/>
            <a:endCxn id="29" idx="0"/>
          </p:cNvCxnSpPr>
          <p:nvPr/>
        </p:nvCxnSpPr>
        <p:spPr>
          <a:xfrm rot="16200000" flipH="1">
            <a:off x="2431970" y="3895150"/>
            <a:ext cx="1475699" cy="458238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31" name="连接符: 肘形 57"/>
          <p:cNvCxnSpPr>
            <a:stCxn id="4" idx="2"/>
            <a:endCxn id="25" idx="0"/>
          </p:cNvCxnSpPr>
          <p:nvPr/>
        </p:nvCxnSpPr>
        <p:spPr>
          <a:xfrm rot="5400000">
            <a:off x="3911514" y="1115938"/>
            <a:ext cx="723669" cy="2665295"/>
          </a:xfrm>
          <a:prstGeom prst="bentConnector3">
            <a:avLst>
              <a:gd name="adj1" fmla="val 80365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32" name="矩形 26"/>
          <p:cNvSpPr/>
          <p:nvPr/>
        </p:nvSpPr>
        <p:spPr>
          <a:xfrm>
            <a:off x="3894159" y="4029404"/>
            <a:ext cx="1461585" cy="50694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本地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服务中心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王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峰（兼）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" name="矩形 26"/>
          <p:cNvSpPr/>
          <p:nvPr/>
        </p:nvSpPr>
        <p:spPr>
          <a:xfrm>
            <a:off x="5669911" y="4029404"/>
            <a:ext cx="1219026" cy="50694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总部资源组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陈珮妍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4" name="矩形 26"/>
          <p:cNvSpPr/>
          <p:nvPr/>
        </p:nvSpPr>
        <p:spPr>
          <a:xfrm>
            <a:off x="7426246" y="4029405"/>
            <a:ext cx="1503001" cy="50694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驻场服务部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程云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骏（兼）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5" name="矩形 18"/>
          <p:cNvSpPr/>
          <p:nvPr/>
        </p:nvSpPr>
        <p:spPr>
          <a:xfrm>
            <a:off x="3890711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华北一区    宫玉莹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36" name="矩形 18"/>
          <p:cNvSpPr/>
          <p:nvPr/>
        </p:nvSpPr>
        <p:spPr>
          <a:xfrm>
            <a:off x="4306710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华北二区    姚卓毅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37" name="矩形 18"/>
          <p:cNvSpPr/>
          <p:nvPr/>
        </p:nvSpPr>
        <p:spPr>
          <a:xfrm>
            <a:off x="4722709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华北三区     胡东川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38" name="矩形 18"/>
          <p:cNvSpPr/>
          <p:nvPr/>
        </p:nvSpPr>
        <p:spPr>
          <a:xfrm>
            <a:off x="5138708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中西一区     邢志琨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40" name="矩形 18"/>
          <p:cNvSpPr/>
          <p:nvPr/>
        </p:nvSpPr>
        <p:spPr>
          <a:xfrm>
            <a:off x="6802704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华南</a:t>
            </a: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一区     </a:t>
            </a:r>
            <a:r>
              <a:rPr lang="zh-CN" altLang="en-US" sz="1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何国雄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41" name="矩形 18"/>
          <p:cNvSpPr/>
          <p:nvPr/>
        </p:nvSpPr>
        <p:spPr>
          <a:xfrm>
            <a:off x="5554707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中西二区     冉   婷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42" name="矩形 18"/>
          <p:cNvSpPr/>
          <p:nvPr/>
        </p:nvSpPr>
        <p:spPr>
          <a:xfrm>
            <a:off x="5970706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  华东一区  </a:t>
            </a:r>
            <a:r>
              <a:rPr lang="zh-CN" altLang="en-US" sz="11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朱</a:t>
            </a:r>
            <a:r>
              <a:rPr lang="zh-CN" altLang="en-US" sz="11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成龙</a:t>
            </a:r>
            <a:r>
              <a:rPr lang="en-US" altLang="zh-CN" sz="11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(</a:t>
            </a:r>
            <a:r>
              <a:rPr lang="zh-CN" altLang="en-US" sz="11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代</a:t>
            </a:r>
            <a:r>
              <a:rPr lang="en-US" altLang="zh-CN" sz="11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)</a:t>
            </a:r>
            <a:r>
              <a:rPr lang="zh-CN" altLang="en-US" sz="11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    </a:t>
            </a:r>
            <a:endParaRPr lang="en-US" altLang="zh-CN" sz="11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44" name="矩形 18"/>
          <p:cNvSpPr/>
          <p:nvPr/>
        </p:nvSpPr>
        <p:spPr>
          <a:xfrm>
            <a:off x="6386705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华东二区    常坤鹏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cxnSp>
        <p:nvCxnSpPr>
          <p:cNvPr id="45" name="连接符: 肘形 179"/>
          <p:cNvCxnSpPr>
            <a:stCxn id="32" idx="2"/>
            <a:endCxn id="37" idx="0"/>
          </p:cNvCxnSpPr>
          <p:nvPr/>
        </p:nvCxnSpPr>
        <p:spPr>
          <a:xfrm rot="16200000" flipH="1">
            <a:off x="4591944" y="4569353"/>
            <a:ext cx="325773" cy="259757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46" name="连接符: 肘形 179"/>
          <p:cNvCxnSpPr>
            <a:stCxn id="32" idx="2"/>
            <a:endCxn id="35" idx="0"/>
          </p:cNvCxnSpPr>
          <p:nvPr/>
        </p:nvCxnSpPr>
        <p:spPr>
          <a:xfrm rot="5400000">
            <a:off x="4175946" y="4413112"/>
            <a:ext cx="325773" cy="572241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47" name="连接符: 肘形 179"/>
          <p:cNvCxnSpPr>
            <a:stCxn id="32" idx="2"/>
            <a:endCxn id="36" idx="0"/>
          </p:cNvCxnSpPr>
          <p:nvPr/>
        </p:nvCxnSpPr>
        <p:spPr>
          <a:xfrm rot="5400000">
            <a:off x="4383945" y="4621111"/>
            <a:ext cx="325773" cy="156242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48" name="连接符: 肘形 179"/>
          <p:cNvCxnSpPr>
            <a:stCxn id="32" idx="2"/>
            <a:endCxn id="38" idx="0"/>
          </p:cNvCxnSpPr>
          <p:nvPr/>
        </p:nvCxnSpPr>
        <p:spPr>
          <a:xfrm rot="16200000" flipH="1">
            <a:off x="4799944" y="4361354"/>
            <a:ext cx="325773" cy="675756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51" name="连接符: 肘形 179"/>
          <p:cNvCxnSpPr>
            <a:stCxn id="32" idx="2"/>
            <a:endCxn id="41" idx="0"/>
          </p:cNvCxnSpPr>
          <p:nvPr/>
        </p:nvCxnSpPr>
        <p:spPr>
          <a:xfrm rot="16200000" flipH="1">
            <a:off x="5007943" y="4153354"/>
            <a:ext cx="325773" cy="1091755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52" name="连接符: 肘形 179"/>
          <p:cNvCxnSpPr>
            <a:stCxn id="32" idx="2"/>
            <a:endCxn id="42" idx="0"/>
          </p:cNvCxnSpPr>
          <p:nvPr/>
        </p:nvCxnSpPr>
        <p:spPr>
          <a:xfrm rot="16200000" flipH="1">
            <a:off x="5215943" y="3945355"/>
            <a:ext cx="325773" cy="1507754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53" name="连接符: 肘形 179"/>
          <p:cNvCxnSpPr>
            <a:stCxn id="32" idx="2"/>
            <a:endCxn id="44" idx="0"/>
          </p:cNvCxnSpPr>
          <p:nvPr/>
        </p:nvCxnSpPr>
        <p:spPr>
          <a:xfrm rot="16200000" flipH="1">
            <a:off x="5423942" y="3737355"/>
            <a:ext cx="325773" cy="1923753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54" name="连接符: 肘形 179"/>
          <p:cNvCxnSpPr>
            <a:stCxn id="32" idx="2"/>
            <a:endCxn id="40" idx="0"/>
          </p:cNvCxnSpPr>
          <p:nvPr/>
        </p:nvCxnSpPr>
        <p:spPr>
          <a:xfrm rot="16200000" flipH="1">
            <a:off x="5631942" y="3529356"/>
            <a:ext cx="325773" cy="2339752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55" name="矩形 18"/>
          <p:cNvSpPr/>
          <p:nvPr/>
        </p:nvSpPr>
        <p:spPr>
          <a:xfrm>
            <a:off x="7585321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华东区     （驻场）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56" name="矩形 18"/>
          <p:cNvSpPr/>
          <p:nvPr/>
        </p:nvSpPr>
        <p:spPr>
          <a:xfrm>
            <a:off x="8014161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华南区      （驻场）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cxnSp>
        <p:nvCxnSpPr>
          <p:cNvPr id="57" name="连接符: 肘形 172"/>
          <p:cNvCxnSpPr>
            <a:stCxn id="34" idx="2"/>
            <a:endCxn id="55" idx="0"/>
          </p:cNvCxnSpPr>
          <p:nvPr/>
        </p:nvCxnSpPr>
        <p:spPr>
          <a:xfrm rot="5400000">
            <a:off x="7799648" y="4484020"/>
            <a:ext cx="325772" cy="430426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63" name="连接符: 肘形 179"/>
          <p:cNvCxnSpPr>
            <a:stCxn id="34" idx="2"/>
            <a:endCxn id="56" idx="0"/>
          </p:cNvCxnSpPr>
          <p:nvPr/>
        </p:nvCxnSpPr>
        <p:spPr>
          <a:xfrm rot="5400000">
            <a:off x="8014068" y="4698440"/>
            <a:ext cx="325772" cy="1586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64" name="矩形 18"/>
          <p:cNvSpPr/>
          <p:nvPr/>
        </p:nvSpPr>
        <p:spPr>
          <a:xfrm>
            <a:off x="8469595" y="4862119"/>
            <a:ext cx="324000" cy="153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华北区     （驻场）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cxnSp>
        <p:nvCxnSpPr>
          <p:cNvPr id="65" name="连接符: 肘形 179"/>
          <p:cNvCxnSpPr>
            <a:stCxn id="34" idx="2"/>
            <a:endCxn id="64" idx="0"/>
          </p:cNvCxnSpPr>
          <p:nvPr/>
        </p:nvCxnSpPr>
        <p:spPr>
          <a:xfrm rot="16200000" flipH="1">
            <a:off x="8241785" y="4472309"/>
            <a:ext cx="325772" cy="453848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66" name="矩形 18"/>
          <p:cNvSpPr/>
          <p:nvPr/>
        </p:nvSpPr>
        <p:spPr>
          <a:xfrm>
            <a:off x="9242010" y="4762811"/>
            <a:ext cx="339016" cy="162674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服务运营组  王梓晴兼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67" name="矩形 18"/>
          <p:cNvSpPr/>
          <p:nvPr/>
        </p:nvSpPr>
        <p:spPr>
          <a:xfrm>
            <a:off x="9750535" y="4762811"/>
            <a:ext cx="291629" cy="162674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eaVert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服务产品组    彭文浩</a:t>
            </a:r>
            <a:endParaRPr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cxnSp>
        <p:nvCxnSpPr>
          <p:cNvPr id="69" name="连接符: 肘形 172"/>
          <p:cNvCxnSpPr>
            <a:stCxn id="10" idx="2"/>
            <a:endCxn id="66" idx="0"/>
          </p:cNvCxnSpPr>
          <p:nvPr/>
        </p:nvCxnSpPr>
        <p:spPr>
          <a:xfrm rot="5400000">
            <a:off x="8836359" y="3961580"/>
            <a:ext cx="1376391" cy="226071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0" name="连接符: 肘形 179"/>
          <p:cNvCxnSpPr>
            <a:stCxn id="10" idx="2"/>
            <a:endCxn id="67" idx="0"/>
          </p:cNvCxnSpPr>
          <p:nvPr/>
        </p:nvCxnSpPr>
        <p:spPr>
          <a:xfrm rot="16200000" flipH="1">
            <a:off x="9078774" y="3945234"/>
            <a:ext cx="1376391" cy="258761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93" name="矩形 18"/>
          <p:cNvSpPr/>
          <p:nvPr/>
        </p:nvSpPr>
        <p:spPr>
          <a:xfrm>
            <a:off x="6797136" y="3330030"/>
            <a:ext cx="1252465" cy="476426"/>
          </a:xfrm>
          <a:prstGeom prst="rect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3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交付数智中台</a:t>
            </a:r>
            <a:endParaRPr lang="en-US" altLang="zh-CN" sz="1300" kern="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3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白云松</a:t>
            </a: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cxnSp>
        <p:nvCxnSpPr>
          <p:cNvPr id="108" name="直接连接符 107"/>
          <p:cNvCxnSpPr/>
          <p:nvPr/>
        </p:nvCxnSpPr>
        <p:spPr>
          <a:xfrm flipH="1">
            <a:off x="5626995" y="3591778"/>
            <a:ext cx="1165521" cy="6118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77" name="矩形 18"/>
          <p:cNvSpPr/>
          <p:nvPr/>
        </p:nvSpPr>
        <p:spPr>
          <a:xfrm>
            <a:off x="6933374" y="2057228"/>
            <a:ext cx="1760362" cy="53330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1600" b="1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架构师 张文伟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cxnSp>
        <p:nvCxnSpPr>
          <p:cNvPr id="78" name="直接连接符 77"/>
          <p:cNvCxnSpPr/>
          <p:nvPr/>
        </p:nvCxnSpPr>
        <p:spPr>
          <a:xfrm flipH="1" flipV="1">
            <a:off x="5605997" y="2312696"/>
            <a:ext cx="1319619" cy="132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9865" y="264795"/>
            <a:ext cx="81203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微软雅黑" panose="020B0503020204020204" pitchFamily="34" charset="-122"/>
              </a:rPr>
              <a:t>一、人员盘点：在职情况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100" name="直接连接符 6"/>
          <p:cNvSpPr>
            <a:spLocks noChangeShapeType="1"/>
          </p:cNvSpPr>
          <p:nvPr/>
        </p:nvSpPr>
        <p:spPr bwMode="auto">
          <a:xfrm flipH="1">
            <a:off x="0" y="904240"/>
            <a:ext cx="9432925" cy="0"/>
          </a:xfrm>
          <a:prstGeom prst="line">
            <a:avLst/>
          </a:prstGeom>
          <a:noFill/>
          <a:ln w="15875">
            <a:solidFill>
              <a:srgbClr val="2E75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652385" y="1098550"/>
            <a:ext cx="4322445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截止目前，服务体系</a:t>
            </a:r>
            <a:r>
              <a:rPr lang="en-US" altLang="zh-CN" sz="13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3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zh-CN" altLang="en-US" sz="1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在岗人数</a:t>
            </a:r>
            <a:r>
              <a:rPr lang="zh-CN" altLang="en-US" sz="13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3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106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（含驻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人员</a:t>
            </a: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人，不含海外运营部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人）。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月入职：</a:t>
            </a: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sz="13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月调入：</a:t>
            </a: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sz="13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服务体系：张文伟（</a:t>
            </a: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4.20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3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月离职：</a:t>
            </a: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sz="13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技术交付中心</a:t>
            </a: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人：张亚杰（</a:t>
            </a: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4.30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）、张智威（</a:t>
            </a: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4.30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，中投驻场）</a:t>
            </a:r>
            <a:endParaRPr lang="en-US" altLang="zh-CN" sz="13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月入职：</a:t>
            </a: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技术交付中心</a:t>
            </a: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人：陈清华（</a:t>
            </a: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5.6</a:t>
            </a:r>
            <a:r>
              <a:rPr lang="zh-CN" altLang="en-US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，中投驻场）</a:t>
            </a:r>
            <a:endParaRPr lang="en-US" altLang="zh-CN" sz="13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月预计离职：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技术支持部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人：胡凌杰（</a:t>
            </a:r>
            <a:r>
              <a:rPr lang="en-US" altLang="zh-CN" sz="1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5.15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284460" y="6165215"/>
            <a:ext cx="157861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1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截止</a:t>
            </a:r>
            <a:r>
              <a:rPr lang="en-US" altLang="zh-CN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表 6"/>
          <p:cNvGraphicFramePr/>
          <p:nvPr/>
        </p:nvGraphicFramePr>
        <p:xfrm>
          <a:off x="268605" y="1204595"/>
          <a:ext cx="7179945" cy="2586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图表 7"/>
          <p:cNvGraphicFramePr/>
          <p:nvPr/>
        </p:nvGraphicFramePr>
        <p:xfrm>
          <a:off x="268605" y="3944620"/>
          <a:ext cx="7179945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9865" y="264795"/>
            <a:ext cx="8120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微软雅黑" panose="020B0503020204020204" pitchFamily="34" charset="-122"/>
              </a:rPr>
              <a:t>一、人员盘点：在职情况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399395" y="6282055"/>
            <a:ext cx="150939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1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截止</a:t>
            </a:r>
            <a:r>
              <a:rPr lang="en-US" altLang="zh-CN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3074" y="6080120"/>
            <a:ext cx="7362432" cy="53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人数说明：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海外运营部：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人（上表无显示）；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、已发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待入职：陈清华（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5.6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，中投驻场，替补张智威）</a:t>
            </a:r>
            <a:endParaRPr lang="en-US" altLang="zh-CN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91617" y="1107082"/>
          <a:ext cx="11206304" cy="4973038"/>
        </p:xfrm>
        <a:graphic>
          <a:graphicData uri="http://schemas.openxmlformats.org/drawingml/2006/table">
            <a:tbl>
              <a:tblPr/>
              <a:tblGrid>
                <a:gridCol w="746349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437515"/>
                <a:gridCol w="397110"/>
              </a:tblGrid>
              <a:tr h="35113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地区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3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编制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3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在职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已发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offer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待入职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未启动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51158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服务管理部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战略合作部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售后服务部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技术交付中心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驻场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服务管理部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战略合作部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售后服务部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技术交付中心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驻场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服务管理部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战略合作部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售后服务部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技术交付中心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驻场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服务管理部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战略合作部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售后服务部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技术交付中心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驻场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广州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北京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上海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成都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济南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杭州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深圳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厦门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西安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南京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佛山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福州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太原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乌鲁木齐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青岛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香港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河北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雄安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09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  <a:endParaRPr lang="zh-CN" altLang="en-US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1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1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722">
                <a:tc vMerge="1"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108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106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12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届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9865" y="264795"/>
            <a:ext cx="8120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微软雅黑" panose="020B0503020204020204" pitchFamily="34" charset="-122"/>
              </a:rPr>
              <a:t>一、人员盘点：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微软雅黑" panose="020B0503020204020204" pitchFamily="34" charset="-122"/>
              </a:rPr>
              <a:t>奋斗者计划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29190" y="6247130"/>
            <a:ext cx="184658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1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截止</a:t>
            </a:r>
            <a:r>
              <a:rPr lang="en-US" altLang="zh-CN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4712" y="1107797"/>
            <a:ext cx="5012451" cy="4385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1-4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月奋斗者参与人员：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1336" y="5095900"/>
            <a:ext cx="8718945" cy="10618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1-4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月，共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次参与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奋斗者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计划，均为技术支持部人员。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其中，标黄人员为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个月均有参与奋斗者人员。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月无申请奋斗者计划。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43472" y="1682839"/>
          <a:ext cx="9931616" cy="3130168"/>
        </p:xfrm>
        <a:graphic>
          <a:graphicData uri="http://schemas.openxmlformats.org/drawingml/2006/table">
            <a:tbl>
              <a:tblPr/>
              <a:tblGrid>
                <a:gridCol w="841953"/>
                <a:gridCol w="1013781"/>
                <a:gridCol w="1271522"/>
                <a:gridCol w="1282518"/>
                <a:gridCol w="1247554"/>
                <a:gridCol w="1212111"/>
                <a:gridCol w="2134310"/>
                <a:gridCol w="927867"/>
              </a:tblGrid>
              <a:tr h="43676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  <a:endParaRPr lang="zh-CN" altLang="en-US" sz="13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一级部门</a:t>
                      </a:r>
                      <a:endParaRPr lang="zh-CN" altLang="en-US" sz="13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二级部门</a:t>
                      </a:r>
                      <a:endParaRPr lang="zh-CN" altLang="en-US" sz="13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三级部门</a:t>
                      </a:r>
                      <a:endParaRPr lang="zh-CN" altLang="en-US" sz="13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申请月份</a:t>
                      </a:r>
                      <a:endParaRPr lang="zh-CN" altLang="en-US" sz="13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申请理由</a:t>
                      </a:r>
                      <a:endParaRPr lang="zh-CN" altLang="en-US" sz="13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endParaRPr lang="zh-CN" altLang="en-US" sz="13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AFDD"/>
                    </a:solidFill>
                  </a:tcPr>
                </a:tc>
              </a:tr>
              <a:tr h="448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梁青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服务体系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技术支持部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TS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一部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增加资源处理非工作时间任务并持续清单，保障售后工作质量。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995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陈楠佳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服务体系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技术支持部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TS</a:t>
                      </a: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一部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995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梁青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服务体系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技术支持部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TS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一部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995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梁振源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服务体系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技术支持部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TS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一部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995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林俊凯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服务体系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技术支持部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TS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一部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995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梁振源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服务体系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技术支持部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TS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一部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文本框 163"/>
          <p:cNvSpPr txBox="1"/>
          <p:nvPr/>
        </p:nvSpPr>
        <p:spPr>
          <a:xfrm>
            <a:off x="130175" y="247650"/>
            <a:ext cx="104571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战略指标：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每万元服务成本同比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25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年上升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估算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17860" y="349250"/>
            <a:ext cx="1149350" cy="248920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-146" y="1969203"/>
            <a:ext cx="11618741" cy="4794392"/>
            <a:chOff x="1715" y="1232"/>
            <a:chExt cx="19407" cy="9370"/>
          </a:xfrm>
        </p:grpSpPr>
        <p:sp>
          <p:nvSpPr>
            <p:cNvPr id="6" name="文本框 5"/>
            <p:cNvSpPr txBox="1"/>
            <p:nvPr/>
          </p:nvSpPr>
          <p:spPr>
            <a:xfrm>
              <a:off x="2253" y="2224"/>
              <a:ext cx="9344" cy="12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285750" indent="-285750" fontAlgn="auto">
                <a:spcAft>
                  <a:spcPts val="600"/>
                </a:spcAft>
                <a:buFont typeface="Wingdings" panose="05000000000000000000" charset="0"/>
                <a:buChar char="n"/>
              </a:pPr>
              <a:r>
                <a:rPr lang="en-US" altLang="zh-CN" sz="1000" dirty="0">
                  <a:solidFill>
                    <a:schemeClr val="tx1"/>
                  </a:solidFill>
                  <a:effectLst/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2026</a:t>
              </a:r>
              <a:r>
                <a:rPr lang="zh-CN" altLang="en-US" sz="1000" dirty="0">
                  <a:solidFill>
                    <a:schemeClr val="tx1"/>
                  </a:solidFill>
                  <a:effectLst/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年截止至</a:t>
              </a:r>
              <a:r>
                <a:rPr lang="en-US" altLang="zh-CN" sz="1000" dirty="0">
                  <a:solidFill>
                    <a:schemeClr val="tx1"/>
                  </a:solidFill>
                  <a:effectLst/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4</a:t>
              </a:r>
              <a:r>
                <a:rPr lang="zh-CN" altLang="en-US" sz="1000" dirty="0">
                  <a:solidFill>
                    <a:schemeClr val="tx1"/>
                  </a:solidFill>
                  <a:effectLst/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月，累计回款总共为</a:t>
              </a:r>
              <a:r>
                <a:rPr lang="en-US" altLang="zh-CN" sz="1000" dirty="0">
                  <a:solidFill>
                    <a:schemeClr val="tx1"/>
                  </a:solidFill>
                  <a:effectLst/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4219.1</a:t>
              </a:r>
              <a:r>
                <a:rPr lang="zh-CN" altLang="en-US" sz="1000" dirty="0">
                  <a:solidFill>
                    <a:schemeClr val="tx1"/>
                  </a:solidFill>
                  <a:effectLst/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万元，</a:t>
              </a:r>
              <a:r>
                <a:rPr lang="zh-CN" altLang="en-US" sz="10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回款业绩同比上涨</a:t>
              </a:r>
              <a:r>
                <a:rPr lang="en-US" altLang="zh-CN" sz="10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2.84%</a:t>
              </a:r>
              <a:r>
                <a:rPr lang="en-US" altLang="en-US" sz="10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↑</a:t>
              </a:r>
              <a:endParaRPr lang="en-US" altLang="en-US" sz="1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Light" panose="020B0502040204020203" pitchFamily="34" charset="-122"/>
                <a:ea typeface="Microsoft YaHei Light" panose="020B0502040204020203" pitchFamily="34" charset="-122"/>
                <a:cs typeface="Microsoft YaHei Light" panose="020B0502040204020203" pitchFamily="34" charset="-122"/>
                <a:sym typeface="+mn-ea"/>
              </a:endParaRPr>
            </a:p>
            <a:p>
              <a:pPr marL="285750" indent="-285750" fontAlgn="auto">
                <a:spcAft>
                  <a:spcPts val="600"/>
                </a:spcAft>
                <a:buFont typeface="Wingdings" panose="05000000000000000000" charset="0"/>
                <a:buChar char="n"/>
              </a:pPr>
              <a:r>
                <a:rPr lang="zh-CN" altLang="en-US" sz="1000" dirty="0">
                  <a:solidFill>
                    <a:schemeClr val="tx1"/>
                  </a:solidFill>
                  <a:effectLst/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受业绩同比下降影响，含驻场每万元业绩服务成本同比</a:t>
              </a:r>
              <a:r>
                <a:rPr lang="zh-CN" altLang="en-US" sz="1000" b="1" dirty="0"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上涨</a:t>
              </a:r>
              <a:r>
                <a:rPr lang="en-US" altLang="zh-CN" sz="1000" b="1" dirty="0"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3.96%</a:t>
              </a:r>
              <a:r>
                <a:rPr lang="en-US" altLang="en-US" sz="1000" b="1" dirty="0"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↑</a:t>
              </a:r>
              <a:r>
                <a:rPr lang="zh-CN" altLang="en-US" sz="1000" dirty="0">
                  <a:solidFill>
                    <a:schemeClr val="tx1"/>
                  </a:solidFill>
                  <a:effectLst/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，不含驻场每万元业绩服务成本同比</a:t>
              </a:r>
              <a:r>
                <a:rPr lang="zh-CN" altLang="en-US" sz="1000" b="1" dirty="0"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上升</a:t>
              </a:r>
              <a:r>
                <a:rPr lang="en-US" altLang="zh-CN" sz="1000" b="1" dirty="0"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5.69%</a:t>
              </a:r>
              <a:r>
                <a:rPr lang="en-US" altLang="en-US" sz="1000" b="1" dirty="0"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  <a:sym typeface="+mn-ea"/>
                </a:rPr>
                <a:t>↑</a:t>
              </a:r>
              <a:endParaRPr lang="en-US" altLang="en-US" sz="10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Light" panose="020B0502040204020203" pitchFamily="34" charset="-122"/>
                <a:ea typeface="Microsoft YaHei Light" panose="020B0502040204020203" pitchFamily="34" charset="-122"/>
                <a:cs typeface="Microsoft YaHei Light" panose="020B0502040204020203" pitchFamily="34" charset="-122"/>
                <a:sym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715" y="9393"/>
              <a:ext cx="9838" cy="12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800" b="1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注：此处成本为估算</a:t>
              </a:r>
              <a:endParaRPr lang="zh-CN" altLang="en-US" sz="800" b="1">
                <a:solidFill>
                  <a:srgbClr val="0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Microsoft YaHei Light" panose="020B0502040204020203" pitchFamily="34" charset="-122"/>
              </a:endParaRPr>
            </a:p>
            <a:p>
              <a:pPr lvl="0" algn="l" eaLnBrk="1" hangingPunct="1">
                <a:lnSpc>
                  <a:spcPct val="130000"/>
                </a:lnSpc>
                <a:spcBef>
                  <a:spcPts val="600"/>
                </a:spcBef>
                <a:buFont typeface="Wingdings" panose="05000000000000000000" charset="0"/>
              </a:pPr>
              <a:r>
                <a:rPr lang="zh-CN" altLang="en-US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说明：</a:t>
              </a:r>
              <a:r>
                <a:rPr lang="en-US" altLang="zh-CN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1</a:t>
              </a:r>
              <a:r>
                <a:rPr lang="zh-CN" altLang="en-US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、业绩数据来自国内业务数据，成本来自服务体系成本；</a:t>
              </a:r>
              <a:r>
                <a:rPr lang="en-US" altLang="zh-CN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2</a:t>
              </a:r>
              <a:r>
                <a:rPr lang="zh-CN" altLang="en-US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、成本数据应最新要求，已加上业务发展部（除去首代）的成本；</a:t>
              </a:r>
              <a:r>
                <a:rPr lang="en-US" altLang="zh-CN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3</a:t>
              </a:r>
              <a:r>
                <a:rPr lang="zh-CN" altLang="en-US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、受财务统计影响，无法统计</a:t>
              </a:r>
              <a:r>
                <a:rPr lang="en-US" altLang="zh-CN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1-4</a:t>
              </a:r>
              <a:r>
                <a:rPr lang="zh-CN" altLang="en-US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月实际服务成本，以</a:t>
              </a:r>
              <a:r>
                <a:rPr lang="en-US" altLang="zh-CN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2025</a:t>
              </a:r>
              <a:r>
                <a:rPr lang="zh-CN" altLang="en-US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年同期数据</a:t>
              </a:r>
              <a:r>
                <a:rPr lang="en-US" altLang="zh-CN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*</a:t>
              </a:r>
              <a:r>
                <a:rPr lang="zh-CN" altLang="en-US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（</a:t>
              </a:r>
              <a:r>
                <a:rPr lang="en-US" altLang="zh-CN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1+25</a:t>
              </a:r>
              <a:r>
                <a:rPr lang="zh-CN" altLang="en-US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年</a:t>
              </a:r>
              <a:r>
                <a:rPr lang="zh-CN" altLang="en-US" sz="800">
                  <a:solidFill>
                    <a:srgbClr val="000000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当月服务成本同期增长率）作为参考计算</a:t>
              </a:r>
              <a:endParaRPr lang="zh-CN" altLang="en-US" sz="800">
                <a:solidFill>
                  <a:srgbClr val="0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Microsoft YaHei Light" panose="020B0502040204020203" pitchFamily="34" charset="-122"/>
              </a:endParaRPr>
            </a:p>
            <a:p>
              <a:pPr lvl="1" algn="l" eaLnBrk="1" hangingPunct="1">
                <a:lnSpc>
                  <a:spcPct val="130000"/>
                </a:lnSpc>
                <a:spcBef>
                  <a:spcPts val="600"/>
                </a:spcBef>
                <a:buFont typeface="Wingdings" panose="05000000000000000000" charset="0"/>
              </a:pPr>
              <a:endParaRPr lang="zh-CN" altLang="en-US" sz="800">
                <a:solidFill>
                  <a:srgbClr val="0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Microsoft YaHei Light" panose="020B0502040204020203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93" y="1232"/>
              <a:ext cx="5288" cy="689"/>
            </a:xfrm>
            <a:prstGeom prst="rect">
              <a:avLst/>
            </a:prstGeom>
            <a:solidFill>
              <a:schemeClr val="bg1"/>
            </a:solidFill>
            <a:ln w="44450">
              <a:solidFill>
                <a:srgbClr val="3B7FE9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+mn-cs"/>
                  <a:sym typeface="DengXian Light" panose="02010600030101010101" charset="-122"/>
                </a:rPr>
                <a:t>每万元业绩服务成本监控</a:t>
              </a:r>
              <a:endParaRPr kumimoji="0" lang="zh-CN" altLang="en-US" sz="1600" b="1" i="0" u="none" strike="noStrike" kern="120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  <a:sym typeface="DengXian Light" panose="02010600030101010101" charset="-122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 flipH="1">
              <a:off x="11553" y="1724"/>
              <a:ext cx="45" cy="8182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rgbClr val="0075B0"/>
                  </a:gs>
                  <a:gs pos="0">
                    <a:srgbClr val="0070C0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11761" y="2223"/>
              <a:ext cx="9361" cy="131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indent="-285750" fontAlgn="auto">
                <a:spcAft>
                  <a:spcPts val="600"/>
                </a:spcAft>
                <a:buFont typeface="Wingdings" panose="05000000000000000000" charset="0"/>
                <a:buChar char="n"/>
              </a:pPr>
              <a:r>
                <a:rPr lang="zh-CN" altLang="en-US" sz="12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截止</a:t>
              </a:r>
              <a:r>
                <a:rPr lang="en-US" altLang="zh-CN" sz="12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2026</a:t>
              </a:r>
              <a:r>
                <a:rPr lang="zh-CN" altLang="en-US" sz="12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年</a:t>
              </a:r>
              <a:r>
                <a:rPr lang="en-US" altLang="zh-CN" sz="12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4</a:t>
              </a:r>
              <a:r>
                <a:rPr lang="zh-CN" altLang="en-US" sz="12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月，</a:t>
              </a:r>
              <a:r>
                <a:rPr lang="zh-CN" altLang="en-US" sz="1200" b="1">
                  <a:solidFill>
                    <a:schemeClr val="accent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服务成本同比减少</a:t>
              </a:r>
              <a:r>
                <a:rPr lang="en-US" altLang="zh-CN" sz="1200" b="1">
                  <a:solidFill>
                    <a:schemeClr val="accent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3.42</a:t>
              </a:r>
              <a:r>
                <a:rPr lang="en-US" altLang="zh-CN" sz="1200" b="1">
                  <a:solidFill>
                    <a:schemeClr val="accent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%</a:t>
              </a:r>
              <a:r>
                <a:rPr lang="zh-CN" altLang="en-US" sz="1200" b="1">
                  <a:solidFill>
                    <a:schemeClr val="accent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，减少</a:t>
              </a:r>
              <a:r>
                <a:rPr lang="en-US" altLang="zh-CN" sz="1200" b="1">
                  <a:solidFill>
                    <a:schemeClr val="accent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36.13</a:t>
              </a:r>
              <a:r>
                <a:rPr lang="zh-CN" altLang="en-US" sz="1200" b="1">
                  <a:solidFill>
                    <a:schemeClr val="accent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万元</a:t>
              </a:r>
              <a:r>
                <a:rPr lang="zh-CN" altLang="en-US" sz="12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；</a:t>
              </a:r>
              <a:endParaRPr lang="zh-CN" altLang="en-US" sz="120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Microsoft YaHei Light" panose="020B0502040204020203" pitchFamily="34" charset="-122"/>
              </a:endParaRPr>
            </a:p>
            <a:p>
              <a:pPr marL="285750" indent="-285750" fontAlgn="auto">
                <a:spcAft>
                  <a:spcPts val="600"/>
                </a:spcAft>
                <a:buFont typeface="Wingdings" panose="05000000000000000000" charset="0"/>
                <a:buChar char="n"/>
              </a:pPr>
              <a:r>
                <a:rPr lang="zh-CN" altLang="en-US" sz="12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其中人力成本减少</a:t>
              </a:r>
              <a:r>
                <a:rPr lang="en-US" altLang="zh-CN" sz="12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31.53</a:t>
              </a:r>
              <a:r>
                <a:rPr lang="zh-CN" altLang="en-US" sz="12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万元，销售费用减少</a:t>
              </a:r>
              <a:r>
                <a:rPr lang="en-US" altLang="zh-CN" sz="12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4.6</a:t>
              </a:r>
              <a:r>
                <a:rPr lang="zh-CN" altLang="en-US" sz="12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Microsoft YaHei Light" panose="020B0502040204020203" pitchFamily="34" charset="-122"/>
                </a:rPr>
                <a:t>万元</a:t>
              </a:r>
              <a:endParaRPr lang="zh-CN" altLang="en-US" sz="120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Microsoft YaHei Light" panose="020B0502040204020203" pitchFamily="34" charset="-122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6082030" y="1969135"/>
            <a:ext cx="3165475" cy="411480"/>
          </a:xfrm>
          <a:prstGeom prst="rect">
            <a:avLst/>
          </a:prstGeom>
          <a:solidFill>
            <a:schemeClr val="bg1"/>
          </a:solidFill>
          <a:ln w="44450">
            <a:solidFill>
              <a:srgbClr val="3B7F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  <a:sym typeface="DengXian Light" panose="02010600030101010101" charset="-122"/>
              </a:rPr>
              <a:t>每万元业绩服务成本监控</a:t>
            </a:r>
            <a:endParaRPr kumimoji="0" lang="zh-CN" altLang="en-US" sz="1600" b="1" i="0" u="none" strike="noStrike" kern="120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Microsoft YaHei Light" panose="020B0502040204020203" pitchFamily="34" charset="-122"/>
              <a:ea typeface="Microsoft YaHei Light" panose="020B0502040204020203" pitchFamily="34" charset="-122"/>
              <a:cs typeface="+mn-cs"/>
              <a:sym typeface="DengXian Light" panose="02010600030101010101" charset="-122"/>
            </a:endParaRPr>
          </a:p>
        </p:txBody>
      </p:sp>
      <p:graphicFrame>
        <p:nvGraphicFramePr>
          <p:cNvPr id="10" name="表格 9" descr="7b0a202020202262756c6c6574223a20227b5c2263617465676f727949645c223a5c225c222c5c2274656d706c61746549645c223a32303233313635357d220a7d0a"/>
          <p:cNvGraphicFramePr/>
          <p:nvPr>
            <p:custDataLst>
              <p:tags r:id="rId5"/>
            </p:custDataLst>
          </p:nvPr>
        </p:nvGraphicFramePr>
        <p:xfrm>
          <a:off x="229870" y="922020"/>
          <a:ext cx="11497945" cy="854710"/>
        </p:xfrm>
        <a:graphic>
          <a:graphicData uri="http://schemas.openxmlformats.org/drawingml/2006/table">
            <a:tbl>
              <a:tblPr firstRow="1" bandRow="1">
                <a:tableStyleId>{4C0A49CE-6175-4766-9C39-39BFCF16DFF2}</a:tableStyleId>
              </a:tblPr>
              <a:tblGrid>
                <a:gridCol w="934720"/>
                <a:gridCol w="4624070"/>
                <a:gridCol w="5939155"/>
              </a:tblGrid>
              <a:tr h="33401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达成标记</a:t>
                      </a:r>
                      <a:endParaRPr lang="zh-CN" altLang="en-US" sz="1200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>
                    <a:solidFill>
                      <a:srgbClr val="E5EC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战略指标目标值</a:t>
                      </a:r>
                      <a:endParaRPr lang="zh-CN" altLang="en-US" sz="1200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>
                    <a:solidFill>
                      <a:srgbClr val="E5EC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战略指标达成情况</a:t>
                      </a:r>
                      <a:endParaRPr lang="zh-CN" altLang="en-US" sz="1200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>
                    <a:solidFill>
                      <a:srgbClr val="E5ECFF"/>
                    </a:solidFill>
                  </a:tcPr>
                </a:tc>
              </a:tr>
              <a:tr h="50863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Wingdings" panose="05000000000000000000" charset="0"/>
                        </a:rPr>
                        <a:t>❌</a:t>
                      </a:r>
                      <a:r>
                        <a:rPr lang="zh-CN" altLang="en-US" sz="100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Wingdings" panose="05000000000000000000" charset="0"/>
                        </a:rPr>
                        <a:t>未</a:t>
                      </a:r>
                      <a:r>
                        <a:rPr lang="zh-CN" altLang="en-US" sz="100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完成</a:t>
                      </a:r>
                      <a:endParaRPr lang="zh-CN" altLang="en-US" sz="1000" spc="6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万元业绩服务成本（不含海外，不含驻场）同比下降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15%</a:t>
                      </a: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endParaRPr lang="en-US" altLang="zh-CN" sz="1000" spc="6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万元业绩服务成本（不含海外，含驻场）同比下降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15%</a:t>
                      </a: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endParaRPr lang="zh-CN" altLang="en-US" sz="1000" spc="6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marL="285750" indent="-2857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不含驻场每万元业绩服务成本</a:t>
                      </a:r>
                      <a:r>
                        <a:rPr lang="zh-CN" altLang="en-US" sz="1000" b="1" spc="6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同比</a:t>
                      </a:r>
                      <a:r>
                        <a:rPr lang="zh-CN" altLang="en-US" sz="1000" b="1" spc="6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上升5.69%↑</a:t>
                      </a:r>
                      <a:endParaRPr lang="en-US" altLang="en-US" sz="1000" b="1" dirty="0">
                        <a:solidFill>
                          <a:srgbClr val="FF000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Microsoft YaHei Light" panose="020B0502040204020203" pitchFamily="34" charset="-122"/>
                        <a:sym typeface="+mn-ea"/>
                      </a:endParaRPr>
                    </a:p>
                    <a:p>
                      <a:pPr marL="285750" indent="-285750" algn="l">
                        <a:buClrTx/>
                        <a:buSzTx/>
                        <a:buFont typeface="Wingdings" panose="05000000000000000000" charset="0"/>
                        <a:buChar char="n"/>
                      </a:pP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含驻场每万元业绩服务成本</a:t>
                      </a:r>
                      <a:r>
                        <a:rPr lang="zh-CN" altLang="en-US" sz="1000" b="1" spc="6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同比</a:t>
                      </a:r>
                      <a:r>
                        <a:rPr lang="zh-CN" altLang="en-US" sz="1000" b="1" spc="6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上涨3.96%↑</a:t>
                      </a:r>
                      <a:endParaRPr lang="en-US" altLang="en-US" sz="1000" b="1" spc="6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</a:tr>
            </a:tbl>
          </a:graphicData>
        </a:graphic>
      </p:graphicFrame>
      <p:graphicFrame>
        <p:nvGraphicFramePr>
          <p:cNvPr id="11" name="图表 10"/>
          <p:cNvGraphicFramePr/>
          <p:nvPr/>
        </p:nvGraphicFramePr>
        <p:xfrm>
          <a:off x="322580" y="3198495"/>
          <a:ext cx="2797175" cy="2993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2" name="图表 11"/>
          <p:cNvGraphicFramePr/>
          <p:nvPr/>
        </p:nvGraphicFramePr>
        <p:xfrm>
          <a:off x="3126105" y="3198495"/>
          <a:ext cx="2597785" cy="2994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 descr="7b0a202020202263686172745265734964223a20223230343736303833220a7d0a"/>
          <p:cNvGraphicFramePr/>
          <p:nvPr/>
        </p:nvGraphicFramePr>
        <p:xfrm>
          <a:off x="6237605" y="3049905"/>
          <a:ext cx="5558155" cy="3547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文本框 163"/>
          <p:cNvSpPr txBox="1"/>
          <p:nvPr/>
        </p:nvSpPr>
        <p:spPr>
          <a:xfrm>
            <a:off x="130175" y="247650"/>
            <a:ext cx="104571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二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战略指标：</a:t>
            </a:r>
            <a:r>
              <a:rPr kumimoji="0" 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交付成本控制</a:t>
            </a:r>
            <a:endParaRPr kumimoji="0" 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2" name="表格 1" descr="7b0a202020202262756c6c6574223a20227b5c2263617465676f727949645c223a5c225c222c5c2274656d706c61746549645c223a32303233313635357d220a7d0a"/>
          <p:cNvGraphicFramePr/>
          <p:nvPr>
            <p:custDataLst>
              <p:tags r:id="rId3"/>
            </p:custDataLst>
          </p:nvPr>
        </p:nvGraphicFramePr>
        <p:xfrm>
          <a:off x="181610" y="823595"/>
          <a:ext cx="11497945" cy="1514475"/>
        </p:xfrm>
        <a:graphic>
          <a:graphicData uri="http://schemas.openxmlformats.org/drawingml/2006/table">
            <a:tbl>
              <a:tblPr firstRow="1" bandRow="1">
                <a:tableStyleId>{4C0A49CE-6175-4766-9C39-39BFCF16DFF2}</a:tableStyleId>
              </a:tblPr>
              <a:tblGrid>
                <a:gridCol w="934720"/>
                <a:gridCol w="3009265"/>
                <a:gridCol w="7553960"/>
              </a:tblGrid>
              <a:tr h="33401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达成标记</a:t>
                      </a:r>
                      <a:endParaRPr lang="zh-CN" altLang="en-US" sz="1200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>
                    <a:solidFill>
                      <a:srgbClr val="E5EC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战略指标目标值</a:t>
                      </a:r>
                      <a:endParaRPr lang="zh-CN" altLang="en-US" sz="1200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>
                    <a:solidFill>
                      <a:srgbClr val="E5EC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战略指标达成情况</a:t>
                      </a:r>
                      <a:endParaRPr lang="zh-CN" altLang="en-US" sz="1200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>
                    <a:solidFill>
                      <a:srgbClr val="E5ECFF"/>
                    </a:solidFill>
                  </a:tcPr>
                </a:tc>
              </a:tr>
              <a:tr h="37020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×未完成</a:t>
                      </a:r>
                      <a:endParaRPr lang="zh-CN" altLang="en-US" sz="1000" spc="60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交付标准杆方案优化，</a:t>
                      </a:r>
                      <a:r>
                        <a:rPr lang="zh-CN" altLang="en-US" sz="1000" spc="6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标准杆人天缩减</a:t>
                      </a:r>
                      <a:r>
                        <a:rPr lang="en-US" altLang="zh-CN" sz="1000" spc="6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10%</a:t>
                      </a:r>
                      <a:endParaRPr lang="en-US" altLang="zh-CN" sz="1000" spc="6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整体平均项目标准杆人天17.16人天，同期14.15人天，</a:t>
                      </a:r>
                      <a:r>
                        <a:rPr lang="zh-CN" altLang="en-US" sz="1000" b="1" spc="6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同期增长率21.2%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</a:t>
                      </a:r>
                      <a:endParaRPr lang="zh-CN" altLang="en-US" sz="1000" b="0" spc="6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KA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平均项目标准杆人天46.45人天，</a:t>
                      </a:r>
                      <a:r>
                        <a:rPr lang="zh-CN" altLang="en-US" sz="1000" b="1" spc="6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同期增长率11.6%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；非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KA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平均项目标准杆人天9.76人天，</a:t>
                      </a:r>
                      <a:r>
                        <a:rPr lang="zh-CN" altLang="en-US" sz="1000" b="1" spc="6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同期增长率4.8%；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</a:t>
                      </a:r>
                      <a:endParaRPr lang="zh-CN" altLang="en-US" sz="1000" b="0" spc="6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</a:tr>
              <a:tr h="23495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×未完成</a:t>
                      </a:r>
                      <a:endParaRPr lang="zh-CN" altLang="en-US" sz="1000" spc="6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技术交付中心年人均回款同比提升20%（全年目标）</a:t>
                      </a:r>
                      <a:endParaRPr lang="zh-CN" altLang="en-US" sz="1000" spc="6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684D3"/>
                        </a:buClr>
                        <a:buFont typeface="Wingdings" panose="05000000000000000000" charset="0"/>
                        <a:buNone/>
                      </a:pP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26年累计4月，技术交付中心2026年人均回款68.33万元，同期65.63万元，</a:t>
                      </a:r>
                      <a:r>
                        <a:rPr lang="zh-CN" altLang="en-US" sz="1000" b="1" spc="60" dirty="0">
                          <a:solidFill>
                            <a:srgbClr val="C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同期增长率4.</a:t>
                      </a:r>
                      <a:r>
                        <a:rPr lang="en-US" altLang="zh-CN" sz="1000" b="1" spc="60" dirty="0">
                          <a:solidFill>
                            <a:srgbClr val="C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8</a:t>
                      </a:r>
                      <a:r>
                        <a:rPr lang="zh-CN" altLang="en-US" sz="1000" b="1" spc="60" dirty="0">
                          <a:solidFill>
                            <a:srgbClr val="C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%；</a:t>
                      </a:r>
                      <a:endParaRPr lang="zh-CN" altLang="en-US" sz="1000" b="1" spc="60" dirty="0">
                        <a:solidFill>
                          <a:srgbClr val="C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107950" marR="107950" marT="63500" marB="63500" anchor="ctr" anchorCtr="0"/>
                </a:tc>
              </a:tr>
            </a:tbl>
          </a:graphicData>
        </a:graphic>
      </p:graphicFrame>
      <p:graphicFrame>
        <p:nvGraphicFramePr>
          <p:cNvPr id="497814" name="图表 1"/>
          <p:cNvGraphicFramePr/>
          <p:nvPr/>
        </p:nvGraphicFramePr>
        <p:xfrm>
          <a:off x="172720" y="2270760"/>
          <a:ext cx="5450205" cy="2539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4"/>
            </p:custDataLst>
          </p:nvPr>
        </p:nvGraphicFramePr>
        <p:xfrm>
          <a:off x="5724525" y="2270760"/>
          <a:ext cx="6162040" cy="1432270"/>
        </p:xfrm>
        <a:graphic>
          <a:graphicData uri="http://schemas.openxmlformats.org/drawingml/2006/table">
            <a:tbl>
              <a:tblPr firstRow="1">
                <a:tableStyleId>{671CAD2F-7468-4BE5-ADA9-849B96642D37}</a:tableStyleId>
              </a:tblPr>
              <a:tblGrid>
                <a:gridCol w="1438275"/>
                <a:gridCol w="2152650"/>
                <a:gridCol w="768350"/>
                <a:gridCol w="769620"/>
                <a:gridCol w="1033145"/>
              </a:tblGrid>
              <a:tr h="323215">
                <a:tc gridSpan="5">
                  <a:txBody>
                    <a:bodyPr/>
                    <a:p>
                      <a:pPr algn="ctr" fontAlgn="b">
                        <a:buNone/>
                      </a:pPr>
                      <a:r>
                        <a:rPr lang="zh-CN" sz="1200"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Microsoft YaHei Light" panose="020B0502040204020203" pitchFamily="34" charset="-122"/>
                        </a:rPr>
                        <a:t>累积</a:t>
                      </a:r>
                      <a:r>
                        <a:rPr lang="en-US" altLang="zh-CN" sz="1200"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Microsoft YaHei Light" panose="020B0502040204020203" pitchFamily="34" charset="-122"/>
                        </a:rPr>
                        <a:t>4</a:t>
                      </a:r>
                      <a:r>
                        <a:rPr lang="zh-CN" altLang="en-US" sz="1200"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Microsoft YaHei Light" panose="020B0502040204020203" pitchFamily="34" charset="-122"/>
                        </a:rPr>
                        <a:t>月项目人天使用</a:t>
                      </a:r>
                      <a:r>
                        <a:rPr lang="en-US" altLang="zh-CN" sz="1200"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Microsoft YaHei Light" panose="020B0502040204020203" pitchFamily="34" charset="-122"/>
                        </a:rPr>
                        <a:t>top3</a:t>
                      </a:r>
                      <a:endParaRPr lang="en-US" altLang="zh-CN" sz="1200"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Microsoft YaHei Light" panose="020B0502040204020203" pitchFamily="34" charset="-122"/>
                      </a:endParaRPr>
                    </a:p>
                  </a:txBody>
                  <a:tcPr marL="6667" marR="6667" marT="6667" marB="0" anchor="ctr" anchorCtr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cPr marL="6667" marR="6667" marT="6667" marB="0" anchor="b" anchorCtr="0"/>
                </a:tc>
                <a:tc hMerge="1">
                  <a:tcPr marL="6667" marR="6667" marT="6667" marB="0" anchor="b" anchorCtr="0"/>
                </a:tc>
                <a:tc hMerge="1">
                  <a:tcPr marL="6667" marR="6667" marT="6667" marB="0" anchor="b" anchorCtr="0"/>
                </a:tc>
                <a:tc hMerge="1">
                  <a:tcPr marL="6667" marR="6667" marT="6667" marB="0" anchor="b" anchorCtr="0"/>
                </a:tc>
              </a:tr>
              <a:tr h="228600">
                <a:tc>
                  <a:txBody>
                    <a:bodyPr/>
                    <a:p>
                      <a:pPr algn="ctr" fontAlgn="b"/>
                      <a:r>
                        <a:rPr lang="zh-CN" altLang="en-US" sz="1000"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项目编号</a:t>
                      </a:r>
                      <a:endParaRPr lang="zh-CN" altLang="en-US" sz="1000"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</a:endParaRPr>
                    </a:p>
                  </a:txBody>
                  <a:tcPr marL="6667" marR="6667" marT="6667" marB="0"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客户名称</a:t>
                      </a:r>
                      <a:endParaRPr lang="zh-CN" altLang="en-US" sz="1000"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</a:endParaRPr>
                    </a:p>
                  </a:txBody>
                  <a:tcPr marL="6667" marR="6667" marT="6667" marB="0"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销售经理</a:t>
                      </a:r>
                      <a:endParaRPr lang="zh-CN" altLang="en-US" sz="1000"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</a:endParaRPr>
                    </a:p>
                  </a:txBody>
                  <a:tcPr marL="6667" marR="6667" marT="6667" marB="0"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交付顾问</a:t>
                      </a:r>
                      <a:endParaRPr lang="zh-CN" altLang="en-US" sz="1000"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</a:endParaRPr>
                    </a:p>
                  </a:txBody>
                  <a:tcPr marL="6667" marR="6667" marT="6667" marB="0"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已用标准人天</a:t>
                      </a:r>
                      <a:endParaRPr lang="zh-CN" altLang="en-US" sz="1000"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</a:endParaRPr>
                    </a:p>
                  </a:txBody>
                  <a:tcPr marL="6667" marR="6667" marT="6667" marB="0"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268605">
                <a:tc>
                  <a:txBody>
                    <a:bodyPr/>
                    <a:p>
                      <a:pPr algn="ctr" fontAlgn="b"/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PRJ-20240124-00093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中国中化控股有限责任公司</a:t>
                      </a: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苏宁</a:t>
                      </a: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DengXian" charset="-122"/>
                          <a:ea typeface="DengXian" charset="-122"/>
                        </a:rPr>
                        <a:t>446.40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DengXian" charset="-122"/>
                        <a:ea typeface="DengXian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323850">
                <a:tc>
                  <a:txBody>
                    <a:bodyPr/>
                    <a:p>
                      <a:pPr algn="ctr" fontAlgn="b"/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PRJ-20231026-00077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中国华电集团有限公司</a:t>
                      </a: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冯超</a:t>
                      </a: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DengXian" charset="-122"/>
                          <a:ea typeface="DengXian" charset="-122"/>
                        </a:rPr>
                        <a:t>158.91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DengXian" charset="-122"/>
                        <a:ea typeface="DengXian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88000">
                <a:tc>
                  <a:txBody>
                    <a:bodyPr/>
                    <a:p>
                      <a:pPr algn="ctr" fontAlgn="b"/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PRJ-20231113-00047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中车株洲电力机车研究所有限公司</a:t>
                      </a: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非</a:t>
                      </a: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KA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贺帅</a:t>
                      </a: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DengXian" charset="-122"/>
                          <a:ea typeface="DengXian" charset="-122"/>
                        </a:rPr>
                        <a:t>143.25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DengXian" charset="-122"/>
                        <a:ea typeface="DengXian" charset="-122"/>
                      </a:endParaRPr>
                    </a:p>
                  </a:txBody>
                  <a:tcPr marL="6667" marR="6667" marT="6667" marB="0" anchor="ctr" anchorCtr="0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724525" y="3780155"/>
            <a:ext cx="5490845" cy="1029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zh-CN" altLang="en-US" sz="1400" b="1">
                <a:latin typeface="DengXian" charset="-122"/>
                <a:ea typeface="DengXian" charset="-122"/>
                <a:cs typeface="DengXian" charset="-122"/>
              </a:rPr>
              <a:t>剔除</a:t>
            </a:r>
            <a:r>
              <a:rPr lang="en-US" altLang="zh-CN" sz="1400" b="1">
                <a:latin typeface="DengXian" charset="-122"/>
                <a:ea typeface="DengXian" charset="-122"/>
                <a:cs typeface="DengXian" charset="-122"/>
              </a:rPr>
              <a:t>TOP3</a:t>
            </a:r>
            <a:r>
              <a:rPr lang="zh-CN" altLang="en-US" sz="1400" b="1">
                <a:latin typeface="DengXian" charset="-122"/>
                <a:ea typeface="DengXian" charset="-122"/>
                <a:cs typeface="DengXian" charset="-122"/>
              </a:rPr>
              <a:t>后，平均项目人天数据如下：</a:t>
            </a:r>
            <a:endParaRPr lang="zh-CN" altLang="en-US" sz="1400" b="1">
              <a:latin typeface="DengXian" charset="-122"/>
              <a:ea typeface="DengXian" charset="-122"/>
              <a:cs typeface="DengXian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400">
                <a:latin typeface="DengXian" charset="-122"/>
                <a:ea typeface="DengXian" charset="-122"/>
                <a:cs typeface="DengXian" charset="-122"/>
                <a:sym typeface="+mn-ea"/>
              </a:rPr>
              <a:t>整体平均项目人天</a:t>
            </a:r>
            <a:r>
              <a:rPr lang="en-US" altLang="zh-CN" sz="1400">
                <a:latin typeface="DengXian" charset="-122"/>
                <a:ea typeface="DengXian" charset="-122"/>
                <a:cs typeface="DengXian" charset="-122"/>
                <a:sym typeface="+mn-ea"/>
              </a:rPr>
              <a:t>10.64</a:t>
            </a:r>
            <a:r>
              <a:rPr lang="zh-CN" altLang="en-US" sz="1400">
                <a:latin typeface="DengXian" charset="-122"/>
                <a:ea typeface="DengXian" charset="-122"/>
                <a:cs typeface="DengXian" charset="-122"/>
                <a:sym typeface="+mn-ea"/>
              </a:rPr>
              <a:t>人天，同期增长率</a:t>
            </a:r>
            <a:r>
              <a:rPr lang="en-US" altLang="zh-CN" sz="1400">
                <a:solidFill>
                  <a:schemeClr val="accent6"/>
                </a:solidFill>
                <a:latin typeface="DengXian" charset="-122"/>
                <a:ea typeface="DengXian" charset="-122"/>
                <a:cs typeface="DengXian" charset="-122"/>
                <a:sym typeface="+mn-ea"/>
              </a:rPr>
              <a:t>-28.6%</a:t>
            </a:r>
            <a:r>
              <a:rPr lang="zh-CN" altLang="en-US" sz="1400">
                <a:latin typeface="DengXian" charset="-122"/>
                <a:ea typeface="DengXian" charset="-122"/>
                <a:cs typeface="DengXian" charset="-122"/>
                <a:sym typeface="+mn-ea"/>
              </a:rPr>
              <a:t>；</a:t>
            </a:r>
            <a:endParaRPr lang="zh-CN" altLang="en-US" sz="1400">
              <a:latin typeface="DengXian" charset="-122"/>
              <a:ea typeface="DengXian" charset="-122"/>
              <a:cs typeface="DengXian" charset="-122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400">
                <a:latin typeface="DengXian" charset="-122"/>
                <a:ea typeface="DengXian" charset="-122"/>
                <a:cs typeface="DengXian" charset="-122"/>
                <a:sym typeface="+mn-ea"/>
              </a:rPr>
              <a:t>KA</a:t>
            </a:r>
            <a:r>
              <a:rPr lang="zh-CN" altLang="en-US" sz="1400">
                <a:latin typeface="DengXian" charset="-122"/>
                <a:ea typeface="DengXian" charset="-122"/>
                <a:cs typeface="DengXian" charset="-122"/>
                <a:sym typeface="+mn-ea"/>
              </a:rPr>
              <a:t>平均项目人天</a:t>
            </a:r>
            <a:r>
              <a:rPr lang="en-US" altLang="zh-CN" sz="1400">
                <a:latin typeface="DengXian" charset="-122"/>
                <a:ea typeface="DengXian" charset="-122"/>
                <a:cs typeface="DengXian" charset="-122"/>
                <a:sym typeface="+mn-ea"/>
              </a:rPr>
              <a:t>20.93</a:t>
            </a:r>
            <a:r>
              <a:rPr lang="zh-CN" altLang="en-US" sz="1400">
                <a:latin typeface="DengXian" charset="-122"/>
                <a:ea typeface="DengXian" charset="-122"/>
                <a:cs typeface="DengXian" charset="-122"/>
                <a:sym typeface="+mn-ea"/>
              </a:rPr>
              <a:t>人天，同期增长率</a:t>
            </a:r>
            <a:r>
              <a:rPr lang="en-US" altLang="zh-CN" sz="1400">
                <a:solidFill>
                  <a:schemeClr val="accent6"/>
                </a:solidFill>
                <a:latin typeface="DengXian" charset="-122"/>
                <a:ea typeface="DengXian" charset="-122"/>
                <a:cs typeface="DengXian" charset="-122"/>
                <a:sym typeface="+mn-ea"/>
              </a:rPr>
              <a:t>-55.9%</a:t>
            </a:r>
            <a:r>
              <a:rPr lang="zh-CN" altLang="en-US" sz="1400">
                <a:latin typeface="DengXian" charset="-122"/>
                <a:ea typeface="DengXian" charset="-122"/>
                <a:cs typeface="DengXian" charset="-122"/>
                <a:sym typeface="+mn-ea"/>
              </a:rPr>
              <a:t>；非</a:t>
            </a:r>
            <a:r>
              <a:rPr lang="en-US" altLang="zh-CN" sz="1400">
                <a:latin typeface="DengXian" charset="-122"/>
                <a:ea typeface="DengXian" charset="-122"/>
                <a:cs typeface="DengXian" charset="-122"/>
                <a:sym typeface="+mn-ea"/>
              </a:rPr>
              <a:t>KA</a:t>
            </a:r>
            <a:r>
              <a:rPr lang="zh-CN" altLang="en-US" sz="1400">
                <a:latin typeface="DengXian" charset="-122"/>
                <a:ea typeface="DengXian" charset="-122"/>
                <a:cs typeface="DengXian" charset="-122"/>
                <a:sym typeface="+mn-ea"/>
              </a:rPr>
              <a:t>平均项目人天</a:t>
            </a:r>
            <a:r>
              <a:rPr lang="en-US" altLang="zh-CN" sz="1400">
                <a:latin typeface="DengXian" charset="-122"/>
                <a:ea typeface="DengXian" charset="-122"/>
                <a:cs typeface="DengXian" charset="-122"/>
                <a:sym typeface="+mn-ea"/>
              </a:rPr>
              <a:t>7.96</a:t>
            </a:r>
            <a:r>
              <a:rPr lang="zh-CN" altLang="en-US" sz="1400">
                <a:latin typeface="DengXian" charset="-122"/>
                <a:ea typeface="DengXian" charset="-122"/>
                <a:cs typeface="DengXian" charset="-122"/>
                <a:sym typeface="+mn-ea"/>
              </a:rPr>
              <a:t>人天，同期增长率</a:t>
            </a:r>
            <a:r>
              <a:rPr lang="en-US" altLang="zh-CN" sz="1400">
                <a:solidFill>
                  <a:schemeClr val="accent6"/>
                </a:solidFill>
                <a:latin typeface="DengXian" charset="-122"/>
                <a:ea typeface="DengXian" charset="-122"/>
                <a:cs typeface="DengXian" charset="-122"/>
                <a:sym typeface="+mn-ea"/>
              </a:rPr>
              <a:t>-6.9%</a:t>
            </a:r>
            <a:r>
              <a:rPr lang="zh-CN" altLang="en-US" sz="1400">
                <a:latin typeface="DengXian" charset="-122"/>
                <a:ea typeface="DengXian" charset="-122"/>
                <a:cs typeface="DengXian" charset="-122"/>
                <a:sym typeface="+mn-ea"/>
              </a:rPr>
              <a:t>；</a:t>
            </a:r>
            <a:endParaRPr lang="zh-CN" altLang="en-US" sz="1400">
              <a:latin typeface="DengXian" charset="-122"/>
              <a:ea typeface="DengXian" charset="-122"/>
              <a:cs typeface="DengXian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58180" y="3703320"/>
            <a:ext cx="6128385" cy="1249045"/>
          </a:xfrm>
          <a:prstGeom prst="rect">
            <a:avLst/>
          </a:prstGeom>
          <a:noFill/>
          <a:ln w="1905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5724525" y="5134610"/>
            <a:ext cx="6083300" cy="1591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0">
            <a:noAutofit/>
          </a:bodyPr>
          <a:p>
            <a:pPr marL="171450" indent="-17145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Font typeface="Wingdings" panose="05000000000000000000" charset="0"/>
              <a:buChar char="l"/>
            </a:pPr>
            <a:r>
              <a:rPr lang="zh-CN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借助</a:t>
            </a:r>
            <a:r>
              <a:rPr lang="zh-CN" altLang="en-US" sz="1100" b="1" spc="12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交付中心</a:t>
            </a:r>
            <a:r>
              <a:rPr lang="en-US" altLang="zh-CN" sz="1100" b="1" spc="12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</a:t>
            </a:r>
            <a:r>
              <a:rPr lang="zh-CN" altLang="en-US" sz="1100" b="1" spc="12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提效建设</a:t>
            </a:r>
            <a:r>
              <a:rPr lang="zh-CN" altLang="en-US" sz="1100" spc="120" dirty="0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sz="11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实现交付中心智能化转型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，系统性地提升售前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交付团队的效率</a:t>
            </a:r>
            <a:r>
              <a:rPr lang="zh-CN" sz="11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sz="11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降低整体平均项目人天</a:t>
            </a:r>
            <a:r>
              <a:rPr lang="zh-CN" sz="11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及</a:t>
            </a:r>
            <a:r>
              <a:rPr lang="zh-CN" sz="11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全面实现提升人效</a:t>
            </a:r>
            <a:r>
              <a:rPr lang="zh-CN" sz="11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sz="1100" kern="0" spc="14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indent="-17145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Font typeface="Wingdings" panose="05000000000000000000" charset="0"/>
              <a:buChar char="l"/>
            </a:pPr>
            <a:r>
              <a:rPr lang="zh-CN" altLang="en-US" sz="1100" spc="120" dirty="0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项目交付阶段严控不合理的人天投入：监控成本超支项目及剩余成本超支风向较高的项目，总结复盘提炼优化。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indent="-17145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Font typeface="Wingdings" panose="05000000000000000000" charset="0"/>
              <a:buChar char="l"/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持续关注产出低的人员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，进行工作调整、能力提升、优化淘汰。</a:t>
            </a:r>
            <a:endParaRPr lang="zh-CN" altLang="en-US" sz="1100" spc="120" dirty="0"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图表 2" descr="7b0a202020202263686172745265734964223a20223230343736363030220a7d0a"/>
          <p:cNvGraphicFramePr/>
          <p:nvPr/>
        </p:nvGraphicFramePr>
        <p:xfrm>
          <a:off x="181610" y="4822825"/>
          <a:ext cx="5441950" cy="1903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文本框 163"/>
          <p:cNvSpPr txBox="1"/>
          <p:nvPr/>
        </p:nvSpPr>
        <p:spPr>
          <a:xfrm>
            <a:off x="130175" y="247650"/>
            <a:ext cx="104571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二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战略指标：</a:t>
            </a:r>
            <a:r>
              <a:rPr lang="zh-CN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交付成本控制</a:t>
            </a:r>
            <a:endParaRPr kumimoji="0" 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9290" y="873125"/>
            <a:ext cx="3148965" cy="3803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售前失误人天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498975" y="873125"/>
            <a:ext cx="3148965" cy="3803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特批人天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300720" y="873125"/>
            <a:ext cx="3148965" cy="3803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非项目人天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非售后借调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1" name="表格 10" descr="7b0a202020202262756c6c6574223a20227b5c2263617465676f727949645c223a5c225c222c5c2274656d706c61746549645c223a32303233313635357d220a7d0a"/>
          <p:cNvGraphicFramePr/>
          <p:nvPr>
            <p:custDataLst>
              <p:tags r:id="rId4"/>
            </p:custDataLst>
          </p:nvPr>
        </p:nvGraphicFramePr>
        <p:xfrm>
          <a:off x="392430" y="3439795"/>
          <a:ext cx="11381105" cy="1485900"/>
        </p:xfrm>
        <a:graphic>
          <a:graphicData uri="http://schemas.openxmlformats.org/drawingml/2006/table">
            <a:tbl>
              <a:tblPr firstRow="1" bandRow="1">
                <a:tableStyleId>{4C0A49CE-6175-4766-9C39-39BFCF16DFF2}</a:tableStyleId>
              </a:tblPr>
              <a:tblGrid>
                <a:gridCol w="966470"/>
                <a:gridCol w="3820160"/>
                <a:gridCol w="6594475"/>
              </a:tblGrid>
              <a:tr h="34607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达成标记</a:t>
                      </a:r>
                      <a:endParaRPr lang="zh-CN" altLang="en-US" sz="12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战略指标目标值</a:t>
                      </a:r>
                      <a:endParaRPr lang="zh-CN" altLang="en-US" sz="12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战略指标达成情况</a:t>
                      </a:r>
                      <a:endParaRPr lang="zh-CN" altLang="en-US" sz="12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</a:tr>
              <a:tr h="46482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Wingdings" panose="05000000000000000000" charset="0"/>
                        </a:rPr>
                        <a:t></a:t>
                      </a:r>
                      <a:r>
                        <a:rPr lang="zh-CN" altLang="en-US" sz="1000" spc="6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完成</a:t>
                      </a:r>
                      <a:endParaRPr lang="zh-CN" altLang="en-US" sz="1000" spc="60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售前失误</a:t>
                      </a:r>
                      <a:r>
                        <a:rPr lang="zh-CN" altLang="en-US" sz="1000" spc="6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人天下降</a:t>
                      </a:r>
                      <a:r>
                        <a:rPr lang="en-US" altLang="zh-CN" sz="1000" spc="6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10%</a:t>
                      </a:r>
                      <a:endParaRPr lang="en-US" altLang="zh-CN" sz="1000" spc="60" dirty="0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累计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月，售前失误人天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73h</a:t>
                      </a: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9.1</a:t>
                      </a: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人天），同期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544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.3h</a:t>
                      </a: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68.0</a:t>
                      </a: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人天），</a:t>
                      </a:r>
                      <a:r>
                        <a:rPr lang="zh-CN" altLang="en-US" sz="1000" spc="6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同比下降</a:t>
                      </a:r>
                      <a:r>
                        <a:rPr lang="en-US" altLang="zh-CN" sz="1000" spc="6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86.6%</a:t>
                      </a: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；【其中承担其他无效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产品申诉人天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40h</a:t>
                      </a: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人天），同期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466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.3h</a:t>
                      </a: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58.3</a:t>
                      </a: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人天），同比</a:t>
                      </a:r>
                      <a:r>
                        <a:rPr 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下降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91.4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%</a:t>
                      </a: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】</a:t>
                      </a:r>
                      <a:endParaRPr lang="zh-CN" altLang="en-US" sz="1000" spc="6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</a:tr>
              <a:tr h="29273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×未完成</a:t>
                      </a:r>
                      <a:endParaRPr lang="zh-CN" altLang="en-US" sz="1000" spc="6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特批人天（不含</a:t>
                      </a:r>
                      <a:r>
                        <a:rPr lang="en-US" altLang="zh-CN" sz="1000" spc="6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POC</a:t>
                      </a:r>
                      <a:r>
                        <a:rPr lang="zh-CN" altLang="en-US" sz="1000" spc="6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、新产品、安全产品）</a:t>
                      </a:r>
                      <a:r>
                        <a:rPr lang="zh-CN" altLang="en-US" sz="100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同比下降</a:t>
                      </a:r>
                      <a:r>
                        <a:rPr lang="en-US" altLang="zh-CN" sz="100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10%</a:t>
                      </a:r>
                      <a:endParaRPr lang="en-US" altLang="zh-CN" sz="1000" spc="6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684D3"/>
                        </a:buClr>
                        <a:buFont typeface="Wingdings" panose="05000000000000000000" charset="0"/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累计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4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月，</a:t>
                      </a:r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公司整体321.2人天，同期324.8人天，</a:t>
                      </a:r>
                      <a:r>
                        <a:rPr lang="zh-CN" altLang="en-US" sz="10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同</a:t>
                      </a:r>
                      <a:r>
                        <a:rPr lang="zh-CN" sz="10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比下降</a:t>
                      </a:r>
                      <a:r>
                        <a:rPr lang="en-US" altLang="zh-CN" sz="10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1.1%</a:t>
                      </a:r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。</a:t>
                      </a:r>
                      <a:endParaRPr lang="zh-CN" altLang="en-US" sz="1000" b="0" spc="60" dirty="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107950" marR="107950" marT="63500" marB="63500" anchor="ctr" anchorCtr="0">
                    <a:solidFill>
                      <a:srgbClr val="EFF5FB"/>
                    </a:solidFill>
                  </a:tcPr>
                </a:tc>
              </a:tr>
              <a:tr h="33718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Wingdings" panose="05000000000000000000" charset="0"/>
                        </a:rPr>
                        <a:t></a:t>
                      </a:r>
                      <a:r>
                        <a:rPr lang="zh-CN" altLang="en-US" sz="1000" spc="6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完成</a:t>
                      </a:r>
                      <a:endParaRPr lang="zh-CN" altLang="en-US" sz="100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非项目人天（不含售后借调）</a:t>
                      </a:r>
                      <a:r>
                        <a:rPr lang="zh-CN" altLang="en-US" sz="1000" spc="6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同比下降</a:t>
                      </a:r>
                      <a:r>
                        <a:rPr lang="en-US" altLang="zh-CN" sz="1000" spc="6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endParaRPr lang="en-US" altLang="zh-CN" sz="1000" spc="60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累计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4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月，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公司整体834.2人天，同期1339.7人天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zh-CN" altLang="en-US" sz="1000" b="0" spc="6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同比下降</a:t>
                      </a:r>
                      <a:r>
                        <a:rPr lang="en-US" altLang="zh-CN" sz="1000" b="0" spc="6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37.7%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</a:t>
                      </a:r>
                      <a:endParaRPr lang="zh-CN" altLang="en-US" sz="1000" b="0" spc="6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92430" y="5309235"/>
            <a:ext cx="11380470" cy="12306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1">
            <a:noAutofit/>
          </a:bodyPr>
          <a:p>
            <a:pPr marL="171450" indent="-171450" fontAlgn="auto">
              <a:lnSpc>
                <a:spcPct val="135000"/>
              </a:lnSpc>
              <a:buClr>
                <a:srgbClr val="5B9BD5"/>
              </a:buClr>
              <a:buFont typeface="Wingdings" panose="05000000000000000000" charset="0"/>
              <a:buChar char="l"/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结合每月失误人天复核及项目复盘，总结提炼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FAQ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，降低失误率；</a:t>
            </a:r>
            <a:r>
              <a:rPr lang="zh-CN" sz="11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结合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智能体监控项目进度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，规避失误及保证项目质量；关注售前失误人天占比高的顾问工作安排，结合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及部门培训推进能力提升。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indent="-171450" algn="l" fontAlgn="auto">
              <a:lnSpc>
                <a:spcPct val="135000"/>
              </a:lnSpc>
              <a:buClr>
                <a:srgbClr val="5B9BD5"/>
              </a:buClr>
              <a:buFont typeface="Wingdings" panose="05000000000000000000" charset="0"/>
              <a:buChar char="l"/>
            </a:pPr>
            <a:r>
              <a:rPr lang="zh-CN" altLang="en-US" sz="1100" spc="120" dirty="0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进行商机可靠性评估，严控不合理的特批人天试用；对特批人天数据进行分析，识别问题、及时解决。</a:t>
            </a:r>
            <a:endParaRPr lang="zh-CN" altLang="en-US" sz="1100" spc="120" dirty="0"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indent="-171450" algn="l" fontAlgn="auto">
              <a:lnSpc>
                <a:spcPct val="135000"/>
              </a:lnSpc>
              <a:buClr>
                <a:srgbClr val="5B9BD5"/>
              </a:buClr>
              <a:buFont typeface="Wingdings" panose="05000000000000000000" charset="0"/>
              <a:buChar char="l"/>
            </a:pPr>
            <a:r>
              <a:rPr lang="zh-CN" altLang="en-US" sz="1100" spc="120" dirty="0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通过工时率监控非项目人天登记超标的人员，进行人员工作复盘和工作安排调整，做好非项目人天过程及前置管控。</a:t>
            </a:r>
            <a:endParaRPr lang="zh-CN" altLang="en-US" sz="1100" spc="120" dirty="0"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流程图: 摘录 6"/>
          <p:cNvSpPr/>
          <p:nvPr/>
        </p:nvSpPr>
        <p:spPr>
          <a:xfrm>
            <a:off x="5215255" y="5037455"/>
            <a:ext cx="238125" cy="167005"/>
          </a:xfrm>
          <a:prstGeom prst="flowChartExtract">
            <a:avLst/>
          </a:prstGeom>
          <a:solidFill>
            <a:srgbClr val="2E75AA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260985" y="6584315"/>
            <a:ext cx="7136765" cy="2743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  <a:buClrTx/>
              <a:buSzTx/>
              <a:buFontTx/>
            </a:pPr>
            <a:r>
              <a:rPr lang="en-US" altLang="zh-CN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* </a:t>
            </a:r>
            <a:r>
              <a:rPr lang="zh-CN" altLang="en-US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统计</a:t>
            </a:r>
            <a:r>
              <a:rPr lang="en-US" altLang="zh-CN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数据</a:t>
            </a:r>
            <a:r>
              <a:rPr lang="zh-CN" altLang="en-US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时间范围</a:t>
            </a:r>
            <a:r>
              <a:rPr lang="zh-CN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：截至</a:t>
            </a:r>
            <a:r>
              <a:rPr lang="en-US" altLang="zh-CN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4</a:t>
            </a:r>
            <a:r>
              <a:rPr lang="zh-CN" altLang="en-US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月</a:t>
            </a:r>
            <a:r>
              <a:rPr lang="en-US" altLang="zh-CN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30</a:t>
            </a:r>
            <a:r>
              <a:rPr lang="zh-CN" altLang="en-US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日</a:t>
            </a:r>
            <a:endParaRPr lang="zh-CN" altLang="en-US" sz="10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  <a:sym typeface="+mn-ea"/>
            </a:endParaRPr>
          </a:p>
        </p:txBody>
      </p:sp>
      <p:graphicFrame>
        <p:nvGraphicFramePr>
          <p:cNvPr id="8" name="图表 7"/>
          <p:cNvGraphicFramePr/>
          <p:nvPr/>
        </p:nvGraphicFramePr>
        <p:xfrm>
          <a:off x="668655" y="1386523"/>
          <a:ext cx="3149600" cy="19196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4499610" y="1386840"/>
          <a:ext cx="3143250" cy="1918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图表 8"/>
          <p:cNvGraphicFramePr/>
          <p:nvPr/>
        </p:nvGraphicFramePr>
        <p:xfrm>
          <a:off x="8302625" y="1385888"/>
          <a:ext cx="3143250" cy="19196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文本框 163"/>
          <p:cNvSpPr txBox="1"/>
          <p:nvPr/>
        </p:nvSpPr>
        <p:spPr>
          <a:xfrm>
            <a:off x="130175" y="247650"/>
            <a:ext cx="104571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二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战略指标：</a:t>
            </a:r>
            <a:r>
              <a:rPr kumimoji="0" 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驻场</a:t>
            </a:r>
            <a:r>
              <a:rPr kumimoji="0" 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客户签约</a:t>
            </a:r>
            <a:endParaRPr kumimoji="0" 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8" name="流程图: 可选过程 57"/>
          <p:cNvSpPr/>
          <p:nvPr/>
        </p:nvSpPr>
        <p:spPr>
          <a:xfrm>
            <a:off x="375920" y="1870075"/>
            <a:ext cx="5300980" cy="4701540"/>
          </a:xfrm>
          <a:prstGeom prst="flowChartAlternateProcess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7" name="直接连接符 86"/>
          <p:cNvCxnSpPr/>
          <p:nvPr/>
        </p:nvCxnSpPr>
        <p:spPr>
          <a:xfrm>
            <a:off x="920750" y="2276475"/>
            <a:ext cx="0" cy="3822700"/>
          </a:xfrm>
          <a:prstGeom prst="line">
            <a:avLst/>
          </a:prstGeom>
          <a:ln w="1905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1" name="图片 60" descr="02.10-已到期1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61365" y="2164080"/>
            <a:ext cx="318135" cy="318135"/>
          </a:xfrm>
          <a:prstGeom prst="rect">
            <a:avLst/>
          </a:prstGeom>
        </p:spPr>
      </p:pic>
      <p:grpSp>
        <p:nvGrpSpPr>
          <p:cNvPr id="65" name="组合 64"/>
          <p:cNvGrpSpPr/>
          <p:nvPr/>
        </p:nvGrpSpPr>
        <p:grpSpPr>
          <a:xfrm rot="0">
            <a:off x="715645" y="2917825"/>
            <a:ext cx="620395" cy="368300"/>
            <a:chOff x="10862" y="3173"/>
            <a:chExt cx="977" cy="580"/>
          </a:xfrm>
        </p:grpSpPr>
        <p:sp>
          <p:nvSpPr>
            <p:cNvPr id="62" name="椭圆 61"/>
            <p:cNvSpPr/>
            <p:nvPr/>
          </p:nvSpPr>
          <p:spPr>
            <a:xfrm>
              <a:off x="10934" y="3253"/>
              <a:ext cx="500" cy="5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0862" y="3173"/>
              <a:ext cx="9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5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 rot="0">
            <a:off x="715645" y="3551555"/>
            <a:ext cx="620395" cy="368300"/>
            <a:chOff x="10862" y="3173"/>
            <a:chExt cx="977" cy="580"/>
          </a:xfrm>
        </p:grpSpPr>
        <p:sp>
          <p:nvSpPr>
            <p:cNvPr id="67" name="椭圆 66"/>
            <p:cNvSpPr/>
            <p:nvPr/>
          </p:nvSpPr>
          <p:spPr>
            <a:xfrm>
              <a:off x="10934" y="3253"/>
              <a:ext cx="500" cy="5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0862" y="3173"/>
              <a:ext cx="9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6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 rot="0">
            <a:off x="705485" y="4218305"/>
            <a:ext cx="620395" cy="368300"/>
            <a:chOff x="10862" y="3173"/>
            <a:chExt cx="977" cy="580"/>
          </a:xfrm>
        </p:grpSpPr>
        <p:sp>
          <p:nvSpPr>
            <p:cNvPr id="73" name="椭圆 72"/>
            <p:cNvSpPr/>
            <p:nvPr/>
          </p:nvSpPr>
          <p:spPr>
            <a:xfrm>
              <a:off x="10934" y="3253"/>
              <a:ext cx="500" cy="5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0862" y="3173"/>
              <a:ext cx="9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9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 rot="0">
            <a:off x="648335" y="4872990"/>
            <a:ext cx="620395" cy="368300"/>
            <a:chOff x="10772" y="3173"/>
            <a:chExt cx="977" cy="580"/>
          </a:xfrm>
        </p:grpSpPr>
        <p:sp>
          <p:nvSpPr>
            <p:cNvPr id="76" name="椭圆 75"/>
            <p:cNvSpPr/>
            <p:nvPr/>
          </p:nvSpPr>
          <p:spPr>
            <a:xfrm>
              <a:off x="10934" y="3253"/>
              <a:ext cx="500" cy="5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0772" y="3173"/>
              <a:ext cx="9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11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 rot="0">
            <a:off x="656590" y="5499735"/>
            <a:ext cx="668655" cy="368300"/>
            <a:chOff x="10785" y="3173"/>
            <a:chExt cx="1053" cy="580"/>
          </a:xfrm>
        </p:grpSpPr>
        <p:sp>
          <p:nvSpPr>
            <p:cNvPr id="79" name="椭圆 78"/>
            <p:cNvSpPr/>
            <p:nvPr/>
          </p:nvSpPr>
          <p:spPr>
            <a:xfrm>
              <a:off x="10934" y="3253"/>
              <a:ext cx="500" cy="5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10785" y="3173"/>
              <a:ext cx="105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12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84" name="文本框 83"/>
          <p:cNvSpPr txBox="1"/>
          <p:nvPr/>
        </p:nvSpPr>
        <p:spPr>
          <a:xfrm>
            <a:off x="1212215" y="2107565"/>
            <a:ext cx="4119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已到期（</a:t>
            </a:r>
            <a:r>
              <a:rPr lang="en-US" altLang="zh-CN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1</a:t>
            </a:r>
            <a:r>
              <a:rPr lang="zh-CN" altLang="en-US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家）：</a:t>
            </a:r>
            <a:r>
              <a:rPr kumimoji="1"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浦发总行</a:t>
            </a:r>
            <a:endParaRPr lang="zh-CN" altLang="en-US" sz="1200" dirty="0">
              <a:solidFill>
                <a:srgbClr val="454C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预下单（</a:t>
            </a:r>
            <a:r>
              <a:rPr lang="en-US" altLang="zh-CN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2</a:t>
            </a:r>
            <a:r>
              <a:rPr lang="zh-CN" altLang="en-US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家）：</a:t>
            </a:r>
            <a:r>
              <a:rPr kumimoji="1"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南网内邮</a:t>
            </a:r>
            <a:r>
              <a:rPr kumimoji="1" lang="zh-CN" altLang="en-US" sz="900" spc="1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（外网已撤销驻场）</a:t>
            </a:r>
            <a:r>
              <a:rPr kumimoji="1"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、银河证券</a:t>
            </a:r>
            <a:endParaRPr lang="zh-CN" altLang="en-US" sz="1200" dirty="0">
              <a:solidFill>
                <a:srgbClr val="454C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212215" y="2918460"/>
            <a:ext cx="411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en-US" altLang="zh-CN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5</a:t>
            </a:r>
            <a:r>
              <a:rPr lang="zh-CN" altLang="en-US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月到期（</a:t>
            </a:r>
            <a:r>
              <a:rPr lang="en-US" altLang="zh-CN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2</a:t>
            </a:r>
            <a:r>
              <a:rPr lang="zh-CN" altLang="en-US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家）：</a:t>
            </a:r>
            <a:r>
              <a:rPr kumimoji="1"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顺丰科技</a:t>
            </a:r>
            <a:r>
              <a:rPr kumimoji="1" lang="zh-CN" altLang="en-US" sz="900" spc="1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（到期不续）</a:t>
            </a:r>
            <a:r>
              <a:rPr kumimoji="1"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、广发银行</a:t>
            </a:r>
            <a:endParaRPr lang="zh-CN" altLang="en-US" sz="1200" dirty="0">
              <a:solidFill>
                <a:srgbClr val="454C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212215" y="3551555"/>
            <a:ext cx="411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en-US" altLang="zh-CN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8</a:t>
            </a:r>
            <a:r>
              <a:rPr lang="zh-CN" altLang="en-US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月到期（</a:t>
            </a:r>
            <a:r>
              <a:rPr lang="en-US" altLang="zh-CN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1</a:t>
            </a:r>
            <a:r>
              <a:rPr lang="zh-CN" altLang="en-US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家）：</a:t>
            </a:r>
            <a:r>
              <a:rPr kumimoji="1"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兴业银行</a:t>
            </a:r>
            <a:endParaRPr lang="zh-CN" altLang="en-US" sz="1200" dirty="0">
              <a:solidFill>
                <a:srgbClr val="454C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1212215" y="4212590"/>
            <a:ext cx="411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en-US" altLang="zh-CN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9</a:t>
            </a:r>
            <a:r>
              <a:rPr lang="zh-CN" altLang="en-US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月到期（</a:t>
            </a:r>
            <a:r>
              <a:rPr lang="en-US" altLang="zh-CN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1</a:t>
            </a:r>
            <a:r>
              <a:rPr lang="zh-CN" altLang="en-US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家）：</a:t>
            </a:r>
            <a:r>
              <a:rPr kumimoji="1"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中国投资</a:t>
            </a:r>
            <a:endParaRPr lang="zh-CN" altLang="en-US" sz="1200" dirty="0">
              <a:solidFill>
                <a:srgbClr val="454C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212215" y="4872990"/>
            <a:ext cx="411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en-US" altLang="zh-CN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11</a:t>
            </a:r>
            <a:r>
              <a:rPr lang="zh-CN" altLang="en-US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月到期（</a:t>
            </a:r>
            <a:r>
              <a:rPr lang="en-US" altLang="zh-CN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2</a:t>
            </a:r>
            <a:r>
              <a:rPr lang="zh-CN" altLang="en-US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家）：</a:t>
            </a:r>
            <a:r>
              <a:rPr kumimoji="1"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平安科技、浦发卡中心</a:t>
            </a:r>
            <a:endParaRPr lang="zh-CN" altLang="en-US" sz="1200" dirty="0">
              <a:solidFill>
                <a:srgbClr val="454C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212215" y="5499735"/>
            <a:ext cx="4119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en-US" altLang="zh-CN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12</a:t>
            </a:r>
            <a:r>
              <a:rPr lang="zh-CN" altLang="en-US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月及以后到期（</a:t>
            </a:r>
            <a:r>
              <a:rPr lang="en-US" altLang="zh-CN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5</a:t>
            </a:r>
            <a:r>
              <a:rPr lang="zh-CN" altLang="en-US" sz="12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家）：</a:t>
            </a:r>
            <a:r>
              <a:rPr kumimoji="1"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中国中化、工商银行、华为、</a:t>
            </a:r>
            <a:r>
              <a:rPr kumimoji="1"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                                  </a:t>
            </a:r>
            <a:r>
              <a:rPr kumimoji="1"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 pitchFamily="34" charset="0"/>
              </a:rPr>
              <a:t>光大银行、北大医疗</a:t>
            </a:r>
            <a:endParaRPr lang="zh-CN" altLang="en-US" sz="1200" dirty="0">
              <a:solidFill>
                <a:srgbClr val="454C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124950" y="6584315"/>
            <a:ext cx="2922905" cy="273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  <a:buClrTx/>
              <a:buSzTx/>
              <a:buFontTx/>
            </a:pPr>
            <a:r>
              <a:rPr lang="en-US" altLang="zh-CN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* </a:t>
            </a:r>
            <a:r>
              <a:rPr lang="zh-CN" altLang="en-US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统计</a:t>
            </a:r>
            <a:r>
              <a:rPr lang="en-US" altLang="zh-CN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数据</a:t>
            </a:r>
            <a:r>
              <a:rPr lang="zh-CN" altLang="en-US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时间范围</a:t>
            </a:r>
            <a:r>
              <a:rPr lang="zh-CN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：截至</a:t>
            </a:r>
            <a:r>
              <a:rPr lang="en-US" altLang="zh-CN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4</a:t>
            </a:r>
            <a:r>
              <a:rPr lang="zh-CN" altLang="en-US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月</a:t>
            </a:r>
            <a:r>
              <a:rPr lang="en-US" altLang="zh-CN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30</a:t>
            </a:r>
            <a:r>
              <a:rPr lang="zh-CN" altLang="en-US" sz="100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日。</a:t>
            </a:r>
            <a:endParaRPr lang="zh-CN" altLang="en-US" sz="100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  <a:sym typeface="+mn-ea"/>
            </a:endParaRPr>
          </a:p>
        </p:txBody>
      </p:sp>
      <p:pic>
        <p:nvPicPr>
          <p:cNvPr id="45" name="图片 44" descr="0210-已到期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/>
          <a:stretch>
            <a:fillRect/>
          </a:stretch>
        </p:blipFill>
        <p:spPr>
          <a:xfrm>
            <a:off x="1043305" y="1461135"/>
            <a:ext cx="381000" cy="381000"/>
          </a:xfrm>
          <a:prstGeom prst="rect">
            <a:avLst/>
          </a:prstGeom>
        </p:spPr>
      </p:pic>
      <p:pic>
        <p:nvPicPr>
          <p:cNvPr id="56" name="图片 55" descr="02.10-正常运行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/>
          <a:stretch>
            <a:fillRect/>
          </a:stretch>
        </p:blipFill>
        <p:spPr>
          <a:xfrm>
            <a:off x="3830955" y="1400810"/>
            <a:ext cx="254635" cy="254635"/>
          </a:xfrm>
          <a:prstGeom prst="rect">
            <a:avLst/>
          </a:prstGeom>
        </p:spPr>
      </p:pic>
      <p:pic>
        <p:nvPicPr>
          <p:cNvPr id="8" name="图片 7" descr="02.10-已到期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1205" y="2256790"/>
            <a:ext cx="321310" cy="32131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022975" y="865505"/>
            <a:ext cx="3279775" cy="565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fontAlgn="auto">
              <a:lnSpc>
                <a:spcPct val="150000"/>
              </a:lnSpc>
              <a:buClr>
                <a:srgbClr val="454C54"/>
              </a:buClr>
              <a:buFont typeface="Wingdings" panose="05000000000000000000" charset="0"/>
              <a:buChar char="n"/>
            </a:pPr>
            <a:r>
              <a:rPr lang="en-US" altLang="zh-CN" sz="14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26</a:t>
            </a:r>
            <a:r>
              <a:rPr lang="zh-CN" altLang="en-US" sz="14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年购买驻场客户签约情况：</a:t>
            </a:r>
            <a:endParaRPr lang="zh-CN" altLang="en-US" sz="1400" b="1" dirty="0">
              <a:solidFill>
                <a:srgbClr val="454C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73775" y="3872230"/>
            <a:ext cx="3147695" cy="413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fontAlgn="auto">
              <a:lnSpc>
                <a:spcPct val="150000"/>
              </a:lnSpc>
              <a:buClr>
                <a:srgbClr val="454C54"/>
              </a:buClr>
              <a:buFont typeface="Wingdings" panose="05000000000000000000" charset="0"/>
              <a:buChar char="n"/>
            </a:pPr>
            <a:r>
              <a:rPr lang="zh-CN" altLang="en-US" sz="14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驻场区域人员分布总览：</a:t>
            </a:r>
            <a:endParaRPr lang="zh-CN" altLang="en-US" sz="1400" b="1" dirty="0">
              <a:solidFill>
                <a:srgbClr val="454C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7"/>
            </p:custDataLst>
          </p:nvPr>
        </p:nvGraphicFramePr>
        <p:xfrm>
          <a:off x="6178550" y="4421505"/>
          <a:ext cx="5548630" cy="1960880"/>
        </p:xfrm>
        <a:graphic>
          <a:graphicData uri="http://schemas.openxmlformats.org/drawingml/2006/table">
            <a:tbl>
              <a:tblPr firstRow="1">
                <a:tableStyleId>{A056680C-F290-4A41-9E4B-4E97E9D86F54}</a:tableStyleId>
              </a:tblPr>
              <a:tblGrid>
                <a:gridCol w="2719705"/>
                <a:gridCol w="2828925"/>
              </a:tblGrid>
              <a:tr h="42862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200" spc="120">
                          <a:solidFill>
                            <a:srgbClr val="18355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归属区域</a:t>
                      </a:r>
                      <a:endParaRPr lang="zh-CN" altLang="en-US" sz="1200" spc="120">
                        <a:solidFill>
                          <a:srgbClr val="18355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25400" marB="25400" anchor="ctr" anchorCtr="1"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200" spc="120">
                          <a:solidFill>
                            <a:srgbClr val="18355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驻场人数</a:t>
                      </a:r>
                      <a:endParaRPr lang="zh-CN" altLang="en-US" sz="1200" spc="120">
                        <a:solidFill>
                          <a:srgbClr val="18355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25400" marB="25400" anchor="ctr" anchorCtr="1">
                    <a:solidFill>
                      <a:srgbClr val="F8FAFC"/>
                    </a:solidFill>
                  </a:tcPr>
                </a:tc>
              </a:tr>
              <a:tr h="38227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200">
                          <a:solidFill>
                            <a:srgbClr val="426A9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华北区驻场</a:t>
                      </a:r>
                      <a:endParaRPr lang="zh-CN" altLang="en-US" sz="1200">
                        <a:solidFill>
                          <a:srgbClr val="426A9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25400" marB="25400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200">
                        <a:solidFill>
                          <a:srgbClr val="426A9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25400" marB="25400" anchor="ctr" anchorCtr="1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200">
                          <a:solidFill>
                            <a:srgbClr val="426A9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华南区驻场</a:t>
                      </a:r>
                      <a:endParaRPr lang="en-US" altLang="zh-CN" sz="1200">
                        <a:solidFill>
                          <a:srgbClr val="426A9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0" marR="254000" marT="25400" marB="25400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200">
                        <a:solidFill>
                          <a:srgbClr val="426A9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25400" marB="25400" anchor="ctr" anchorCtr="1">
                    <a:solidFill>
                      <a:schemeClr val="bg1"/>
                    </a:solidFill>
                  </a:tcPr>
                </a:tc>
              </a:tr>
              <a:tr h="3829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200">
                          <a:solidFill>
                            <a:srgbClr val="426A9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华东区驻场</a:t>
                      </a:r>
                      <a:endParaRPr lang="zh-CN" altLang="en-US" sz="1200">
                        <a:solidFill>
                          <a:srgbClr val="426A9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25400" marB="25400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200">
                        <a:solidFill>
                          <a:srgbClr val="426A9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25400" marB="25400" anchor="ctr" anchorCtr="1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200" b="1" spc="120">
                          <a:solidFill>
                            <a:srgbClr val="18355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总计</a:t>
                      </a:r>
                      <a:endParaRPr lang="zh-CN" altLang="en-US" sz="1200" b="1" spc="120">
                        <a:solidFill>
                          <a:srgbClr val="18355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25400" marB="25400" anchor="ctr" anchorCtr="1"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200" b="1" spc="120">
                          <a:solidFill>
                            <a:srgbClr val="18355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r>
                        <a:rPr lang="zh-CN" altLang="en-US" sz="1200" b="1" spc="120">
                          <a:solidFill>
                            <a:srgbClr val="18355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</a:t>
                      </a:r>
                      <a:endParaRPr lang="zh-CN" altLang="en-US" sz="1200" b="1" spc="120">
                        <a:solidFill>
                          <a:srgbClr val="18355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25400" marB="25400" anchor="ctr" anchorCtr="1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9" name="流程图: 终止 38"/>
          <p:cNvSpPr/>
          <p:nvPr/>
        </p:nvSpPr>
        <p:spPr>
          <a:xfrm>
            <a:off x="9941560" y="4899025"/>
            <a:ext cx="737235" cy="285750"/>
          </a:xfrm>
          <a:prstGeom prst="flowChartTerminator">
            <a:avLst/>
          </a:prstGeom>
          <a:solidFill>
            <a:srgbClr val="EBF4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rgbClr val="3082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200" b="1">
                <a:solidFill>
                  <a:srgbClr val="3082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</a:t>
            </a:r>
            <a:endParaRPr lang="zh-CN" altLang="en-US" sz="1200" b="1">
              <a:solidFill>
                <a:srgbClr val="3082D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流程图: 终止 8"/>
          <p:cNvSpPr/>
          <p:nvPr/>
        </p:nvSpPr>
        <p:spPr>
          <a:xfrm>
            <a:off x="9941560" y="5286375"/>
            <a:ext cx="737235" cy="285750"/>
          </a:xfrm>
          <a:prstGeom prst="flowChartTerminator">
            <a:avLst/>
          </a:prstGeom>
          <a:solidFill>
            <a:srgbClr val="EBF4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rgbClr val="3082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200" b="1">
                <a:solidFill>
                  <a:srgbClr val="3082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</a:t>
            </a:r>
            <a:endParaRPr lang="zh-CN" altLang="en-US" sz="1200" b="1">
              <a:solidFill>
                <a:srgbClr val="3082D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流程图: 终止 40"/>
          <p:cNvSpPr/>
          <p:nvPr/>
        </p:nvSpPr>
        <p:spPr>
          <a:xfrm>
            <a:off x="9960610" y="5664835"/>
            <a:ext cx="737235" cy="285750"/>
          </a:xfrm>
          <a:prstGeom prst="flowChartTerminator">
            <a:avLst/>
          </a:prstGeom>
          <a:solidFill>
            <a:srgbClr val="EBF4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rgbClr val="3082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200" b="1">
                <a:solidFill>
                  <a:srgbClr val="3082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</a:t>
            </a:r>
            <a:endParaRPr lang="zh-CN" altLang="en-US" sz="1200" b="1">
              <a:solidFill>
                <a:srgbClr val="3082D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圆角矩形标注 9"/>
          <p:cNvSpPr/>
          <p:nvPr/>
        </p:nvSpPr>
        <p:spPr>
          <a:xfrm>
            <a:off x="9124950" y="1461135"/>
            <a:ext cx="2711450" cy="2048510"/>
          </a:xfrm>
          <a:prstGeom prst="wedgeRoundRectCallout">
            <a:avLst>
              <a:gd name="adj1" fmla="val -55995"/>
              <a:gd name="adj2" fmla="val 39142"/>
              <a:gd name="adj3" fmla="val 16667"/>
            </a:avLst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fontAlgn="auto">
              <a:lnSpc>
                <a:spcPct val="150000"/>
              </a:lnSpc>
              <a:buClr>
                <a:srgbClr val="1E2535"/>
              </a:buClr>
              <a:buFont typeface="Wingdings" panose="05000000000000000000" charset="0"/>
              <a:buChar char="l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有购买驻场客户数4个，总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CEO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合同金额622.9万,客均金额155.7万。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rgbClr val="1E2535"/>
              </a:buClr>
              <a:buFont typeface="Wingdings" panose="05000000000000000000" charset="0"/>
              <a:buChar char="l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驻场总结算价189.0万，驻场结算价占比30.3%。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2" name="图表 11"/>
          <p:cNvGraphicFramePr/>
          <p:nvPr/>
        </p:nvGraphicFramePr>
        <p:xfrm>
          <a:off x="6073458" y="1430655"/>
          <a:ext cx="2794635" cy="2048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37" name="组合 36"/>
          <p:cNvGrpSpPr/>
          <p:nvPr/>
        </p:nvGrpSpPr>
        <p:grpSpPr>
          <a:xfrm>
            <a:off x="3483610" y="692150"/>
            <a:ext cx="2053590" cy="1050925"/>
            <a:chOff x="5826" y="1090"/>
            <a:chExt cx="3234" cy="1655"/>
          </a:xfrm>
        </p:grpSpPr>
        <p:sp>
          <p:nvSpPr>
            <p:cNvPr id="52" name="流程图: 可选过程 51"/>
            <p:cNvSpPr/>
            <p:nvPr>
              <p:custDataLst>
                <p:tags r:id="rId8"/>
              </p:custDataLst>
            </p:nvPr>
          </p:nvSpPr>
          <p:spPr>
            <a:xfrm>
              <a:off x="5826" y="1363"/>
              <a:ext cx="3234" cy="1382"/>
            </a:xfrm>
            <a:prstGeom prst="flowChartAlternateProcess">
              <a:avLst/>
            </a:pr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文本框 52"/>
            <p:cNvSpPr txBox="1"/>
            <p:nvPr>
              <p:custDataLst>
                <p:tags r:id="rId9"/>
              </p:custDataLst>
            </p:nvPr>
          </p:nvSpPr>
          <p:spPr>
            <a:xfrm>
              <a:off x="6774" y="1090"/>
              <a:ext cx="1560" cy="10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algn="ctr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r>
                <a:rPr lang="en-US" altLang="zh-CN" sz="2800" b="1" dirty="0">
                  <a:solidFill>
                    <a:srgbClr val="0056B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11 </a:t>
              </a:r>
              <a:r>
                <a:rPr lang="zh-CN" altLang="en-US" sz="1100" dirty="0">
                  <a:solidFill>
                    <a:srgbClr val="454C5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家</a:t>
              </a:r>
              <a:endParaRPr lang="zh-CN" altLang="en-US" sz="1100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54" name="文本框 53"/>
            <p:cNvSpPr txBox="1"/>
            <p:nvPr>
              <p:custDataLst>
                <p:tags r:id="rId10"/>
              </p:custDataLst>
            </p:nvPr>
          </p:nvSpPr>
          <p:spPr>
            <a:xfrm>
              <a:off x="6774" y="2110"/>
              <a:ext cx="1963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r>
                <a:rPr lang="zh-CN" altLang="en-US" sz="1100" b="1" dirty="0">
                  <a:solidFill>
                    <a:srgbClr val="454C5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正常驻场运行</a:t>
              </a:r>
              <a:endParaRPr lang="zh-CN" altLang="en-US" sz="11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pic>
          <p:nvPicPr>
            <p:cNvPr id="13" name="图片 12" descr="02.10-正常运行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373" y="2206"/>
              <a:ext cx="401" cy="401"/>
            </a:xfrm>
            <a:prstGeom prst="rect">
              <a:avLst/>
            </a:prstGeom>
          </p:spPr>
        </p:pic>
      </p:grpSp>
      <p:grpSp>
        <p:nvGrpSpPr>
          <p:cNvPr id="36" name="组合 35"/>
          <p:cNvGrpSpPr/>
          <p:nvPr/>
        </p:nvGrpSpPr>
        <p:grpSpPr>
          <a:xfrm>
            <a:off x="514350" y="691515"/>
            <a:ext cx="2053590" cy="1051560"/>
            <a:chOff x="1150" y="1089"/>
            <a:chExt cx="3234" cy="1656"/>
          </a:xfrm>
        </p:grpSpPr>
        <p:sp>
          <p:nvSpPr>
            <p:cNvPr id="14" name="流程图: 可选过程 13"/>
            <p:cNvSpPr/>
            <p:nvPr>
              <p:custDataLst>
                <p:tags r:id="rId13"/>
              </p:custDataLst>
            </p:nvPr>
          </p:nvSpPr>
          <p:spPr>
            <a:xfrm>
              <a:off x="1150" y="1363"/>
              <a:ext cx="3234" cy="1382"/>
            </a:xfrm>
            <a:prstGeom prst="flowChartAlternateProcess">
              <a:avLst/>
            </a:pr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>
              <p:custDataLst>
                <p:tags r:id="rId14"/>
              </p:custDataLst>
            </p:nvPr>
          </p:nvSpPr>
          <p:spPr>
            <a:xfrm>
              <a:off x="2098" y="1089"/>
              <a:ext cx="1070" cy="10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algn="ctr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r>
                <a:rPr lang="en-US" altLang="zh-CN" sz="2800" b="1" dirty="0">
                  <a:solidFill>
                    <a:srgbClr val="0056B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sz="1100" dirty="0">
                  <a:solidFill>
                    <a:srgbClr val="454C5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家</a:t>
              </a:r>
              <a:endParaRPr lang="zh-CN" altLang="en-US" sz="1100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15"/>
              </p:custDataLst>
            </p:nvPr>
          </p:nvSpPr>
          <p:spPr>
            <a:xfrm>
              <a:off x="2098" y="2110"/>
              <a:ext cx="1963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r>
                <a:rPr lang="zh-CN" altLang="en-US" sz="1100" b="1" dirty="0">
                  <a:solidFill>
                    <a:srgbClr val="454C5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已到期</a:t>
              </a:r>
              <a:r>
                <a:rPr lang="en-US" altLang="zh-CN" sz="1100" b="1" dirty="0">
                  <a:solidFill>
                    <a:srgbClr val="454C5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/</a:t>
              </a:r>
              <a:r>
                <a:rPr lang="zh-CN" altLang="en-US" sz="1100" b="1" dirty="0">
                  <a:solidFill>
                    <a:srgbClr val="454C5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预下单</a:t>
              </a:r>
              <a:endParaRPr lang="zh-CN" altLang="en-US" sz="1100" b="1" dirty="0">
                <a:solidFill>
                  <a:srgbClr val="454C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pic>
          <p:nvPicPr>
            <p:cNvPr id="15" name="图片 14" descr="02.10-已到期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603" y="2082"/>
              <a:ext cx="574" cy="5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文本框 163"/>
          <p:cNvSpPr txBox="1"/>
          <p:nvPr/>
        </p:nvSpPr>
        <p:spPr>
          <a:xfrm>
            <a:off x="130175" y="247650"/>
            <a:ext cx="104571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二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战略指标：</a:t>
            </a:r>
            <a:r>
              <a:rPr kumimoji="0" 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cs typeface="+mn-cs"/>
              </a:rPr>
              <a:t>售后服务效率提升</a:t>
            </a:r>
            <a:endParaRPr kumimoji="0" 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 descr="7b0a202020202262756c6c6574223a20227b5c2263617465676f727949645c223a5c225c222c5c2274656d706c61746549645c223a32303233313635357d220a7d0a"/>
          <p:cNvGraphicFramePr/>
          <p:nvPr>
            <p:custDataLst>
              <p:tags r:id="rId3"/>
            </p:custDataLst>
          </p:nvPr>
        </p:nvGraphicFramePr>
        <p:xfrm>
          <a:off x="229870" y="922020"/>
          <a:ext cx="11497945" cy="2210435"/>
        </p:xfrm>
        <a:graphic>
          <a:graphicData uri="http://schemas.openxmlformats.org/drawingml/2006/table">
            <a:tbl>
              <a:tblPr firstRow="1" bandRow="1">
                <a:tableStyleId>{4C0A49CE-6175-4766-9C39-39BFCF16DFF2}</a:tableStyleId>
              </a:tblPr>
              <a:tblGrid>
                <a:gridCol w="934720"/>
                <a:gridCol w="4439920"/>
                <a:gridCol w="6123305"/>
              </a:tblGrid>
              <a:tr h="33401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达成标记</a:t>
                      </a:r>
                      <a:endParaRPr lang="zh-CN" altLang="en-US" sz="1200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>
                    <a:solidFill>
                      <a:srgbClr val="E5EC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战略指标目标值</a:t>
                      </a:r>
                      <a:endParaRPr lang="zh-CN" altLang="en-US" sz="1200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>
                    <a:solidFill>
                      <a:srgbClr val="E5EC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战略指标达成情况</a:t>
                      </a:r>
                      <a:endParaRPr lang="zh-CN" altLang="en-US" sz="1200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>
                    <a:solidFill>
                      <a:srgbClr val="E5ECFF"/>
                    </a:solidFill>
                  </a:tcPr>
                </a:tc>
              </a:tr>
              <a:tr h="3683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×未完成</a:t>
                      </a:r>
                      <a:endParaRPr lang="zh-CN" altLang="en-US" sz="1000" spc="60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全年服务满意度</a:t>
                      </a:r>
                      <a:r>
                        <a:rPr lang="en-US" altLang="zh-CN" sz="100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NPS≥45%</a:t>
                      </a:r>
                      <a:endParaRPr lang="en-US" altLang="zh-CN" sz="1000" spc="6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 fontAlgn="auto">
                        <a:spcBef>
                          <a:spcPts val="300"/>
                        </a:spcBef>
                      </a:pP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26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Q1NPS 32.88%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，比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25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Q4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下降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1.53%</a:t>
                      </a:r>
                      <a:endParaRPr lang="en-US" altLang="zh-CN" sz="1000" b="0" spc="6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</a:tr>
              <a:tr h="3683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Wingdings" panose="05000000000000000000" charset="0"/>
                        </a:rPr>
                        <a:t></a:t>
                      </a:r>
                      <a:r>
                        <a:rPr lang="zh-CN" altLang="en-US" sz="1000" spc="6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完成</a:t>
                      </a:r>
                      <a:endParaRPr lang="zh-CN" altLang="en-US" sz="1000" b="0" spc="6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rPr>
                        <a:t>超时占比：</a:t>
                      </a: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rPr>
                        <a:t>P1 5%</a:t>
                      </a: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rPr>
                        <a:t>以内；标准</a:t>
                      </a: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rPr>
                        <a:t> P2~P4 10%</a:t>
                      </a: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rPr>
                        <a:t>；白金</a:t>
                      </a: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rPr>
                        <a:t>/VIP P2~P4 10%</a:t>
                      </a:r>
                      <a:endParaRPr lang="en-US" altLang="zh-CN" sz="1000" b="0" spc="6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 fontAlgn="auto">
                        <a:spcBef>
                          <a:spcPts val="300"/>
                        </a:spcBef>
                        <a:buNone/>
                      </a:pP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响应超时占比（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月）</a:t>
                      </a:r>
                      <a:endParaRPr lang="zh-CN" altLang="en-US" sz="1000" b="0" spc="6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 fontAlgn="auto">
                        <a:spcBef>
                          <a:spcPts val="300"/>
                        </a:spcBef>
                        <a:buNone/>
                      </a:pP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P1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：邮件及企微单响应＞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1h 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无，占比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0%</a:t>
                      </a:r>
                      <a:endParaRPr lang="en-US" altLang="zh-CN" sz="1000" b="0" spc="6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 fontAlgn="auto">
                        <a:spcBef>
                          <a:spcPts val="300"/>
                        </a:spcBef>
                        <a:buNone/>
                      </a:pP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P2~P4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：邮件来源工单响应＞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4h 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占比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2.02%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，其中</a:t>
                      </a:r>
                      <a:r>
                        <a:rPr lang="zh-CN" altLang="en-US" sz="1000" b="1" spc="6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工作日超时占比</a:t>
                      </a:r>
                      <a:r>
                        <a:rPr lang="en-US" altLang="zh-CN" sz="1000" b="1" spc="6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1.71%</a:t>
                      </a:r>
                      <a:endParaRPr lang="en-US" altLang="zh-CN" sz="1000" b="1" spc="60" dirty="0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 fontAlgn="auto">
                        <a:spcBef>
                          <a:spcPts val="300"/>
                        </a:spcBef>
                        <a:buNone/>
                      </a:pP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企微响应：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仅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例超时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4h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，暂未发现响应超过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8h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</a:t>
                      </a:r>
                      <a:r>
                        <a:rPr lang="zh-CN" altLang="en-US" sz="1000" b="1" spc="6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客服未回复主动关闭或网络原因会话占比为</a:t>
                      </a:r>
                      <a:r>
                        <a:rPr lang="en-US" altLang="zh-CN" sz="1000" b="1" spc="6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0.07%</a:t>
                      </a:r>
                      <a:endParaRPr lang="en-US" altLang="zh-CN" sz="1000" b="1" spc="60" dirty="0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</a:tr>
              <a:tr h="3683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spc="6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Wingdings" panose="05000000000000000000" charset="0"/>
                        </a:rPr>
                        <a:t></a:t>
                      </a:r>
                      <a:r>
                        <a:rPr lang="zh-CN" altLang="en-US" sz="1000" spc="6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完成</a:t>
                      </a:r>
                      <a:endParaRPr lang="zh-CN" altLang="en-US" sz="1000" spc="60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P1P2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客均工单量同比减低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5%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；全体工单量同比降低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5%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；工单重开率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8%</a:t>
                      </a:r>
                      <a:endParaRPr lang="en-US" altLang="zh-CN" sz="1000" b="0" spc="6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  <a:tc>
                  <a:txBody>
                    <a:bodyPr/>
                    <a:p>
                      <a:pPr indent="0" algn="l" fontAlgn="auto">
                        <a:spcBef>
                          <a:spcPts val="300"/>
                        </a:spcBef>
                        <a:buNone/>
                      </a:pP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P1P2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工单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80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单，客均单量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0.034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单，</a:t>
                      </a:r>
                      <a:r>
                        <a:rPr lang="zh-CN" altLang="en-US" sz="1000" b="1" spc="6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同比降低</a:t>
                      </a:r>
                      <a:r>
                        <a:rPr lang="en-US" altLang="zh-CN" sz="1000" b="1" spc="6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23.09%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2025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年同期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P1P2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工单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96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单，客均单量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0.045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单）；</a:t>
                      </a:r>
                      <a:endParaRPr lang="en-US" altLang="zh-CN" sz="1000" b="0" spc="6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 fontAlgn="auto">
                        <a:spcBef>
                          <a:spcPts val="300"/>
                        </a:spcBef>
                        <a:buNone/>
                      </a:pP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、全体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CS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工单量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6973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个，</a:t>
                      </a:r>
                      <a:r>
                        <a:rPr lang="zh-CN" altLang="en-US" sz="1000" b="1" spc="6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同比降低</a:t>
                      </a:r>
                      <a:r>
                        <a:rPr lang="en-US" altLang="zh-CN" sz="1000" b="1" spc="6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28.97%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2025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年同期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9817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个）；</a:t>
                      </a:r>
                      <a:endParaRPr lang="en-US" altLang="zh-CN" sz="1000" b="0" spc="6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 fontAlgn="auto">
                        <a:spcBef>
                          <a:spcPts val="300"/>
                        </a:spcBef>
                        <a:buNone/>
                      </a:pP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CS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工单重开率</a:t>
                      </a:r>
                      <a:r>
                        <a:rPr lang="en-US" altLang="zh-CN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1.17%</a:t>
                      </a:r>
                      <a:r>
                        <a:rPr lang="zh-CN" altLang="en-US" sz="1000" b="0" spc="6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</a:t>
                      </a:r>
                      <a:endParaRPr lang="zh-CN" altLang="en-US" sz="1000" b="0" spc="6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7950" marR="107950" marT="63500" marB="63500" anchor="ctr" anchorCtr="0"/>
                </a:tc>
              </a:tr>
            </a:tbl>
          </a:graphicData>
        </a:graphic>
      </p:graphicFrame>
      <p:graphicFrame>
        <p:nvGraphicFramePr>
          <p:cNvPr id="20" name="Chart 2"/>
          <p:cNvGraphicFramePr/>
          <p:nvPr/>
        </p:nvGraphicFramePr>
        <p:xfrm>
          <a:off x="462280" y="3573780"/>
          <a:ext cx="5062220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Rectangle: Rounded Corners 10"/>
          <p:cNvSpPr/>
          <p:nvPr/>
        </p:nvSpPr>
        <p:spPr>
          <a:xfrm>
            <a:off x="5677907" y="3744084"/>
            <a:ext cx="2546581" cy="2176427"/>
          </a:xfrm>
          <a:prstGeom prst="roundRect">
            <a:avLst>
              <a:gd name="adj" fmla="val 0"/>
            </a:avLst>
          </a:prstGeom>
          <a:solidFill>
            <a:srgbClr val="0044C8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en-ID" sz="178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4" name="TextBox 8"/>
          <p:cNvSpPr txBox="1"/>
          <p:nvPr/>
        </p:nvSpPr>
        <p:spPr>
          <a:xfrm>
            <a:off x="5787567" y="3905358"/>
            <a:ext cx="2327506" cy="366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85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客户整体服务满意度</a:t>
            </a:r>
            <a:endParaRPr lang="zh-CN" altLang="en-US" sz="1785" b="1" dirty="0" err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3" name="TextBox 7"/>
          <p:cNvSpPr txBox="1"/>
          <p:nvPr/>
        </p:nvSpPr>
        <p:spPr>
          <a:xfrm>
            <a:off x="5835252" y="4269533"/>
            <a:ext cx="2260718" cy="695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90000"/>
              </a:lnSpc>
            </a:pPr>
            <a:r>
              <a:rPr lang="en-US" sz="436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32.88%</a:t>
            </a:r>
            <a:endParaRPr lang="en-US" sz="436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TextBox 9"/>
          <p:cNvSpPr txBox="1"/>
          <p:nvPr/>
        </p:nvSpPr>
        <p:spPr>
          <a:xfrm>
            <a:off x="5927924" y="4918088"/>
            <a:ext cx="2060517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ID" sz="139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</a:t>
            </a:r>
            <a:r>
              <a:rPr lang="en-US" altLang="zh-CN" sz="139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</a:t>
            </a:r>
            <a:r>
              <a:rPr lang="zh-CN" altLang="en-US" sz="139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139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Q4</a:t>
            </a:r>
            <a:r>
              <a:rPr lang="zh-CN" sz="139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下降</a:t>
            </a:r>
            <a:r>
              <a:rPr lang="en-US" altLang="zh-CN" sz="139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1.53</a:t>
            </a:r>
            <a:r>
              <a:rPr lang="en-US" altLang="zh-CN" sz="139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%</a:t>
            </a:r>
            <a:endParaRPr lang="en-ID" sz="139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TextBox 7"/>
          <p:cNvSpPr txBox="1"/>
          <p:nvPr/>
        </p:nvSpPr>
        <p:spPr>
          <a:xfrm>
            <a:off x="5842812" y="5400523"/>
            <a:ext cx="2260718" cy="366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90000"/>
              </a:lnSpc>
            </a:pPr>
            <a:r>
              <a:rPr lang="en-US" sz="198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51.2%</a:t>
            </a:r>
            <a:r>
              <a:rPr lang="zh-CN" altLang="en-US" sz="198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（初始分）</a:t>
            </a:r>
            <a:endParaRPr lang="zh-CN" altLang="en-US" sz="198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8224520" y="3743960"/>
          <a:ext cx="3804285" cy="2312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直接连接符 4"/>
          <p:cNvCxnSpPr/>
          <p:nvPr/>
        </p:nvCxnSpPr>
        <p:spPr>
          <a:xfrm flipH="1">
            <a:off x="11108690" y="5400675"/>
            <a:ext cx="210820" cy="581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672320" y="5982335"/>
            <a:ext cx="2055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</a:t>
            </a:r>
            <a:r>
              <a:rPr lang="zh-CN" altLang="en-US" sz="1200"/>
              <a:t>、紧急问题插队通路；</a:t>
            </a:r>
            <a:endParaRPr lang="zh-CN" altLang="en-US" sz="1200"/>
          </a:p>
          <a:p>
            <a:r>
              <a:rPr lang="en-US" altLang="zh-CN" sz="1200"/>
              <a:t>2</a:t>
            </a:r>
            <a:r>
              <a:rPr lang="zh-CN" altLang="en-US" sz="1200"/>
              <a:t>、</a:t>
            </a:r>
            <a:r>
              <a:rPr lang="en-US" altLang="zh-CN" sz="1200"/>
              <a:t>VIP</a:t>
            </a:r>
            <a:r>
              <a:rPr lang="zh-CN" altLang="en-US" sz="1200"/>
              <a:t>客户优先受理；</a:t>
            </a:r>
            <a:endParaRPr lang="zh-CN" alt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6"/>
          <p:cNvSpPr txBox="1"/>
          <p:nvPr/>
        </p:nvSpPr>
        <p:spPr>
          <a:xfrm>
            <a:off x="311784" y="325756"/>
            <a:ext cx="9012877" cy="42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微软雅黑" panose="020B0503020204020204" pitchFamily="34" charset="-122"/>
              </a:rPr>
              <a:t>二、关键数据：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在服客户数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13841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，其中自建客户数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1551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95580" y="1018540"/>
            <a:ext cx="11054080" cy="2122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2400" b="1" u="sng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在服客户数为</a:t>
            </a:r>
            <a:r>
              <a:rPr lang="en-US" altLang="zh-CN" sz="3600" b="1" u="sng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13841</a:t>
            </a:r>
            <a:r>
              <a:rPr lang="zh-CN" altLang="en-US" sz="2800" b="1" u="sng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buFont typeface="Wingdings" panose="05000000000000000000" charset="0"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其中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自建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同比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同期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增幅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4.23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%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年同期：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1488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buFont typeface="Wingdings" panose="05000000000000000000" charset="0"/>
            </a:pP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数据来源：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数据导出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CRM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有合同且在服客户数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+RSS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在服客户</a:t>
            </a:r>
            <a:endParaRPr lang="zh-CN" altLang="en-US" sz="1200" b="1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缺角矩形 4"/>
          <p:cNvSpPr/>
          <p:nvPr>
            <p:custDataLst>
              <p:tags r:id="rId3"/>
            </p:custDataLst>
          </p:nvPr>
        </p:nvSpPr>
        <p:spPr>
          <a:xfrm>
            <a:off x="10129520" y="1154430"/>
            <a:ext cx="1654810" cy="1000125"/>
          </a:xfrm>
          <a:prstGeom prst="plaque">
            <a:avLst>
              <a:gd name="adj" fmla="val 4835"/>
            </a:avLst>
          </a:prstGeom>
          <a:solidFill>
            <a:schemeClr val="bg1"/>
          </a:solidFill>
          <a:ln>
            <a:solidFill>
              <a:srgbClr val="A2B3BE"/>
            </a:solidFill>
          </a:ln>
          <a:effectLst>
            <a:outerShdw blurRad="279400" dist="114300" dir="5400000" algn="t" rotWithShape="0">
              <a:srgbClr val="1D777D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0129520" y="1249045"/>
            <a:ext cx="1758315" cy="416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B728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2010600030101010101" pitchFamily="18" charset="-122"/>
              </a:rPr>
              <a:t>12046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3B72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B" panose="02010600030101010101" pitchFamily="18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0386060" y="1720215"/>
            <a:ext cx="1374775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697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专业版客户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4F697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缺角矩形 8"/>
          <p:cNvSpPr/>
          <p:nvPr>
            <p:custDataLst>
              <p:tags r:id="rId6"/>
            </p:custDataLst>
          </p:nvPr>
        </p:nvSpPr>
        <p:spPr>
          <a:xfrm>
            <a:off x="8249285" y="1154430"/>
            <a:ext cx="1654810" cy="1000125"/>
          </a:xfrm>
          <a:prstGeom prst="plaque">
            <a:avLst>
              <a:gd name="adj" fmla="val 4835"/>
            </a:avLst>
          </a:prstGeom>
          <a:solidFill>
            <a:schemeClr val="bg1"/>
          </a:solidFill>
          <a:ln>
            <a:solidFill>
              <a:srgbClr val="A2B3BE"/>
            </a:solidFill>
          </a:ln>
          <a:effectLst>
            <a:outerShdw blurRad="279400" dist="114300" dir="5400000" algn="t" rotWithShape="0">
              <a:srgbClr val="1D777D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8249285" y="1249045"/>
            <a:ext cx="1758315" cy="416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B728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2010600030101010101" pitchFamily="18" charset="-122"/>
              </a:rPr>
              <a:t>9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3B72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B" panose="02010600030101010101" pitchFamily="18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8505825" y="1720215"/>
            <a:ext cx="1374775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697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独享版客户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4F697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缺角矩形 12"/>
          <p:cNvSpPr/>
          <p:nvPr>
            <p:custDataLst>
              <p:tags r:id="rId9"/>
            </p:custDataLst>
          </p:nvPr>
        </p:nvSpPr>
        <p:spPr>
          <a:xfrm>
            <a:off x="6397625" y="1154430"/>
            <a:ext cx="1654810" cy="1000125"/>
          </a:xfrm>
          <a:prstGeom prst="plaque">
            <a:avLst>
              <a:gd name="adj" fmla="val 4835"/>
            </a:avLst>
          </a:prstGeom>
          <a:solidFill>
            <a:schemeClr val="bg1"/>
          </a:solidFill>
          <a:ln>
            <a:solidFill>
              <a:srgbClr val="A2B3BE"/>
            </a:solidFill>
          </a:ln>
          <a:effectLst>
            <a:outerShdw blurRad="279400" dist="114300" dir="5400000" algn="t" rotWithShape="0">
              <a:srgbClr val="1D777D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6397625" y="1249045"/>
            <a:ext cx="1758315" cy="416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B728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2010600030101010101" pitchFamily="18" charset="-122"/>
              </a:rPr>
              <a:t>235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3B72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B" panose="02010600030101010101" pitchFamily="18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6654165" y="1720215"/>
            <a:ext cx="1374775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697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专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697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享版客户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4F697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缺角矩形 15"/>
          <p:cNvSpPr/>
          <p:nvPr>
            <p:custDataLst>
              <p:tags r:id="rId12"/>
            </p:custDataLst>
          </p:nvPr>
        </p:nvSpPr>
        <p:spPr>
          <a:xfrm>
            <a:off x="4517390" y="1154430"/>
            <a:ext cx="1654810" cy="1000125"/>
          </a:xfrm>
          <a:prstGeom prst="plaque">
            <a:avLst>
              <a:gd name="adj" fmla="val 4835"/>
            </a:avLst>
          </a:prstGeom>
          <a:solidFill>
            <a:schemeClr val="bg1"/>
          </a:solidFill>
          <a:ln>
            <a:solidFill>
              <a:srgbClr val="A2B3BE"/>
            </a:solidFill>
          </a:ln>
          <a:effectLst>
            <a:outerShdw blurRad="279400" dist="114300" dir="5400000" algn="t" rotWithShape="0">
              <a:srgbClr val="1D777D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4442460" y="1249045"/>
            <a:ext cx="1758315" cy="416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B728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2010600030101010101" pitchFamily="18" charset="-122"/>
              </a:rPr>
              <a:t>1551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3B72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B" panose="02010600030101010101" pitchFamily="18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4657725" y="1720215"/>
            <a:ext cx="1374775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697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自建客户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4F697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9" name="图表 18"/>
          <p:cNvGraphicFramePr/>
          <p:nvPr/>
        </p:nvGraphicFramePr>
        <p:xfrm>
          <a:off x="666115" y="3141345"/>
          <a:ext cx="11117580" cy="2915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6"/>
          <p:cNvSpPr txBox="1"/>
          <p:nvPr/>
        </p:nvSpPr>
        <p:spPr>
          <a:xfrm>
            <a:off x="311785" y="325755"/>
            <a:ext cx="117824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微软雅黑" panose="020B0503020204020204" pitchFamily="34" charset="-122"/>
              </a:rPr>
              <a:t>二、关键数据：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非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KA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项目平均交付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损益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人天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（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同比25年增长0.7%，同比24年增长6.6%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）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1780" y="6302375"/>
            <a:ext cx="116287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200000"/>
              </a:lnSpc>
              <a:buClr>
                <a:srgbClr val="00B0F0"/>
              </a:buClr>
              <a:buFont typeface="Wingdings" panose="05000000000000000000" pitchFamily="2" charset="2"/>
              <a:buNone/>
            </a:pP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* 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统计时间区间：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2024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年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1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月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1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日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-2026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年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4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月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30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日，同比日期为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1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月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-4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月，按销售部门归属分公司维度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统计。</a:t>
            </a:r>
            <a:endParaRPr lang="zh-CN" altLang="en-US" sz="1000" spc="100" dirty="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  <a:sym typeface="+mn-ea"/>
            </a:endParaRPr>
          </a:p>
        </p:txBody>
      </p:sp>
      <p:pic>
        <p:nvPicPr>
          <p:cNvPr id="10" name="图片 9" descr="01.14-指标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140" y="876935"/>
            <a:ext cx="217805" cy="23050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117600" y="776605"/>
            <a:ext cx="1600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200" b="1" dirty="0">
                <a:solidFill>
                  <a:srgbClr val="1F29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核心维度投入分析</a:t>
            </a:r>
            <a:endParaRPr lang="zh-CN" altLang="en-US" sz="1200" b="1" dirty="0">
              <a:solidFill>
                <a:srgbClr val="1F29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647700" y="5673725"/>
            <a:ext cx="10943590" cy="797560"/>
            <a:chOff x="984" y="9126"/>
            <a:chExt cx="17234" cy="1256"/>
          </a:xfrm>
        </p:grpSpPr>
        <p:sp>
          <p:nvSpPr>
            <p:cNvPr id="36" name="圆角矩形 35"/>
            <p:cNvSpPr/>
            <p:nvPr/>
          </p:nvSpPr>
          <p:spPr>
            <a:xfrm>
              <a:off x="984" y="9126"/>
              <a:ext cx="17150" cy="1256"/>
            </a:xfrm>
            <a:prstGeom prst="roundRect">
              <a:avLst/>
            </a:prstGeom>
            <a:solidFill>
              <a:srgbClr val="1D4ED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indent="0" algn="l" fontAlgn="auto">
                <a:lnSpc>
                  <a:spcPct val="100000"/>
                </a:lnSpc>
                <a:buClr>
                  <a:srgbClr val="000000"/>
                </a:buClr>
                <a:buFont typeface="Wingdings" panose="05000000000000000000" charset="0"/>
                <a:buNone/>
              </a:pPr>
              <a:endParaRPr lang="zh-CN" altLang="en-US" sz="1200"/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1068" y="9126"/>
              <a:ext cx="17150" cy="125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indent="0" algn="l" fontAlgn="auto">
                <a:lnSpc>
                  <a:spcPct val="150000"/>
                </a:lnSpc>
                <a:buClr>
                  <a:srgbClr val="000000"/>
                </a:buClr>
                <a:buFont typeface="Wingdings" panose="05000000000000000000" charset="0"/>
                <a:buNone/>
              </a:pPr>
              <a:r>
                <a:rPr lang="zh-CN" sz="1200" b="1" dirty="0">
                  <a:solidFill>
                    <a:srgbClr val="1D4ED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数据分析</a:t>
              </a:r>
              <a:r>
                <a:rPr lang="zh-CN" altLang="en-US" sz="1200" b="1" dirty="0">
                  <a:solidFill>
                    <a:srgbClr val="1D4ED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：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已转售后非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KA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项目平均交付损益人天为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98.0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人天，</a:t>
              </a:r>
              <a:r>
                <a:rPr lang="zh-CN" altLang="en-US" sz="1200" dirty="0">
                  <a:solidFill>
                    <a:srgbClr val="1D4ED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同比2</a:t>
              </a:r>
              <a:r>
                <a:rPr lang="en-US" altLang="zh-CN" sz="1200" dirty="0">
                  <a:solidFill>
                    <a:srgbClr val="1D4ED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5</a:t>
              </a:r>
              <a:r>
                <a:rPr lang="zh-CN" altLang="en-US" sz="1200" dirty="0">
                  <a:solidFill>
                    <a:srgbClr val="1D4ED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年增长</a:t>
              </a:r>
              <a:r>
                <a:rPr lang="en-US" altLang="zh-CN" sz="1200" dirty="0">
                  <a:solidFill>
                    <a:srgbClr val="1D4ED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0.7</a:t>
              </a:r>
              <a:r>
                <a:rPr lang="zh-CN" altLang="en-US" sz="1200" dirty="0">
                  <a:solidFill>
                    <a:srgbClr val="1D4ED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%，同比2</a:t>
              </a:r>
              <a:r>
                <a:rPr lang="en-US" altLang="zh-CN" sz="1200" dirty="0">
                  <a:solidFill>
                    <a:srgbClr val="1D4ED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4</a:t>
              </a:r>
              <a:r>
                <a:rPr lang="zh-CN" altLang="en-US" sz="1200" dirty="0">
                  <a:solidFill>
                    <a:srgbClr val="1D4ED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年增长</a:t>
              </a:r>
              <a:r>
                <a:rPr lang="en-US" altLang="zh-CN" sz="1200" dirty="0">
                  <a:solidFill>
                    <a:srgbClr val="1D4ED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6.6</a:t>
              </a:r>
              <a:r>
                <a:rPr lang="zh-CN" altLang="en-US" sz="1200" dirty="0">
                  <a:solidFill>
                    <a:srgbClr val="1D4ED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%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。平均交付损益人天最多的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3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个分公司：武汉分公司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&gt;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总部其他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&gt;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海外，均高于全国平均值。平均交付损益人天最少的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3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个分公司：重庆成都分公司、广深厦分公司、北京分公司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。</a:t>
              </a:r>
              <a:endParaRPr lang="zh-CN" altLang="en-US" sz="1200"/>
            </a:p>
          </p:txBody>
        </p:sp>
      </p:grpSp>
      <p:graphicFrame>
        <p:nvGraphicFramePr>
          <p:cNvPr id="2" name="图表 1" descr="7b0a202020202263686172745265734964223a20223230343736333639220a7d0a"/>
          <p:cNvGraphicFramePr/>
          <p:nvPr/>
        </p:nvGraphicFramePr>
        <p:xfrm>
          <a:off x="701040" y="1278573"/>
          <a:ext cx="3070860" cy="1379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655570" y="1333183"/>
            <a:ext cx="1154430" cy="337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000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同比增长</a:t>
            </a:r>
            <a:r>
              <a:rPr lang="en-US" altLang="zh-CN" sz="1000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0</a:t>
            </a:r>
            <a:r>
              <a:rPr lang="en-US" altLang="zh-CN" sz="1000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.7%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graphicFrame>
        <p:nvGraphicFramePr>
          <p:cNvPr id="6" name="图表 5" descr="7b0a202020202263686172745265734964223a20223230343736333639220a7d0a"/>
          <p:cNvGraphicFramePr/>
          <p:nvPr/>
        </p:nvGraphicFramePr>
        <p:xfrm>
          <a:off x="701040" y="2792413"/>
          <a:ext cx="3070860" cy="1379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图表 11" descr="7b0a202020202263686172745265734964223a20223230343736333639220a7d0a"/>
          <p:cNvGraphicFramePr/>
          <p:nvPr/>
        </p:nvGraphicFramePr>
        <p:xfrm>
          <a:off x="739140" y="4293553"/>
          <a:ext cx="3070860" cy="1379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图表 12" descr="7b0a202020202263686172745265734964223a20223230343735343234220a7d0a"/>
          <p:cNvGraphicFramePr/>
          <p:nvPr/>
        </p:nvGraphicFramePr>
        <p:xfrm>
          <a:off x="4160838" y="840423"/>
          <a:ext cx="7389495" cy="4832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10646093" y="1246823"/>
            <a:ext cx="878840" cy="4110990"/>
            <a:chOff x="16682" y="2159"/>
            <a:chExt cx="1384" cy="6474"/>
          </a:xfrm>
        </p:grpSpPr>
        <p:sp>
          <p:nvSpPr>
            <p:cNvPr id="15" name="文本框 14"/>
            <p:cNvSpPr txBox="1"/>
            <p:nvPr/>
          </p:nvSpPr>
          <p:spPr>
            <a:xfrm>
              <a:off x="16682" y="2159"/>
              <a:ext cx="1384" cy="5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等线" panose="02010600030101010101" charset="-122"/>
                </a:rPr>
                <a:t>同比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等线" panose="02010600030101010101" charset="-122"/>
                </a:rPr>
                <a:t>25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等线" panose="02010600030101010101" charset="-122"/>
                </a:rPr>
                <a:t>年</a:t>
              </a:r>
              <a:endPara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endParaRPr>
            </a:p>
            <a:p>
              <a:pPr indent="0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endPara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endParaRPr>
            </a:p>
            <a:p>
              <a:pPr indent="0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endPara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6783" y="2769"/>
              <a:ext cx="1192" cy="5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r>
                <a:rPr lang="en-US" altLang="zh-CN" sz="9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等线" panose="02010600030101010101" charset="-122"/>
                </a:rPr>
                <a:t>-5.8%</a:t>
              </a:r>
              <a:endParaRPr lang="zh-CN" altLang="en-US" sz="9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endParaRPr>
            </a:p>
            <a:p>
              <a:pPr indent="0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endParaRPr lang="zh-CN" altLang="en-US" sz="9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6783" y="3956"/>
              <a:ext cx="1192" cy="54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lnSpc>
                  <a:spcPct val="150000"/>
                </a:lnSpc>
                <a:buClr>
                  <a:srgbClr val="00B0F0"/>
                </a:buClr>
                <a:buSzTx/>
                <a:buFont typeface="Wingdings" panose="05000000000000000000" charset="0"/>
              </a:pPr>
              <a:r>
                <a:rPr lang="en-US" altLang="zh-CN" sz="900" dirty="0">
                  <a:solidFill>
                    <a:srgbClr val="DC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等线" panose="02010600030101010101" charset="-122"/>
                  <a:sym typeface="+mn-ea"/>
                </a:rPr>
                <a:t>+2.3%</a:t>
              </a:r>
              <a:endParaRPr lang="en-US" altLang="zh-CN" sz="900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6783" y="3363"/>
              <a:ext cx="1192" cy="54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r>
                <a:rPr lang="en-US" altLang="zh-CN" sz="9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等线" panose="02010600030101010101" charset="-122"/>
                </a:rPr>
                <a:t>-37.2%</a:t>
              </a:r>
              <a:endParaRPr lang="en-US" altLang="zh-CN" sz="9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6783" y="4548"/>
              <a:ext cx="1192" cy="5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lnSpc>
                  <a:spcPct val="150000"/>
                </a:lnSpc>
                <a:buClr>
                  <a:srgbClr val="00B0F0"/>
                </a:buClr>
                <a:buSzTx/>
                <a:buFont typeface="Wingdings" panose="05000000000000000000" charset="0"/>
              </a:pPr>
              <a:r>
                <a:rPr lang="en-US" altLang="zh-CN" sz="900" dirty="0">
                  <a:solidFill>
                    <a:srgbClr val="DC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等线" panose="02010600030101010101" charset="-122"/>
                  <a:sym typeface="+mn-ea"/>
                </a:rPr>
                <a:t>+2.0%</a:t>
              </a:r>
              <a:endParaRPr lang="en-US" altLang="zh-CN" sz="900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783" y="5724"/>
              <a:ext cx="1192" cy="54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lnSpc>
                  <a:spcPct val="150000"/>
                </a:lnSpc>
                <a:buClr>
                  <a:srgbClr val="00B0F0"/>
                </a:buClr>
                <a:buSzTx/>
                <a:buFont typeface="Wingdings" panose="05000000000000000000" charset="0"/>
              </a:pPr>
              <a:r>
                <a:rPr lang="en-US" altLang="zh-CN" sz="900" dirty="0">
                  <a:solidFill>
                    <a:srgbClr val="DC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等线" panose="02010600030101010101" charset="-122"/>
                  <a:sym typeface="+mn-ea"/>
                </a:rPr>
                <a:t>+38.3%</a:t>
              </a:r>
              <a:endParaRPr lang="en-US" altLang="zh-CN" sz="900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6783" y="5131"/>
              <a:ext cx="1192" cy="54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lnSpc>
                  <a:spcPct val="150000"/>
                </a:lnSpc>
                <a:buClr>
                  <a:srgbClr val="00B0F0"/>
                </a:buClr>
                <a:buSzTx/>
                <a:buFont typeface="Wingdings" panose="05000000000000000000" charset="0"/>
              </a:pPr>
              <a:r>
                <a:rPr lang="en-US" altLang="zh-CN" sz="900" dirty="0">
                  <a:solidFill>
                    <a:srgbClr val="DC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等线" panose="02010600030101010101" charset="-122"/>
                  <a:sym typeface="+mn-ea"/>
                </a:rPr>
                <a:t>+7.4%</a:t>
              </a:r>
              <a:endParaRPr lang="en-US" altLang="zh-CN" sz="900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783" y="6312"/>
              <a:ext cx="1192" cy="54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lnSpc>
                  <a:spcPct val="150000"/>
                </a:lnSpc>
                <a:buClr>
                  <a:srgbClr val="00B0F0"/>
                </a:buClr>
                <a:buSzTx/>
                <a:buFont typeface="Wingdings" panose="05000000000000000000" charset="0"/>
              </a:pPr>
              <a:r>
                <a:rPr lang="en-US" altLang="zh-CN" sz="900" dirty="0">
                  <a:solidFill>
                    <a:srgbClr val="DC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等线" panose="02010600030101010101" charset="-122"/>
                  <a:sym typeface="+mn-ea"/>
                </a:rPr>
                <a:t>+102.0%</a:t>
              </a:r>
              <a:endParaRPr lang="en-US" altLang="zh-CN" sz="900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6783" y="6904"/>
              <a:ext cx="1192" cy="5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r>
                <a:rPr lang="en-US" altLang="zh-CN" sz="9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等线" panose="02010600030101010101" charset="-122"/>
                </a:rPr>
                <a:t>-57.7%</a:t>
              </a:r>
              <a:endParaRPr lang="zh-CN" altLang="en-US" sz="9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endParaRPr>
            </a:p>
            <a:p>
              <a:pPr indent="0" fontAlgn="auto">
                <a:lnSpc>
                  <a:spcPct val="150000"/>
                </a:lnSpc>
                <a:buClr>
                  <a:srgbClr val="00B0F0"/>
                </a:buClr>
                <a:buFont typeface="Wingdings" panose="05000000000000000000" charset="0"/>
                <a:buNone/>
              </a:pPr>
              <a:endParaRPr lang="zh-CN" altLang="en-US" sz="9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6783" y="8091"/>
              <a:ext cx="1192" cy="54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lnSpc>
                  <a:spcPct val="150000"/>
                </a:lnSpc>
                <a:buClr>
                  <a:srgbClr val="00B0F0"/>
                </a:buClr>
                <a:buSzTx/>
                <a:buFont typeface="Wingdings" panose="05000000000000000000" charset="0"/>
              </a:pPr>
              <a:r>
                <a:rPr lang="en-US" altLang="zh-CN" sz="900" dirty="0">
                  <a:solidFill>
                    <a:srgbClr val="DC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等线" panose="02010600030101010101" charset="-122"/>
                  <a:sym typeface="+mn-ea"/>
                </a:rPr>
                <a:t>+26.3%</a:t>
              </a:r>
              <a:endParaRPr lang="en-US" altLang="zh-CN" sz="900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6783" y="7487"/>
              <a:ext cx="1192" cy="54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auto">
                <a:lnSpc>
                  <a:spcPct val="150000"/>
                </a:lnSpc>
                <a:buClr>
                  <a:srgbClr val="00B0F0"/>
                </a:buClr>
                <a:buSzTx/>
                <a:buFont typeface="Wingdings" panose="05000000000000000000" charset="0"/>
                <a:buNone/>
              </a:pPr>
              <a:r>
                <a:rPr lang="zh-CN" altLang="en-US" sz="800" dirty="0">
                  <a:solidFill>
                    <a:srgbClr val="454C5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等线" panose="02010600030101010101" charset="-122"/>
                  <a:sym typeface="+mn-ea"/>
                </a:rPr>
                <a:t>无对比数据</a:t>
              </a:r>
              <a:endParaRPr lang="en-US" altLang="zh-CN" sz="900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6"/>
          <p:cNvSpPr/>
          <p:nvPr/>
        </p:nvSpPr>
        <p:spPr>
          <a:xfrm>
            <a:off x="311785" y="325755"/>
            <a:ext cx="11193780" cy="5232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0" kern="1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spc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sym typeface="微软雅黑" panose="020B0503020204020204" pitchFamily="34" charset="-122"/>
              </a:rPr>
              <a:t>二、关键数据：</a:t>
            </a:r>
            <a:r>
              <a:rPr sz="2400" b="1" spc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非KA项目周期</a:t>
            </a:r>
            <a:r>
              <a:rPr lang="zh-CN" altLang="en-US" sz="2400" b="1" spc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（</a:t>
            </a:r>
            <a:r>
              <a:rPr sz="2400" b="1" spc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同比25年增长16.7%</a:t>
            </a:r>
            <a:r>
              <a:rPr lang="zh-CN" altLang="en-US" sz="2400" b="1" spc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）</a:t>
            </a:r>
            <a:endParaRPr lang="zh-CN" altLang="en-US" sz="2400" b="1" spc="0" smtClean="0">
              <a:solidFill>
                <a:srgbClr val="595E64"/>
              </a:solidFill>
              <a:latin typeface="等线" panose="02010600030101010101" charset="-122"/>
              <a:ea typeface="等线" panose="02010600030101010101" charset="-122"/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400" b="1" spc="0" smtClean="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580" y="6205220"/>
            <a:ext cx="109512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200000"/>
              </a:lnSpc>
              <a:buClr>
                <a:srgbClr val="00B0F0"/>
              </a:buClr>
              <a:buFont typeface="Wingdings" panose="05000000000000000000" pitchFamily="2" charset="2"/>
              <a:buNone/>
            </a:pP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* 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统计时间区间：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2024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年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1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月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1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日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-2026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年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4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月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30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日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，同比时间为：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2024&amp;2025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年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1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月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-4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  <a:sym typeface="+mn-ea"/>
              </a:rPr>
              <a:t>月，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项目周期取累计值，项目周期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=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转售后审批通过时间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-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合同提审时间</a:t>
            </a:r>
            <a:endParaRPr lang="zh-CN" altLang="en-US" sz="1000" spc="100" dirty="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75045" y="915670"/>
            <a:ext cx="601789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n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KA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项目平均周期分析：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）非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KA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客户平均项目周期</a:t>
            </a:r>
            <a:r>
              <a:rPr 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138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，同比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增长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16.7%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，同比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下降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.0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%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）项目周期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高于全国平均值的分公司：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海外分公司、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武汉分公司、上海分公司、重庆成都分公司、总部其他，其中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海外、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武汉、上海分公司项目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周期大于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180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天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n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非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KA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项目平均周期持续优化方向：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）结合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的【转售后警告】数据，标识项目当前周期结合绩效考核引导，以结果为导向从售前端推进项目转售后，缩短项目周期。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）项目周期过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程管控：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结合非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KA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项目周度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RV做过程管理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，从售前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leader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端及申请跨部门协助发力推动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项目进度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加快项目周转。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7" name="图表 6" descr="7b0a202020202263686172745265734964223a20223230303439313032220a7d0a"/>
          <p:cNvGraphicFramePr/>
          <p:nvPr/>
        </p:nvGraphicFramePr>
        <p:xfrm>
          <a:off x="208598" y="906145"/>
          <a:ext cx="5789295" cy="275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图表 7" descr="7b0a202020202263686172745265734964223a20223530303533343238220a7d0a"/>
          <p:cNvGraphicFramePr/>
          <p:nvPr/>
        </p:nvGraphicFramePr>
        <p:xfrm>
          <a:off x="208598" y="3828098"/>
          <a:ext cx="11774805" cy="2519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89865" y="264795"/>
            <a:ext cx="10467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二、关键数据：</a:t>
            </a:r>
            <a:r>
              <a:rPr lang="en-US" sz="2400" b="1" dirty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Top20</a:t>
            </a:r>
            <a:r>
              <a:rPr lang="zh-CN" altLang="en-US" sz="2400" b="1" dirty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客户</a:t>
            </a:r>
            <a:r>
              <a:rPr lang="zh-CN" altLang="en-US" sz="2400" b="1" dirty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工时</a:t>
            </a:r>
            <a:r>
              <a:rPr lang="en-US" altLang="zh-CN" sz="2400" b="1" dirty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730.26</a:t>
            </a:r>
            <a:r>
              <a:rPr lang="en-US" altLang="zh-CN" sz="2400" b="1" dirty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h</a:t>
            </a:r>
            <a:r>
              <a:rPr lang="zh-CN" altLang="en-US" sz="2400" b="1" dirty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，占所有工时的</a:t>
            </a:r>
            <a:r>
              <a:rPr lang="zh-CN" altLang="en-US" sz="2400" b="1" dirty="0" smtClean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</a:t>
            </a:r>
            <a:r>
              <a:rPr lang="en-US" altLang="zh-CN" sz="2400" b="1" dirty="0" smtClean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7</a:t>
            </a:r>
            <a:r>
              <a:rPr lang="en-US" altLang="zh-CN" sz="2400" b="1" dirty="0" smtClean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.07</a:t>
            </a:r>
            <a:r>
              <a:rPr lang="zh-CN" altLang="en-US" sz="2400" b="1" dirty="0" smtClean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%</a:t>
            </a:r>
            <a:endParaRPr lang="zh-CN" altLang="en-US" sz="2400" b="1" dirty="0" smtClean="0">
              <a:solidFill>
                <a:srgbClr val="C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441315" y="1005205"/>
          <a:ext cx="6407785" cy="5386705"/>
        </p:xfrm>
        <a:graphic>
          <a:graphicData uri="http://schemas.openxmlformats.org/drawingml/2006/table">
            <a:tbl>
              <a:tblPr>
                <a:effectLst>
                  <a:innerShdw blurRad="63500" dist="50800" dir="13500000">
                    <a:prstClr val="black">
                      <a:alpha val="0"/>
                    </a:prstClr>
                  </a:innerShdw>
                </a:effectLst>
              </a:tblPr>
              <a:tblGrid>
                <a:gridCol w="2592705"/>
                <a:gridCol w="654050"/>
                <a:gridCol w="1024255"/>
                <a:gridCol w="1068070"/>
                <a:gridCol w="1068705"/>
              </a:tblGrid>
              <a:tr h="3105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客户名称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j-lt"/>
                        </a:rPr>
                        <a:t>工单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j-lt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工时（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</a:t>
                      </a: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zh-CN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客户经理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24828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厦门国贸控股集团有限公司</a:t>
                      </a:r>
                      <a:endParaRPr lang="zh-CN" altLang="en-US" sz="1100" b="1" i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51.45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田鹭婷</a:t>
                      </a:r>
                      <a:endParaRPr lang="zh-CN" altLang="en-US" sz="1100" b="1" i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28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青岛海信电子技术服务有限公司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45.67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李红玲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08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广州希音国际进出口有限公司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21.33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陆金婷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71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比亚迪股份有限公司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田鹭婷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28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深圳前海微众银行股份有限公司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非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69.51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王智华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44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国信证券股份有限公司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35.95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李红玲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28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中国中车股份有限公司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36.68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杨海露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71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中国化学工程集团有限公司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39.48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support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08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招商局集团有限公司</a:t>
                      </a:r>
                      <a:endParaRPr lang="zh-CN" altLang="en-US" sz="1100" b="0" i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</a:t>
                      </a:r>
                      <a:endParaRPr lang="en-US" altLang="zh-CN" sz="1100" b="0" i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82.98</a:t>
                      </a:r>
                      <a:endParaRPr lang="en-US" altLang="zh-CN" sz="1100" b="0" i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邱中月</a:t>
                      </a:r>
                      <a:endParaRPr lang="zh-CN" altLang="en-US" sz="1100" b="0" i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08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同济大学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41.08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孙廷玉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广东美的制冷设备有限公司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37.68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李红玲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08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华勤技术股份有限公司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杨海露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08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交通银行股份有限公司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孙廷玉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19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上海中远海运集装箱运输有限公司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19.05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万昭分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44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中信证券股份有限公司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23.48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刘元元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28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上海浦东发展银行股份有限公司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27.25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support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08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东风汽车集团有限公司</a:t>
                      </a:r>
                      <a:endParaRPr lang="zh-CN" altLang="en-US" sz="1100" b="0" i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en-US" altLang="zh-CN" sz="1100" b="0" i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57.03</a:t>
                      </a:r>
                      <a:endParaRPr lang="en-US" altLang="zh-CN" sz="1100" b="0" i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support</a:t>
                      </a:r>
                      <a:endParaRPr lang="en-US" altLang="zh-CN" sz="1100" b="0" i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28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联通在线信息科技有限公司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杨海露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28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浙商银行股份有限公司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31.12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万昭分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28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中国旅游集团有限公司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陆金婷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矩形: 圆角 12"/>
          <p:cNvSpPr/>
          <p:nvPr>
            <p:custDataLst>
              <p:tags r:id="rId2"/>
            </p:custDataLst>
          </p:nvPr>
        </p:nvSpPr>
        <p:spPr>
          <a:xfrm>
            <a:off x="444500" y="1283335"/>
            <a:ext cx="4840605" cy="9969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90500" dist="762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dirty="0"/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317016" y="1261327"/>
            <a:ext cx="955226" cy="955226"/>
          </a:xfrm>
          <a:prstGeom prst="ellipse">
            <a:avLst/>
          </a:prstGeom>
          <a:gradFill>
            <a:gsLst>
              <a:gs pos="0">
                <a:srgbClr val="A3E2FA"/>
              </a:gs>
              <a:gs pos="100000">
                <a:srgbClr val="0466C1"/>
              </a:gs>
            </a:gsLst>
            <a:lin ang="0" scaled="1"/>
          </a:gradFill>
          <a:ln>
            <a:noFill/>
          </a:ln>
          <a:effectLst>
            <a:outerShdw blurRad="215900" dist="152400" dir="2700000" sx="97000" sy="97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00" b="1">
                <a:latin typeface="宋体" pitchFamily="2" charset="-122"/>
                <a:ea typeface="宋体" pitchFamily="2" charset="-122"/>
              </a:rPr>
              <a:t>数量</a:t>
            </a:r>
            <a:endParaRPr lang="zh-CN" altLang="en-US" sz="1800" b="1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弧形 6"/>
          <p:cNvSpPr/>
          <p:nvPr>
            <p:custDataLst>
              <p:tags r:id="rId4"/>
            </p:custDataLst>
          </p:nvPr>
        </p:nvSpPr>
        <p:spPr>
          <a:xfrm>
            <a:off x="252999" y="1197311"/>
            <a:ext cx="1083261" cy="1083258"/>
          </a:xfrm>
          <a:prstGeom prst="arc">
            <a:avLst>
              <a:gd name="adj1" fmla="val 17859644"/>
              <a:gd name="adj2" fmla="val 10496899"/>
            </a:avLst>
          </a:prstGeom>
          <a:noFill/>
          <a:ln w="12700">
            <a:gradFill flip="none" rotWithShape="1">
              <a:gsLst>
                <a:gs pos="0">
                  <a:schemeClr val="accent1">
                    <a:lumMod val="9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8900000" scaled="1"/>
              <a:tileRect/>
            </a:gradFill>
            <a:headEnd w="sm" len="sm"/>
            <a:tailEnd type="oval" w="sm" len="sm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sp>
        <p:nvSpPr>
          <p:cNvPr id="8" name="矩形: 圆角 32"/>
          <p:cNvSpPr/>
          <p:nvPr>
            <p:custDataLst>
              <p:tags r:id="rId5"/>
            </p:custDataLst>
          </p:nvPr>
        </p:nvSpPr>
        <p:spPr>
          <a:xfrm>
            <a:off x="518795" y="2784475"/>
            <a:ext cx="4840605" cy="9728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90500" dist="762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dirty="0"/>
          </a:p>
        </p:txBody>
      </p:sp>
      <p:sp>
        <p:nvSpPr>
          <p:cNvPr id="9" name="弧形 8"/>
          <p:cNvSpPr/>
          <p:nvPr>
            <p:custDataLst>
              <p:tags r:id="rId6"/>
            </p:custDataLst>
          </p:nvPr>
        </p:nvSpPr>
        <p:spPr>
          <a:xfrm>
            <a:off x="252999" y="2637349"/>
            <a:ext cx="1083261" cy="1083258"/>
          </a:xfrm>
          <a:prstGeom prst="arc">
            <a:avLst>
              <a:gd name="adj1" fmla="val 17859644"/>
              <a:gd name="adj2" fmla="val 10496899"/>
            </a:avLst>
          </a:prstGeom>
          <a:noFill/>
          <a:ln w="12700">
            <a:gradFill flip="none" rotWithShape="1">
              <a:gsLst>
                <a:gs pos="0">
                  <a:schemeClr val="accent1">
                    <a:lumMod val="9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8900000" scaled="1"/>
              <a:tileRect/>
            </a:gradFill>
            <a:headEnd w="sm" len="sm"/>
            <a:tailEnd type="oval" w="sm" len="sm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sp>
        <p:nvSpPr>
          <p:cNvPr id="10" name="矩形: 圆角 39"/>
          <p:cNvSpPr/>
          <p:nvPr>
            <p:custDataLst>
              <p:tags r:id="rId7"/>
            </p:custDataLst>
          </p:nvPr>
        </p:nvSpPr>
        <p:spPr>
          <a:xfrm>
            <a:off x="444500" y="4416425"/>
            <a:ext cx="4840605" cy="19761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90500" dist="762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dirty="0"/>
          </a:p>
        </p:txBody>
      </p:sp>
      <p:sp>
        <p:nvSpPr>
          <p:cNvPr id="13" name="椭圆 12"/>
          <p:cNvSpPr/>
          <p:nvPr>
            <p:custDataLst>
              <p:tags r:id="rId8"/>
            </p:custDataLst>
          </p:nvPr>
        </p:nvSpPr>
        <p:spPr>
          <a:xfrm>
            <a:off x="317016" y="4347143"/>
            <a:ext cx="955226" cy="955226"/>
          </a:xfrm>
          <a:prstGeom prst="ellipse">
            <a:avLst/>
          </a:prstGeom>
          <a:gradFill>
            <a:gsLst>
              <a:gs pos="0">
                <a:srgbClr val="A3E2FA"/>
              </a:gs>
              <a:gs pos="100000">
                <a:srgbClr val="0466C1"/>
              </a:gs>
            </a:gsLst>
            <a:lin ang="0" scaled="1"/>
          </a:gradFill>
          <a:ln>
            <a:noFill/>
          </a:ln>
          <a:effectLst>
            <a:outerShdw blurRad="215900" dist="152400" dir="2700000" sx="97000" sy="97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800"/>
              <a:t>TOP</a:t>
            </a:r>
            <a:endParaRPr lang="en-US" altLang="zh-CN" sz="1800"/>
          </a:p>
          <a:p>
            <a:pPr algn="ctr"/>
            <a:r>
              <a:rPr lang="en-US" altLang="zh-CN" sz="1800"/>
              <a:t>20</a:t>
            </a:r>
            <a:endParaRPr lang="en-US" altLang="zh-CN" sz="1800"/>
          </a:p>
        </p:txBody>
      </p:sp>
      <p:sp>
        <p:nvSpPr>
          <p:cNvPr id="15" name="弧形 14"/>
          <p:cNvSpPr/>
          <p:nvPr>
            <p:custDataLst>
              <p:tags r:id="rId9"/>
            </p:custDataLst>
          </p:nvPr>
        </p:nvSpPr>
        <p:spPr>
          <a:xfrm>
            <a:off x="252999" y="4283127"/>
            <a:ext cx="1083261" cy="1083258"/>
          </a:xfrm>
          <a:prstGeom prst="arc">
            <a:avLst>
              <a:gd name="adj1" fmla="val 17859644"/>
              <a:gd name="adj2" fmla="val 10496899"/>
            </a:avLst>
          </a:prstGeom>
          <a:noFill/>
          <a:ln w="12700">
            <a:gradFill flip="none" rotWithShape="1">
              <a:gsLst>
                <a:gs pos="0">
                  <a:schemeClr val="accent1">
                    <a:lumMod val="9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8900000" scaled="1"/>
              <a:tileRect/>
            </a:gradFill>
            <a:headEnd w="sm" len="sm"/>
            <a:tailEnd type="oval" w="sm" len="sm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1567281" y="1290884"/>
            <a:ext cx="3718036" cy="9220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共有</a:t>
            </a:r>
            <a:r>
              <a:rPr lang="en-US" altLang="zh-CN"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1512</a:t>
            </a:r>
            <a:r>
              <a:rPr lang="zh-CN" altLang="en-US"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客户反馈过问题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（包含运营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+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自建）</a:t>
            </a:r>
            <a:endParaRPr lang="zh-CN" altLang="en-US" sz="12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1465580" y="2633980"/>
            <a:ext cx="3587750" cy="1476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客户工单量超过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张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客均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工单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张，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合计工单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1158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张，占所有工单的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26.25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%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文本框 18" descr="7b0a202020202262756c6c6574223a20227b5c2263617465676f727949645c223a5c225c222c5c2274656d706c61746549645c223a32303233313538387d220a7d0a"/>
          <p:cNvSpPr txBox="1"/>
          <p:nvPr>
            <p:custDataLst>
              <p:tags r:id="rId12"/>
            </p:custDataLst>
          </p:nvPr>
        </p:nvSpPr>
        <p:spPr>
          <a:xfrm>
            <a:off x="1335405" y="3933190"/>
            <a:ext cx="3717925" cy="234950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eaLnBrk="0" hangingPunct="0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</a:pPr>
            <a:endParaRPr lang="zh-CN" altLang="en-US" sz="1200" b="1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</a:pPr>
            <a:r>
              <a:rPr lang="en-US" altLang="zh-CN" sz="12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其中问题反馈</a:t>
            </a:r>
            <a:r>
              <a:rPr lang="en-US" altLang="zh-CN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TOP20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客户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</a:pP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合计工单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578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，占所有工单的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13.10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altLang="zh-CN" sz="12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</a:pPr>
            <a:r>
              <a:rPr lang="en-US" altLang="zh-CN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合计工时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730.26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，占所有工时的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17.07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altLang="zh-CN" sz="12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indent="-285750" eaLnBrk="0" hangingPunct="0"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Blip>
                <a:blip r:embed="rId13"/>
              </a:buBlip>
            </a:pPr>
            <a:r>
              <a:rPr lang="zh-CN" altLang="en-US" sz="120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厦门国贸控股工单最高：</a:t>
            </a:r>
            <a:r>
              <a:rPr lang="en-US" altLang="zh-CN" sz="120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56</a:t>
            </a:r>
            <a:r>
              <a:rPr lang="zh-CN" altLang="en-US" sz="120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张</a:t>
            </a:r>
            <a:endParaRPr lang="zh-CN" altLang="en-US" sz="1200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indent="-285750" eaLnBrk="0" hangingPunct="0"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Blip>
                <a:blip r:embed="rId13"/>
              </a:buBlip>
            </a:pPr>
            <a:r>
              <a:rPr lang="zh-CN" altLang="en-US" sz="120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招商局集团工时最高：</a:t>
            </a:r>
            <a:r>
              <a:rPr lang="en-US" altLang="zh-CN" sz="120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82.98</a:t>
            </a:r>
            <a:r>
              <a:rPr lang="zh-CN" altLang="en-US" sz="120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时</a:t>
            </a:r>
            <a:endParaRPr lang="en-US" altLang="zh-CN" sz="1200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indent="-285750" eaLnBrk="0" hangingPunct="0"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Blip>
                <a:blip r:embed="rId13"/>
              </a:buBlip>
            </a:pPr>
            <a:r>
              <a:rPr lang="zh-CN" altLang="en-US" sz="120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东风汽车平均</a:t>
            </a:r>
            <a:r>
              <a:rPr lang="zh-CN" altLang="en-US" sz="120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工时最高：</a:t>
            </a:r>
            <a:r>
              <a:rPr lang="en-US" altLang="zh-CN" sz="120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en-US" altLang="zh-CN" sz="120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</a:t>
            </a:r>
            <a:r>
              <a:rPr lang="en-US" altLang="zh-CN" sz="120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h/</a:t>
            </a:r>
            <a:r>
              <a:rPr lang="zh-CN" altLang="en-US" sz="120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工单</a:t>
            </a:r>
            <a:endParaRPr lang="en-US" altLang="zh-CN" sz="1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</a:pPr>
            <a:r>
              <a:rPr lang="en-US" altLang="zh-CN" sz="1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</a:t>
            </a:r>
            <a:endParaRPr lang="zh-CN" altLang="en-US" sz="1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0" name="椭圆 19"/>
          <p:cNvSpPr/>
          <p:nvPr>
            <p:custDataLst>
              <p:tags r:id="rId14"/>
            </p:custDataLst>
          </p:nvPr>
        </p:nvSpPr>
        <p:spPr>
          <a:xfrm>
            <a:off x="317016" y="2701507"/>
            <a:ext cx="955226" cy="955226"/>
          </a:xfrm>
          <a:prstGeom prst="ellipse">
            <a:avLst/>
          </a:prstGeom>
          <a:gradFill>
            <a:gsLst>
              <a:gs pos="0">
                <a:srgbClr val="A3E2FA"/>
              </a:gs>
              <a:gs pos="100000">
                <a:srgbClr val="0466C1"/>
              </a:gs>
            </a:gsLst>
            <a:lin ang="0" scaled="1"/>
          </a:gradFill>
          <a:ln>
            <a:noFill/>
          </a:ln>
          <a:effectLst>
            <a:outerShdw blurRad="215900" dist="152400" dir="2700000" sx="97000" sy="97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10+</a:t>
            </a:r>
            <a:endParaRPr lang="en-US" altLang="zh-CN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89865" y="264795"/>
            <a:ext cx="7153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595E6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二、关键数据：P1&amp;S1问题统计</a:t>
            </a:r>
            <a:endParaRPr lang="zh-CN" altLang="en-US" sz="2400" b="1" dirty="0" smtClean="0">
              <a:solidFill>
                <a:srgbClr val="595E64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15900" y="1014095"/>
            <a:ext cx="11514455" cy="54356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rgbClr val="5B9BD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2"/>
            </p:custDataLst>
          </p:nvPr>
        </p:nvSpPr>
        <p:spPr>
          <a:xfrm>
            <a:off x="215900" y="1014095"/>
            <a:ext cx="11505565" cy="889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5B9BD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360160" y="2125345"/>
            <a:ext cx="9525" cy="41306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5B9BD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26085" y="1844675"/>
            <a:ext cx="6529705" cy="1212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200000"/>
              </a:lnSpc>
              <a:buFont typeface="Wingdings" panose="05000000000000000000" charset="0"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其中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KA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客户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，非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KA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客户P1问题 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endParaRPr lang="en-US" altLang="zh-CN" sz="16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buFont typeface="Wingdings" panose="05000000000000000000" charset="0"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同比去年同期</a:t>
            </a:r>
            <a:r>
              <a:rPr lang="zh-CN" altLang="en-US" sz="1600" b="1">
                <a:solidFill>
                  <a:srgbClr val="3D85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降幅</a:t>
            </a:r>
            <a:r>
              <a:rPr lang="en-US" altLang="zh-CN" sz="1600" b="1">
                <a:solidFill>
                  <a:srgbClr val="3D85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22.22</a:t>
            </a:r>
            <a:r>
              <a:rPr lang="en-US" altLang="zh-CN" sz="1600" b="1">
                <a:solidFill>
                  <a:srgbClr val="3D85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</a:t>
            </a:r>
            <a:r>
              <a:rPr 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年同期：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18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55790" y="1972310"/>
            <a:ext cx="4470400" cy="4079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账号被盗问题 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个，占比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71.43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，同比去年同期</a:t>
            </a:r>
            <a:r>
              <a:rPr lang="zh-CN" altLang="en-US" sz="1600" b="1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</a:t>
            </a:r>
            <a:r>
              <a:rPr lang="en-US" sz="1600" b="1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64.79</a:t>
            </a:r>
            <a:r>
              <a:rPr lang="zh-CN" altLang="en-US" sz="1600" b="1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（202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年同期：</a:t>
            </a:r>
            <a:r>
              <a:rPr 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71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盗号问题客户分类：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自建客户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，专业版客户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，专享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被盗号客户清单：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60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60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经济损失客户无</a:t>
            </a:r>
            <a:endParaRPr lang="zh-CN" altLang="en-US" sz="160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840740" y="3140710"/>
          <a:ext cx="4826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403080" y="379031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showAsIcon="1" r:id="rId4" imgW="971550" imgH="800100" progId="Excel.Sheet.12">
                  <p:embed/>
                </p:oleObj>
              </mc:Choice>
              <mc:Fallback>
                <p:oleObj name="" showAsIcon="1" r:id="rId4" imgW="971550" imgH="80010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03080" y="379031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11200" y="840740"/>
            <a:ext cx="3974465" cy="984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P1问题一共</a:t>
            </a:r>
            <a:r>
              <a:rPr lang="en-US" altLang="zh-CN" sz="2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altLang="zh-CN" sz="2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endParaRPr lang="zh-CN" altLang="en-US" sz="20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charset="0"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7031355" y="851535"/>
            <a:ext cx="4470400" cy="984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1等安全问题共</a:t>
            </a:r>
            <a:r>
              <a:rPr lang="en-US" altLang="zh-CN" sz="2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en-US" altLang="zh-CN" sz="2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endParaRPr lang="zh-CN" altLang="en-US" sz="20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charset="0"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" name="文本框 163"/>
          <p:cNvSpPr txBox="1"/>
          <p:nvPr/>
        </p:nvSpPr>
        <p:spPr>
          <a:xfrm>
            <a:off x="130175" y="247650"/>
            <a:ext cx="10457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、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关键项目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：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AI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提效关键项目进度总览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grpSp>
        <p:nvGrpSpPr>
          <p:cNvPr id="186" name="组合 185"/>
          <p:cNvGrpSpPr/>
          <p:nvPr/>
        </p:nvGrpSpPr>
        <p:grpSpPr>
          <a:xfrm>
            <a:off x="-292735" y="1279525"/>
            <a:ext cx="12118975" cy="5004386"/>
            <a:chOff x="-461" y="1554"/>
            <a:chExt cx="19085" cy="8533"/>
          </a:xfrm>
        </p:grpSpPr>
        <p:sp>
          <p:nvSpPr>
            <p:cNvPr id="133" name="圆角矩形 132"/>
            <p:cNvSpPr/>
            <p:nvPr>
              <p:custDataLst>
                <p:tags r:id="rId1"/>
              </p:custDataLst>
            </p:nvPr>
          </p:nvSpPr>
          <p:spPr>
            <a:xfrm>
              <a:off x="14042" y="4992"/>
              <a:ext cx="4293" cy="2477"/>
            </a:xfrm>
            <a:prstGeom prst="roundRect">
              <a:avLst>
                <a:gd name="adj" fmla="val 6630"/>
              </a:avLst>
            </a:prstGeom>
            <a:solidFill>
              <a:srgbClr val="0460C7"/>
            </a:solidFill>
            <a:ln>
              <a:noFill/>
            </a:ln>
          </p:spPr>
          <p:style>
            <a:lnRef idx="2">
              <a:srgbClr val="003399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8" name="圆角矩形 137"/>
            <p:cNvSpPr/>
            <p:nvPr>
              <p:custDataLst>
                <p:tags r:id="rId2"/>
              </p:custDataLst>
            </p:nvPr>
          </p:nvSpPr>
          <p:spPr>
            <a:xfrm>
              <a:off x="14127" y="5003"/>
              <a:ext cx="4368" cy="2477"/>
            </a:xfrm>
            <a:prstGeom prst="roundRect">
              <a:avLst>
                <a:gd name="adj" fmla="val 6180"/>
              </a:avLst>
            </a:prstGeom>
            <a:solidFill>
              <a:srgbClr val="FFFFFF"/>
            </a:solidFill>
            <a:ln w="3175">
              <a:solidFill>
                <a:srgbClr val="FFFFFF">
                  <a:lumMod val="85000"/>
                </a:srgbClr>
              </a:solidFill>
            </a:ln>
            <a:effectLst/>
          </p:spPr>
          <p:style>
            <a:lnRef idx="2">
              <a:srgbClr val="003399">
                <a:shade val="50000"/>
              </a:srgbClr>
            </a:lnRef>
            <a:fillRef idx="1">
              <a:srgbClr val="003399"/>
            </a:fillRef>
            <a:effectRef idx="0">
              <a:srgbClr val="003399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6" name="圆角矩形 145"/>
            <p:cNvSpPr/>
            <p:nvPr>
              <p:custDataLst>
                <p:tags r:id="rId3"/>
              </p:custDataLst>
            </p:nvPr>
          </p:nvSpPr>
          <p:spPr>
            <a:xfrm>
              <a:off x="204" y="1554"/>
              <a:ext cx="10674" cy="3333"/>
            </a:xfrm>
            <a:prstGeom prst="roundRect">
              <a:avLst>
                <a:gd name="adj" fmla="val 3956"/>
              </a:avLst>
            </a:prstGeom>
            <a:solidFill>
              <a:srgbClr val="0460C7">
                <a:lumMod val="20000"/>
                <a:lumOff val="80000"/>
                <a:alpha val="32000"/>
              </a:srgbClr>
            </a:solidFill>
            <a:ln>
              <a:solidFill>
                <a:srgbClr val="FFFFFF">
                  <a:lumMod val="95000"/>
                </a:srgbClr>
              </a:solidFill>
            </a:ln>
            <a:effectLst/>
          </p:spPr>
          <p:style>
            <a:lnRef idx="2">
              <a:srgbClr val="003399">
                <a:shade val="50000"/>
              </a:srgbClr>
            </a:lnRef>
            <a:fillRef idx="1">
              <a:srgbClr val="003399"/>
            </a:fillRef>
            <a:effectRef idx="0">
              <a:srgbClr val="003399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52" name="圆角矩形 151"/>
            <p:cNvSpPr/>
            <p:nvPr>
              <p:custDataLst>
                <p:tags r:id="rId4"/>
              </p:custDataLst>
            </p:nvPr>
          </p:nvSpPr>
          <p:spPr>
            <a:xfrm>
              <a:off x="212" y="5009"/>
              <a:ext cx="10666" cy="2479"/>
            </a:xfrm>
            <a:prstGeom prst="roundRect">
              <a:avLst>
                <a:gd name="adj" fmla="val 6801"/>
              </a:avLst>
            </a:prstGeom>
            <a:solidFill>
              <a:srgbClr val="0460C7">
                <a:lumMod val="20000"/>
                <a:lumOff val="80000"/>
                <a:alpha val="32000"/>
              </a:srgbClr>
            </a:solidFill>
            <a:ln>
              <a:solidFill>
                <a:srgbClr val="FFFFFF">
                  <a:lumMod val="95000"/>
                </a:srgbClr>
              </a:solidFill>
            </a:ln>
            <a:effectLst/>
          </p:spPr>
          <p:style>
            <a:lnRef idx="2">
              <a:srgbClr val="003399">
                <a:shade val="50000"/>
              </a:srgbClr>
            </a:lnRef>
            <a:fillRef idx="1">
              <a:srgbClr val="003399"/>
            </a:fillRef>
            <a:effectRef idx="0">
              <a:srgbClr val="003399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4" name="圆角矩形 153"/>
            <p:cNvSpPr/>
            <p:nvPr>
              <p:custDataLst>
                <p:tags r:id="rId5"/>
              </p:custDataLst>
            </p:nvPr>
          </p:nvSpPr>
          <p:spPr>
            <a:xfrm>
              <a:off x="212" y="7604"/>
              <a:ext cx="10666" cy="2479"/>
            </a:xfrm>
            <a:prstGeom prst="roundRect">
              <a:avLst>
                <a:gd name="adj" fmla="val 5647"/>
              </a:avLst>
            </a:prstGeom>
            <a:solidFill>
              <a:srgbClr val="0460C7">
                <a:lumMod val="20000"/>
                <a:lumOff val="80000"/>
                <a:alpha val="32000"/>
              </a:srgbClr>
            </a:solidFill>
            <a:ln>
              <a:solidFill>
                <a:srgbClr val="FFFFFF">
                  <a:lumMod val="95000"/>
                </a:srgbClr>
              </a:solidFill>
            </a:ln>
            <a:effectLst/>
          </p:spPr>
          <p:style>
            <a:lnRef idx="2">
              <a:srgbClr val="003399">
                <a:shade val="50000"/>
              </a:srgbClr>
            </a:lnRef>
            <a:fillRef idx="1">
              <a:srgbClr val="003399"/>
            </a:fillRef>
            <a:effectRef idx="0">
              <a:srgbClr val="003399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5" name="圆角矩形 154"/>
            <p:cNvSpPr/>
            <p:nvPr>
              <p:custDataLst>
                <p:tags r:id="rId6"/>
              </p:custDataLst>
            </p:nvPr>
          </p:nvSpPr>
          <p:spPr>
            <a:xfrm>
              <a:off x="1898" y="1554"/>
              <a:ext cx="8979" cy="3333"/>
            </a:xfrm>
            <a:prstGeom prst="roundRect">
              <a:avLst>
                <a:gd name="adj" fmla="val 6630"/>
              </a:avLst>
            </a:prstGeom>
            <a:solidFill>
              <a:srgbClr val="0065FF"/>
            </a:solidFill>
            <a:ln>
              <a:noFill/>
            </a:ln>
          </p:spPr>
          <p:style>
            <a:lnRef idx="2">
              <a:srgbClr val="003399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6" name="圆角矩形 155"/>
            <p:cNvSpPr/>
            <p:nvPr>
              <p:custDataLst>
                <p:tags r:id="rId7"/>
              </p:custDataLst>
            </p:nvPr>
          </p:nvSpPr>
          <p:spPr>
            <a:xfrm>
              <a:off x="2003" y="1554"/>
              <a:ext cx="8884" cy="3333"/>
            </a:xfrm>
            <a:prstGeom prst="roundRect">
              <a:avLst>
                <a:gd name="adj" fmla="val 6180"/>
              </a:avLst>
            </a:prstGeom>
            <a:solidFill>
              <a:srgbClr val="FFFFFF"/>
            </a:solidFill>
            <a:ln w="3175">
              <a:solidFill>
                <a:srgbClr val="FFFFFF">
                  <a:lumMod val="85000"/>
                </a:srgbClr>
              </a:solidFill>
            </a:ln>
            <a:effectLst/>
          </p:spPr>
          <p:style>
            <a:lnRef idx="2">
              <a:srgbClr val="003399">
                <a:shade val="50000"/>
              </a:srgbClr>
            </a:lnRef>
            <a:fillRef idx="1">
              <a:srgbClr val="003399"/>
            </a:fillRef>
            <a:effectRef idx="0">
              <a:srgbClr val="003399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157" name="直接连接符 156"/>
            <p:cNvCxnSpPr/>
            <p:nvPr/>
          </p:nvCxnSpPr>
          <p:spPr>
            <a:xfrm>
              <a:off x="1844" y="1556"/>
              <a:ext cx="0" cy="3317"/>
            </a:xfrm>
            <a:prstGeom prst="line">
              <a:avLst/>
            </a:prstGeom>
            <a:ln>
              <a:solidFill>
                <a:srgbClr val="2D6CFF">
                  <a:alpha val="30000"/>
                </a:srgbClr>
              </a:solidFill>
            </a:ln>
          </p:spPr>
          <p:style>
            <a:lnRef idx="2">
              <a:srgbClr val="003399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sp>
          <p:nvSpPr>
            <p:cNvPr id="158" name="文本框 157"/>
            <p:cNvSpPr txBox="1"/>
            <p:nvPr/>
          </p:nvSpPr>
          <p:spPr>
            <a:xfrm>
              <a:off x="2225" y="2194"/>
              <a:ext cx="8411" cy="253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>
                <a:spcBef>
                  <a:spcPts val="100"/>
                </a:spcBef>
                <a:spcAft>
                  <a:spcPct val="0"/>
                </a:spcAft>
              </a:pPr>
              <a:r>
                <a:rPr lang="zh-CN" altLang="en-US" sz="1000" b="1" i="0">
                  <a:solidFill>
                    <a:srgbClr val="007A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专属文档工作台：</a:t>
              </a:r>
              <a:endParaRPr lang="zh-CN" altLang="en-US" sz="1000" b="1" i="0">
                <a:solidFill>
                  <a:srgbClr val="007A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任务化管理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进度可追踪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None/>
              </a:pPr>
              <a:r>
                <a:rPr lang="zh-CN" altLang="en-US" sz="1000" b="1" i="0">
                  <a:solidFill>
                    <a:srgbClr val="007A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拒绝</a:t>
              </a:r>
              <a:r>
                <a:rPr lang="en-US" altLang="zh-CN" sz="1000" b="1" i="0">
                  <a:solidFill>
                    <a:srgbClr val="007A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000" b="1" i="0">
                  <a:solidFill>
                    <a:srgbClr val="007A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幻觉：</a:t>
              </a:r>
              <a:endParaRPr lang="zh-CN" altLang="en-US" sz="1000" b="1" i="0">
                <a:solidFill>
                  <a:srgbClr val="007A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采用 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Evidence-first RAG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技术，当知识库证据不足时，系统会诚实地进入“低置信度流程”，绝不静默伪装成高置信度结果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ts val="100"/>
                </a:spcBef>
                <a:spcAft>
                  <a:spcPct val="0"/>
                </a:spcAft>
              </a:pPr>
              <a:r>
                <a:rPr lang="zh-CN" sz="1000" b="1" i="0">
                  <a:solidFill>
                    <a:srgbClr val="007A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所见即所得</a:t>
              </a:r>
              <a:r>
                <a:rPr lang="zh-CN" altLang="en-US" sz="1000" b="1" i="0">
                  <a:solidFill>
                    <a:srgbClr val="007A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zh-CN" altLang="en-US" sz="1000" b="1" i="0">
                <a:solidFill>
                  <a:srgbClr val="007A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接近最终 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Word / PDF 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的直观排版效果，支持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PDF 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 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DOCX 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标准格式导出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文档定稿并成功导出后可生成“知识候选”，形成知识回流。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文本框 158"/>
            <p:cNvSpPr txBox="1"/>
            <p:nvPr/>
          </p:nvSpPr>
          <p:spPr>
            <a:xfrm>
              <a:off x="2225" y="1640"/>
              <a:ext cx="7954" cy="57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>
                <a:spcBef>
                  <a:spcPct val="0"/>
                </a:spcBef>
                <a:spcAft>
                  <a:spcPts val="300"/>
                </a:spcAft>
              </a:pPr>
              <a:r>
                <a:rPr lang="zh-CN" altLang="en-US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文档中台 </a:t>
              </a:r>
              <a:r>
                <a:rPr lang="en-US" altLang="zh-CN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DocHub V1.0 </a:t>
              </a:r>
              <a:r>
                <a:rPr lang="zh-CN" altLang="en-US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正式上线</a:t>
              </a:r>
              <a:endParaRPr lang="en-US" altLang="zh-CN" sz="1600" b="1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圆角矩形 159"/>
            <p:cNvSpPr/>
            <p:nvPr>
              <p:custDataLst>
                <p:tags r:id="rId8"/>
              </p:custDataLst>
            </p:nvPr>
          </p:nvSpPr>
          <p:spPr>
            <a:xfrm>
              <a:off x="11074" y="1554"/>
              <a:ext cx="7241" cy="3333"/>
            </a:xfrm>
            <a:prstGeom prst="roundRect">
              <a:avLst>
                <a:gd name="adj" fmla="val 6630"/>
              </a:avLst>
            </a:prstGeom>
            <a:solidFill>
              <a:srgbClr val="0460C7"/>
            </a:solidFill>
            <a:ln>
              <a:noFill/>
            </a:ln>
          </p:spPr>
          <p:style>
            <a:lnRef idx="2">
              <a:srgbClr val="003399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1" name="圆角矩形 160"/>
            <p:cNvSpPr/>
            <p:nvPr>
              <p:custDataLst>
                <p:tags r:id="rId9"/>
              </p:custDataLst>
            </p:nvPr>
          </p:nvSpPr>
          <p:spPr>
            <a:xfrm>
              <a:off x="11193" y="1554"/>
              <a:ext cx="7310" cy="3333"/>
            </a:xfrm>
            <a:prstGeom prst="roundRect">
              <a:avLst>
                <a:gd name="adj" fmla="val 6180"/>
              </a:avLst>
            </a:prstGeom>
            <a:solidFill>
              <a:srgbClr val="FFFFFF"/>
            </a:solidFill>
            <a:ln w="3175">
              <a:solidFill>
                <a:srgbClr val="FFFFFF">
                  <a:lumMod val="85000"/>
                </a:srgbClr>
              </a:solidFill>
            </a:ln>
            <a:effectLst/>
          </p:spPr>
          <p:style>
            <a:lnRef idx="2">
              <a:srgbClr val="003399">
                <a:shade val="50000"/>
              </a:srgbClr>
            </a:lnRef>
            <a:fillRef idx="1">
              <a:srgbClr val="003399"/>
            </a:fillRef>
            <a:effectRef idx="0">
              <a:srgbClr val="003399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2" name="圆角矩形 161"/>
            <p:cNvSpPr/>
            <p:nvPr>
              <p:custDataLst>
                <p:tags r:id="rId10"/>
              </p:custDataLst>
            </p:nvPr>
          </p:nvSpPr>
          <p:spPr>
            <a:xfrm>
              <a:off x="11075" y="4992"/>
              <a:ext cx="2911" cy="2477"/>
            </a:xfrm>
            <a:prstGeom prst="roundRect">
              <a:avLst>
                <a:gd name="adj" fmla="val 6630"/>
              </a:avLst>
            </a:prstGeom>
            <a:solidFill>
              <a:srgbClr val="0460C7"/>
            </a:solidFill>
            <a:ln>
              <a:noFill/>
            </a:ln>
          </p:spPr>
          <p:style>
            <a:lnRef idx="2">
              <a:srgbClr val="003399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3" name="圆角矩形 162"/>
            <p:cNvSpPr/>
            <p:nvPr>
              <p:custDataLst>
                <p:tags r:id="rId11"/>
              </p:custDataLst>
            </p:nvPr>
          </p:nvSpPr>
          <p:spPr>
            <a:xfrm>
              <a:off x="11166" y="4992"/>
              <a:ext cx="2826" cy="2477"/>
            </a:xfrm>
            <a:prstGeom prst="roundRect">
              <a:avLst>
                <a:gd name="adj" fmla="val 6180"/>
              </a:avLst>
            </a:prstGeom>
            <a:solidFill>
              <a:srgbClr val="FFFFFF"/>
            </a:solidFill>
            <a:ln w="3175">
              <a:solidFill>
                <a:srgbClr val="FFFFFF">
                  <a:lumMod val="85000"/>
                </a:srgbClr>
              </a:solidFill>
            </a:ln>
            <a:effectLst/>
          </p:spPr>
          <p:style>
            <a:lnRef idx="2">
              <a:srgbClr val="003399">
                <a:shade val="50000"/>
              </a:srgbClr>
            </a:lnRef>
            <a:fillRef idx="1">
              <a:srgbClr val="003399"/>
            </a:fillRef>
            <a:effectRef idx="0">
              <a:srgbClr val="003399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5" name="圆角矩形 164"/>
            <p:cNvSpPr/>
            <p:nvPr>
              <p:custDataLst>
                <p:tags r:id="rId12"/>
              </p:custDataLst>
            </p:nvPr>
          </p:nvSpPr>
          <p:spPr>
            <a:xfrm>
              <a:off x="11054" y="7610"/>
              <a:ext cx="7266" cy="2477"/>
            </a:xfrm>
            <a:prstGeom prst="roundRect">
              <a:avLst>
                <a:gd name="adj" fmla="val 663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rgbClr val="003399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6" name="圆角矩形 165"/>
            <p:cNvSpPr/>
            <p:nvPr>
              <p:custDataLst>
                <p:tags r:id="rId13"/>
              </p:custDataLst>
            </p:nvPr>
          </p:nvSpPr>
          <p:spPr>
            <a:xfrm>
              <a:off x="11145" y="7610"/>
              <a:ext cx="7365" cy="2477"/>
            </a:xfrm>
            <a:prstGeom prst="roundRect">
              <a:avLst>
                <a:gd name="adj" fmla="val 6180"/>
              </a:avLst>
            </a:prstGeom>
            <a:solidFill>
              <a:srgbClr val="FFFFFF"/>
            </a:solidFill>
            <a:ln w="3175">
              <a:solidFill>
                <a:srgbClr val="FFFFFF">
                  <a:lumMod val="85000"/>
                </a:srgbClr>
              </a:solidFill>
            </a:ln>
            <a:effectLst/>
          </p:spPr>
          <p:style>
            <a:lnRef idx="2">
              <a:srgbClr val="003399">
                <a:shade val="50000"/>
              </a:srgbClr>
            </a:lnRef>
            <a:fillRef idx="1">
              <a:srgbClr val="003399"/>
            </a:fillRef>
            <a:effectRef idx="0">
              <a:srgbClr val="003399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167" name="直接连接符 166"/>
            <p:cNvCxnSpPr/>
            <p:nvPr/>
          </p:nvCxnSpPr>
          <p:spPr>
            <a:xfrm flipH="1">
              <a:off x="1830" y="4992"/>
              <a:ext cx="14" cy="2461"/>
            </a:xfrm>
            <a:prstGeom prst="line">
              <a:avLst/>
            </a:prstGeom>
            <a:ln>
              <a:solidFill>
                <a:srgbClr val="2D6CFF">
                  <a:alpha val="30000"/>
                </a:srgbClr>
              </a:solidFill>
            </a:ln>
          </p:spPr>
          <p:style>
            <a:lnRef idx="2">
              <a:srgbClr val="003399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 flipH="1">
              <a:off x="1816" y="7604"/>
              <a:ext cx="14" cy="2461"/>
            </a:xfrm>
            <a:prstGeom prst="line">
              <a:avLst/>
            </a:prstGeom>
            <a:ln>
              <a:solidFill>
                <a:srgbClr val="2D6CFF">
                  <a:alpha val="30000"/>
                </a:srgbClr>
              </a:solidFill>
            </a:ln>
          </p:spPr>
          <p:style>
            <a:lnRef idx="2">
              <a:srgbClr val="003399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sp>
          <p:nvSpPr>
            <p:cNvPr id="169" name="文本框 168"/>
            <p:cNvSpPr txBox="1"/>
            <p:nvPr/>
          </p:nvSpPr>
          <p:spPr>
            <a:xfrm>
              <a:off x="11296" y="1620"/>
              <a:ext cx="7077" cy="317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>
                <a:spcBef>
                  <a:spcPct val="0"/>
                </a:spcBef>
                <a:spcAft>
                  <a:spcPts val="300"/>
                </a:spcAft>
              </a:pPr>
              <a:r>
                <a:rPr lang="zh-CN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新小</a:t>
              </a:r>
              <a:r>
                <a:rPr lang="en-US" altLang="zh-CN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zh-CN" altLang="en-US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进入灰度阶段</a:t>
              </a:r>
              <a:endParaRPr lang="zh-CN" altLang="en-US" sz="1600" b="1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 algn="l">
                <a:spcAft>
                  <a:spcPts val="300"/>
                </a:spcAft>
              </a:pPr>
              <a:r>
                <a:rPr lang="en-US" altLang="zh-CN" sz="1000" b="1">
                  <a:solidFill>
                    <a:srgbClr val="007A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Agent 自动路由</a:t>
              </a:r>
              <a:endParaRPr lang="en-US" altLang="zh-CN" sz="1000" b="1" i="0">
                <a:solidFill>
                  <a:srgbClr val="007A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 algn="l">
                <a:buFont typeface="Arial" panose="020B0604020202090204"/>
              </a:pPr>
              <a:r>
                <a:rPr lang="zh-CN" sz="1000" b="1">
                  <a:solidFill>
                    <a:srgbClr val="007A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四步快速创建工单</a:t>
              </a:r>
              <a:endParaRPr lang="zh-CN" sz="1000" b="1" i="0">
                <a:solidFill>
                  <a:srgbClr val="007A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 algn="l">
                <a:buFont typeface="Arial" panose="020B0604020202090204"/>
                <a:buChar char="•"/>
              </a:pPr>
              <a:r>
                <a:rPr lang="zh-CN" altLang="en-US" sz="100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触发 → CRM 匹配 → 字段复查 → 提交，附件自动入 Jira，支持线程内追加。</a:t>
              </a:r>
              <a:endParaRPr lang="zh-CN" altLang="en-US" sz="100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 algn="l">
                <a:spcBef>
                  <a:spcPts val="100"/>
                </a:spcBef>
              </a:pPr>
              <a:r>
                <a:rPr lang="zh-CN" altLang="en-US" sz="1000" b="1">
                  <a:solidFill>
                    <a:srgbClr val="007A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自动退信诊断</a:t>
              </a:r>
              <a:endParaRPr lang="zh-CN" altLang="en-US" sz="1000" b="1" i="0">
                <a:solidFill>
                  <a:srgbClr val="007A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 algn="l">
                <a:buFont typeface="Arial" panose="020B0604020202090204"/>
                <a:buChar char="•"/>
              </a:pPr>
              <a:r>
                <a:rPr lang="zh-CN" altLang="en-US" sz="100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依次调用 </a:t>
              </a:r>
              <a:r>
                <a:rPr lang="en-US" altLang="zh-CN" sz="100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MX / SPF / DMARC / SMTP，</a:t>
              </a:r>
              <a:r>
                <a:rPr lang="zh-CN" altLang="en-US" sz="100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输出结构化诊断报告。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algn="l">
                <a:spcBef>
                  <a:spcPts val="100"/>
                </a:spcBef>
                <a:buClrTx/>
                <a:buSzTx/>
                <a:buFontTx/>
              </a:pPr>
              <a:r>
                <a:rPr lang="zh-CN" altLang="en-US" sz="1000" b="1">
                  <a:solidFill>
                    <a:srgbClr val="007A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知识工程闭环</a:t>
              </a:r>
              <a:endParaRPr lang="zh-CN" altLang="en-US" sz="1000" b="1" i="0">
                <a:solidFill>
                  <a:srgbClr val="007A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algn="l">
                <a:spcBef>
                  <a:spcPts val="100"/>
                </a:spcBef>
                <a:buClrTx/>
                <a:buSzTx/>
                <a:buFont typeface="Arial" panose="020B0604020202090204"/>
                <a:buChar char="•"/>
              </a:pPr>
              <a:r>
                <a:rPr lang="zh-CN" altLang="en-US" sz="100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贡献 → 查重 → 审核 → 入库 → 命中 → 反馈，差评直转回归用例。</a:t>
              </a:r>
              <a:endParaRPr lang="zh-CN" altLang="en-US" sz="100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algn="l">
                <a:spcBef>
                  <a:spcPts val="100"/>
                </a:spcBef>
                <a:buClrTx/>
                <a:buSzTx/>
                <a:buFontTx/>
              </a:pPr>
              <a:r>
                <a:rPr lang="zh-CN" altLang="en-US" sz="1000" b="1">
                  <a:solidFill>
                    <a:srgbClr val="007A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可靠性提升</a:t>
              </a:r>
              <a:endParaRPr lang="zh-CN" altLang="en-US" sz="1000" b="1" i="0">
                <a:solidFill>
                  <a:srgbClr val="007A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 algn="l">
                <a:spcBef>
                  <a:spcPts val="100"/>
                </a:spcBef>
                <a:buClrTx/>
                <a:buSzTx/>
                <a:buFont typeface="Arial" panose="020B0604020202090204" pitchFamily="34" charset="0"/>
                <a:buChar char="•"/>
              </a:pPr>
              <a:r>
                <a:rPr lang="zh-CN" altLang="en-US" sz="100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速度差异 / 来源数量 / 匹配分数三档判读，帮助用户判断答案可信度。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文本框 169"/>
            <p:cNvSpPr txBox="1"/>
            <p:nvPr/>
          </p:nvSpPr>
          <p:spPr>
            <a:xfrm>
              <a:off x="11294" y="5488"/>
              <a:ext cx="2498" cy="169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>
                <a:spcBef>
                  <a:spcPct val="0"/>
                </a:spcBef>
                <a:spcAft>
                  <a:spcPts val="300"/>
                </a:spcAft>
              </a:pPr>
              <a:r>
                <a:rPr lang="zh-CN" altLang="en-US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客服</a:t>
              </a:r>
              <a:r>
                <a:rPr lang="en-US" altLang="zh-CN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质检</a:t>
              </a:r>
              <a:endParaRPr lang="zh-CN" altLang="en-US" sz="1600" b="1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Jira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工单、七鱼在线服务数据、呼叫中心语音数据拉取&amp;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质检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None/>
              </a:pP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文本框 170"/>
            <p:cNvSpPr txBox="1"/>
            <p:nvPr/>
          </p:nvSpPr>
          <p:spPr>
            <a:xfrm>
              <a:off x="14410" y="5488"/>
              <a:ext cx="4214" cy="116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>
                <a:spcBef>
                  <a:spcPct val="0"/>
                </a:spcBef>
                <a:spcAft>
                  <a:spcPts val="300"/>
                </a:spcAft>
              </a:pPr>
              <a:r>
                <a:rPr lang="en-US" altLang="zh-CN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CRM</a:t>
              </a:r>
              <a:r>
                <a:rPr lang="zh-CN" altLang="en-US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</a:t>
              </a:r>
              <a:r>
                <a:rPr lang="en-US" altLang="zh-CN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Skills</a:t>
              </a:r>
              <a:r>
                <a:rPr lang="zh-CN" altLang="en-US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化</a:t>
              </a:r>
              <a:endParaRPr lang="zh-CN" altLang="en-US" sz="1600" b="1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TS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借调售前，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im-bot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支持对话生成建单。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云服务中心自动开通及续期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skill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上线小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文本框 172"/>
            <p:cNvSpPr txBox="1"/>
            <p:nvPr/>
          </p:nvSpPr>
          <p:spPr>
            <a:xfrm>
              <a:off x="156" y="2601"/>
              <a:ext cx="1740" cy="103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 algn="ctr">
                <a:spcBef>
                  <a:spcPts val="100"/>
                </a:spcBef>
              </a:pPr>
              <a:r>
                <a:rPr lang="zh-CN" sz="14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平台建设</a:t>
              </a:r>
              <a:endParaRPr lang="zh-CN" sz="1400" b="1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 algn="ctr">
                <a:spcBef>
                  <a:spcPts val="100"/>
                </a:spcBef>
              </a:pPr>
              <a:r>
                <a:rPr lang="zh-CN" altLang="en-US" sz="900" b="0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底层知识库治理</a:t>
              </a:r>
              <a:r>
                <a:rPr lang="en-US" altLang="zh-CN" sz="900" b="0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endParaRPr lang="en-US" altLang="zh-CN" sz="900" b="0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 algn="ctr">
                <a:spcBef>
                  <a:spcPts val="100"/>
                </a:spcBef>
              </a:pPr>
              <a:r>
                <a:rPr lang="zh-CN" altLang="en-US" sz="900" b="0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服务流程重构</a:t>
              </a:r>
              <a:endParaRPr lang="zh-CN" altLang="en-US" sz="900" b="0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-461" y="5778"/>
              <a:ext cx="2959" cy="78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 algn="ctr">
                <a:spcBef>
                  <a:spcPts val="100"/>
                </a:spcBef>
              </a:pPr>
              <a:r>
                <a:rPr lang="en-US" altLang="zh-CN" sz="14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管理优化</a:t>
              </a:r>
              <a:endParaRPr lang="zh-CN" altLang="en-US" sz="1400" b="1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 algn="ctr">
                <a:spcBef>
                  <a:spcPts val="100"/>
                </a:spcBef>
              </a:pPr>
              <a:r>
                <a:rPr lang="zh-CN" altLang="en-US" sz="900" b="0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提效</a:t>
              </a:r>
              <a:r>
                <a:rPr lang="en-US" altLang="zh-CN" sz="900" b="0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900" b="0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赋能</a:t>
              </a:r>
              <a:r>
                <a:rPr lang="en-US" altLang="zh-CN" sz="900" b="0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altLang="zh-CN" sz="900" b="0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文本框 174"/>
            <p:cNvSpPr txBox="1"/>
            <p:nvPr/>
          </p:nvSpPr>
          <p:spPr>
            <a:xfrm>
              <a:off x="-218" y="8344"/>
              <a:ext cx="2586" cy="78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 algn="ctr">
                <a:spcBef>
                  <a:spcPts val="100"/>
                </a:spcBef>
              </a:pPr>
              <a:r>
                <a:rPr lang="zh-CN" altLang="en-US" sz="14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工具建设</a:t>
              </a:r>
              <a:endParaRPr lang="zh-CN" altLang="en-US" sz="1400" b="1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 algn="ctr">
                <a:spcBef>
                  <a:spcPts val="100"/>
                </a:spcBef>
              </a:pPr>
              <a:r>
                <a:rPr lang="zh-CN" altLang="en-US" sz="900" b="0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 </a:t>
              </a:r>
              <a:r>
                <a:rPr lang="en-US" altLang="zh-CN" sz="900" b="0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 </a:t>
              </a:r>
              <a:r>
                <a:rPr lang="zh-CN" altLang="en-US" sz="900" b="0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认证</a:t>
              </a:r>
              <a:endParaRPr lang="zh-CN" altLang="en-US" sz="900" b="0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圆角矩形 176"/>
            <p:cNvSpPr/>
            <p:nvPr>
              <p:custDataLst>
                <p:tags r:id="rId14"/>
              </p:custDataLst>
            </p:nvPr>
          </p:nvSpPr>
          <p:spPr>
            <a:xfrm>
              <a:off x="1898" y="4992"/>
              <a:ext cx="4458" cy="2477"/>
            </a:xfrm>
            <a:prstGeom prst="roundRect">
              <a:avLst>
                <a:gd name="adj" fmla="val 6630"/>
              </a:avLst>
            </a:prstGeom>
            <a:solidFill>
              <a:srgbClr val="0460C7"/>
            </a:solidFill>
            <a:ln>
              <a:noFill/>
            </a:ln>
          </p:spPr>
          <p:style>
            <a:lnRef idx="2">
              <a:srgbClr val="003399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8" name="圆角矩形 177"/>
            <p:cNvSpPr/>
            <p:nvPr>
              <p:custDataLst>
                <p:tags r:id="rId15"/>
              </p:custDataLst>
            </p:nvPr>
          </p:nvSpPr>
          <p:spPr>
            <a:xfrm>
              <a:off x="1989" y="4992"/>
              <a:ext cx="4370" cy="2477"/>
            </a:xfrm>
            <a:prstGeom prst="roundRect">
              <a:avLst>
                <a:gd name="adj" fmla="val 6180"/>
              </a:avLst>
            </a:prstGeom>
            <a:solidFill>
              <a:srgbClr val="FFFFFF"/>
            </a:solidFill>
            <a:ln w="3175">
              <a:solidFill>
                <a:srgbClr val="FFFFFF">
                  <a:lumMod val="85000"/>
                </a:srgbClr>
              </a:solidFill>
            </a:ln>
            <a:effectLst/>
          </p:spPr>
          <p:style>
            <a:lnRef idx="2">
              <a:srgbClr val="003399">
                <a:shade val="50000"/>
              </a:srgbClr>
            </a:lnRef>
            <a:fillRef idx="1">
              <a:srgbClr val="003399"/>
            </a:fillRef>
            <a:effectRef idx="0">
              <a:srgbClr val="003399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2225" y="5586"/>
              <a:ext cx="4009" cy="116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>
                <a:spcBef>
                  <a:spcPct val="0"/>
                </a:spcBef>
                <a:spcAft>
                  <a:spcPts val="300"/>
                </a:spcAft>
              </a:pPr>
              <a:r>
                <a:rPr lang="zh-CN" altLang="en-US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服务周数据统计平台</a:t>
              </a:r>
              <a:endParaRPr lang="zh-CN" altLang="en-US" sz="1600" b="1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利用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搭建的本地运营数据报表页面，支持按周查看售后核心指标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圆角矩形 179"/>
            <p:cNvSpPr/>
            <p:nvPr>
              <p:custDataLst>
                <p:tags r:id="rId16"/>
              </p:custDataLst>
            </p:nvPr>
          </p:nvSpPr>
          <p:spPr>
            <a:xfrm>
              <a:off x="6416" y="4992"/>
              <a:ext cx="4512" cy="2477"/>
            </a:xfrm>
            <a:prstGeom prst="roundRect">
              <a:avLst>
                <a:gd name="adj" fmla="val 663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rgbClr val="003399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1" name="圆角矩形 180"/>
            <p:cNvSpPr/>
            <p:nvPr>
              <p:custDataLst>
                <p:tags r:id="rId17"/>
              </p:custDataLst>
            </p:nvPr>
          </p:nvSpPr>
          <p:spPr>
            <a:xfrm>
              <a:off x="6507" y="4992"/>
              <a:ext cx="4452" cy="2477"/>
            </a:xfrm>
            <a:prstGeom prst="roundRect">
              <a:avLst>
                <a:gd name="adj" fmla="val 6180"/>
              </a:avLst>
            </a:prstGeom>
            <a:solidFill>
              <a:srgbClr val="FFFFFF"/>
            </a:solidFill>
            <a:ln w="3175">
              <a:solidFill>
                <a:srgbClr val="FFFFFF">
                  <a:lumMod val="85000"/>
                </a:srgbClr>
              </a:solidFill>
            </a:ln>
            <a:effectLst/>
          </p:spPr>
          <p:style>
            <a:lnRef idx="2">
              <a:srgbClr val="003399">
                <a:shade val="50000"/>
              </a:srgbClr>
            </a:lnRef>
            <a:fillRef idx="1">
              <a:srgbClr val="003399"/>
            </a:fillRef>
            <a:effectRef idx="0">
              <a:srgbClr val="003399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2" name="文本框 181"/>
            <p:cNvSpPr txBox="1"/>
            <p:nvPr/>
          </p:nvSpPr>
          <p:spPr>
            <a:xfrm>
              <a:off x="6620" y="5488"/>
              <a:ext cx="4194" cy="162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None/>
              </a:pPr>
              <a:r>
                <a:rPr lang="en-US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CMCU</a:t>
              </a:r>
              <a:r>
                <a:rPr lang="zh-CN" altLang="en-US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工单自动化脚本工具</a:t>
              </a:r>
              <a:endParaRPr lang="en-US" sz="1600" b="1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废弃此前</a:t>
              </a:r>
              <a:r>
                <a:rPr lang="en-US" altLang="zh-CN" sz="1000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dify</a:t>
              </a:r>
              <a:r>
                <a:rPr lang="zh-CN" altLang="en-US" sz="1000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流程（节点限制大，定制化节点较多，无定制权限），改用</a:t>
              </a:r>
              <a:r>
                <a:rPr lang="en-US" altLang="zh-CN" sz="1000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000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生成的脚本自动化（代码执行，输出稳定，定制化灵活</a:t>
              </a:r>
              <a:r>
                <a:rPr lang="zh-CN" altLang="en-US" sz="10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），提效</a:t>
              </a:r>
              <a:r>
                <a:rPr lang="en-US" altLang="zh-CN" sz="10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80%+</a:t>
              </a:r>
              <a:r>
                <a:rPr lang="zh-CN" altLang="en-US" sz="10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000" b="1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圆角矩形 182"/>
            <p:cNvSpPr/>
            <p:nvPr>
              <p:custDataLst>
                <p:tags r:id="rId18"/>
              </p:custDataLst>
            </p:nvPr>
          </p:nvSpPr>
          <p:spPr>
            <a:xfrm>
              <a:off x="1895" y="7610"/>
              <a:ext cx="9016" cy="2477"/>
            </a:xfrm>
            <a:prstGeom prst="roundRect">
              <a:avLst>
                <a:gd name="adj" fmla="val 6630"/>
              </a:avLst>
            </a:prstGeom>
            <a:solidFill>
              <a:srgbClr val="0065FF"/>
            </a:solidFill>
            <a:ln>
              <a:noFill/>
            </a:ln>
          </p:spPr>
          <p:style>
            <a:lnRef idx="2">
              <a:srgbClr val="003399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4" name="圆角矩形 183"/>
            <p:cNvSpPr/>
            <p:nvPr>
              <p:custDataLst>
                <p:tags r:id="rId19"/>
              </p:custDataLst>
            </p:nvPr>
          </p:nvSpPr>
          <p:spPr>
            <a:xfrm>
              <a:off x="1986" y="7610"/>
              <a:ext cx="8927" cy="2477"/>
            </a:xfrm>
            <a:prstGeom prst="roundRect">
              <a:avLst>
                <a:gd name="adj" fmla="val 6180"/>
              </a:avLst>
            </a:prstGeom>
            <a:solidFill>
              <a:srgbClr val="FFFFFF"/>
            </a:solidFill>
            <a:ln w="3175">
              <a:solidFill>
                <a:srgbClr val="FFFFFF">
                  <a:lumMod val="85000"/>
                </a:srgbClr>
              </a:solidFill>
            </a:ln>
            <a:effectLst/>
          </p:spPr>
          <p:style>
            <a:lnRef idx="2">
              <a:srgbClr val="003399">
                <a:shade val="50000"/>
              </a:srgbClr>
            </a:lnRef>
            <a:fillRef idx="1">
              <a:srgbClr val="003399"/>
            </a:fillRef>
            <a:effectRef idx="0">
              <a:srgbClr val="003399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marL="285750" lvl="0" indent="-285750" algn="ctr">
                <a:buClrTx/>
                <a:buSzTx/>
                <a:buFont typeface="Arial" panose="020B0604020202090204" pitchFamily="34" charset="0"/>
                <a:buChar char="•"/>
              </a:pPr>
              <a:endParaRPr lang="zh-CN" altLang="en-US" sz="1200">
                <a:solidFill>
                  <a:srgbClr val="1967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5" name="文本框 184"/>
            <p:cNvSpPr txBox="1"/>
            <p:nvPr/>
          </p:nvSpPr>
          <p:spPr>
            <a:xfrm>
              <a:off x="11193" y="7721"/>
              <a:ext cx="7122" cy="221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algn="l">
                <a:spcAft>
                  <a:spcPts val="300"/>
                </a:spcAft>
                <a:buClrTx/>
                <a:buSzTx/>
                <a:buFontTx/>
              </a:pPr>
              <a:r>
                <a:rPr lang="zh-CN" altLang="en-US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双儿底座安全加固</a:t>
              </a:r>
              <a:endParaRPr lang="zh-CN" altLang="en-US" sz="1600" b="1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1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凭证安全</a:t>
              </a:r>
              <a:r>
                <a:rPr lang="en-US" altLang="zh-CN" sz="1000" b="1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 API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XOR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加密存储 + 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Base64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编码，本地永不明文暴露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1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权限隔离</a:t>
              </a:r>
              <a:r>
                <a:rPr lang="en-US" altLang="zh-CN" sz="1000" b="1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 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用户白名单（只允许谁能用） + 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Owner/Admin 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权限分离（用户权限与管理员权限不同） 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1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注入防护：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Prompt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工具白名单过滤 + 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XML 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环境标签隔离 + 禁止子代理嵌套。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1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路径围栏</a:t>
              </a:r>
              <a:r>
                <a:rPr lang="en-US" altLang="zh-CN" sz="1000" b="1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 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禁止删除工作区外目录、系统根目录等高危路径，</a:t>
              </a: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Windows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删除文件优先进入回收站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文本框 171"/>
            <p:cNvSpPr txBox="1"/>
            <p:nvPr/>
          </p:nvSpPr>
          <p:spPr>
            <a:xfrm>
              <a:off x="2368" y="7868"/>
              <a:ext cx="8058" cy="221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>
                <a:spcBef>
                  <a:spcPct val="0"/>
                </a:spcBef>
                <a:spcAft>
                  <a:spcPts val="300"/>
                </a:spcAft>
              </a:pPr>
              <a:r>
                <a:rPr lang="zh-CN" altLang="en-US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可视化迁移工具</a:t>
              </a:r>
              <a:r>
                <a:rPr lang="en-US" altLang="zh-CN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CoremailMigrate（V1.0）</a:t>
              </a:r>
              <a:r>
                <a:rPr lang="zh-CN" altLang="en-US" sz="1600" b="1" i="0">
                  <a:solidFill>
                    <a:srgbClr val="0033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发布</a:t>
              </a:r>
              <a:endParaRPr lang="zh-CN" altLang="en-US" sz="1600" b="1" i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多源迁移统一管理入口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Exchange 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迁移能力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en-US" altLang="zh-CN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Coremail </a:t>
              </a: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备份还原能力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多节点调度与并发执行能力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配置管理与回滚能力</a:t>
              </a:r>
              <a:endParaRPr lang="zh-CN" altLang="en-US" sz="1000" b="0" i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>
                <a:spcBef>
                  <a:spcPct val="0"/>
                </a:spcBef>
                <a:spcAft>
                  <a:spcPct val="0"/>
                </a:spcAft>
                <a:buFont typeface="Arial" panose="020B0604020202090204"/>
                <a:buChar char="•"/>
              </a:pPr>
              <a:r>
                <a:rPr lang="zh-CN" altLang="en-US" sz="1000" b="0" i="0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邮箱搬家助手与日志辅助分析能力</a:t>
              </a:r>
              <a:endParaRPr lang="zh-CN" altLang="en-US" sz="1000" b="0" i="1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" name="文本框 163"/>
          <p:cNvSpPr txBox="1"/>
          <p:nvPr/>
        </p:nvSpPr>
        <p:spPr>
          <a:xfrm>
            <a:off x="130175" y="247650"/>
            <a:ext cx="10457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、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关键项目：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AI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应用开发-文档中台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23545" y="1202055"/>
            <a:ext cx="6480000" cy="4680000"/>
          </a:xfrm>
          <a:prstGeom prst="roundRect">
            <a:avLst>
              <a:gd name="adj" fmla="val 1751"/>
            </a:avLst>
          </a:prstGeom>
          <a:solidFill>
            <a:schemeClr val="bg1">
              <a:lumMod val="95000"/>
              <a:alpha val="8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766445" y="6997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200">
                <a:solidFill>
                  <a:sysClr val="windowText" lastClr="00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基于企业知识库与 </a:t>
            </a:r>
            <a:r>
              <a:rPr lang="en-US" altLang="zh-CN" sz="1200">
                <a:solidFill>
                  <a:sysClr val="windowText" lastClr="00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LLM </a:t>
            </a:r>
            <a:r>
              <a:rPr lang="zh-CN" altLang="en-US" sz="1200">
                <a:solidFill>
                  <a:sysClr val="windowText" lastClr="00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实现智能方案撰写。</a:t>
            </a:r>
            <a:endParaRPr lang="zh-CN" altLang="en-US" sz="1200" dirty="0">
              <a:solidFill>
                <a:sysClr val="windowText" lastClr="000000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403985"/>
            <a:ext cx="5980430" cy="31502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300" y="1202055"/>
            <a:ext cx="4490720" cy="46805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9" name="文本框 18"/>
          <p:cNvSpPr txBox="1"/>
          <p:nvPr/>
        </p:nvSpPr>
        <p:spPr>
          <a:xfrm>
            <a:off x="666750" y="4765040"/>
            <a:ext cx="55092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200" b="1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消除重复造轮子：</a:t>
            </a:r>
            <a:r>
              <a:rPr lang="en-US" altLang="zh-CN" sz="12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</a:t>
            </a:r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自动引用企业知识库文档切片，告别复制粘贴带来的错误。</a:t>
            </a:r>
            <a:endParaRPr lang="zh-CN" altLang="en-US" sz="120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marL="171450" indent="-1714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200" b="1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专业度平权：</a:t>
            </a:r>
            <a:r>
              <a:rPr lang="en-US" altLang="zh-CN" sz="12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</a:t>
            </a:r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让初级售前顾问也能快速输出符合行业标杆水准的技术方案。</a:t>
            </a:r>
            <a:endParaRPr lang="zh-CN" altLang="en-US" sz="120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marL="171450" indent="-1714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200" b="1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全智能化生成：</a:t>
            </a:r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同时支持知识库召回与</a:t>
            </a:r>
            <a:r>
              <a:rPr lang="en-US" altLang="zh-CN" sz="12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LLM </a:t>
            </a:r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生成、改写，实现文档一键生成。</a:t>
            </a:r>
            <a:endParaRPr lang="zh-CN" altLang="en-US" sz="1200" b="1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" name="文本框 163"/>
          <p:cNvSpPr txBox="1"/>
          <p:nvPr/>
        </p:nvSpPr>
        <p:spPr>
          <a:xfrm>
            <a:off x="130175" y="247650"/>
            <a:ext cx="10457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、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关键项目：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AI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应用开发-交付工具集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96000" y="1080135"/>
            <a:ext cx="10800000" cy="3600000"/>
          </a:xfrm>
          <a:prstGeom prst="roundRect">
            <a:avLst>
              <a:gd name="adj" fmla="val 855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766445" y="6997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200">
                <a:solidFill>
                  <a:sysClr val="windowText" lastClr="00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直击</a:t>
            </a:r>
            <a:r>
              <a:rPr lang="en-US" altLang="zh-CN" sz="1200">
                <a:solidFill>
                  <a:sysClr val="windowText" lastClr="00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”</a:t>
            </a:r>
            <a:r>
              <a:rPr lang="zh-CN" altLang="en-US" sz="1200">
                <a:solidFill>
                  <a:sysClr val="windowText" lastClr="00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排障耗时</a:t>
            </a:r>
            <a:r>
              <a:rPr lang="en-US" altLang="zh-CN" sz="1200">
                <a:solidFill>
                  <a:sysClr val="windowText" lastClr="00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“</a:t>
            </a:r>
            <a:r>
              <a:rPr lang="zh-CN" altLang="en-US" sz="1200">
                <a:solidFill>
                  <a:sysClr val="windowText" lastClr="00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痛点，赋能一线，提高效率并保障交付质量。</a:t>
            </a:r>
            <a:endParaRPr lang="zh-CN" altLang="en-US" sz="1200" dirty="0">
              <a:solidFill>
                <a:sysClr val="windowText" lastClr="000000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876300" y="1548765"/>
            <a:ext cx="3240000" cy="2880000"/>
          </a:xfrm>
          <a:prstGeom prst="roundRect">
            <a:avLst>
              <a:gd name="adj" fmla="val 829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876300" y="1637665"/>
            <a:ext cx="3240000" cy="2880000"/>
          </a:xfrm>
          <a:prstGeom prst="roundRect">
            <a:avLst>
              <a:gd name="adj" fmla="val 9172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476115" y="1548765"/>
            <a:ext cx="3240000" cy="2880000"/>
          </a:xfrm>
          <a:prstGeom prst="roundRect">
            <a:avLst>
              <a:gd name="adj" fmla="val 8290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4476115" y="1637665"/>
            <a:ext cx="3240000" cy="2880000"/>
          </a:xfrm>
          <a:prstGeom prst="roundRect">
            <a:avLst>
              <a:gd name="adj" fmla="val 9172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8075930" y="1548765"/>
            <a:ext cx="3240000" cy="2880000"/>
          </a:xfrm>
          <a:prstGeom prst="roundRect">
            <a:avLst>
              <a:gd name="adj" fmla="val 829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8075930" y="1637665"/>
            <a:ext cx="3240000" cy="2880000"/>
          </a:xfrm>
          <a:prstGeom prst="roundRect">
            <a:avLst>
              <a:gd name="adj" fmla="val 9172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696000" y="4789805"/>
            <a:ext cx="10800000" cy="1440000"/>
          </a:xfrm>
          <a:prstGeom prst="roundRect">
            <a:avLst>
              <a:gd name="adj" fmla="val 855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016635" y="4909185"/>
            <a:ext cx="436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🎯</a:t>
            </a:r>
            <a:r>
              <a:rPr lang="en-US" altLang="zh-CN" sz="1600" b="1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核心业务底座</a:t>
            </a:r>
            <a:endParaRPr lang="zh-CN" altLang="en-US" sz="12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056005" y="1836420"/>
            <a:ext cx="2880000" cy="25330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auto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🛡</a:t>
            </a:r>
            <a:r>
              <a:rPr lang="en-US" altLang="zh-CN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实施前：排雷降险情</a:t>
            </a:r>
            <a:endParaRPr lang="zh-CN" altLang="en-US" sz="1400" b="1" i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zh-CN" altLang="en-US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打通系统级环境诊断（网络、</a:t>
            </a:r>
            <a:r>
              <a:rPr lang="en-US" altLang="zh-CN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DNS</a:t>
            </a:r>
            <a:r>
              <a:rPr lang="zh-CN" altLang="en-US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、</a:t>
            </a:r>
            <a:r>
              <a:rPr lang="en-US" altLang="zh-CN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SSL </a:t>
            </a:r>
            <a:r>
              <a:rPr lang="zh-CN" altLang="en-US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证书等），降低</a:t>
            </a:r>
            <a:r>
              <a:rPr lang="en-US" altLang="zh-CN" sz="1200" b="1" i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返工/协调/等待</a:t>
            </a:r>
            <a:r>
              <a:rPr lang="zh-CN" altLang="en-US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成本。</a:t>
            </a:r>
            <a:endParaRPr lang="zh-CN" altLang="en-US" sz="1200" b="0" i="0">
              <a:solidFill>
                <a:srgbClr val="3C4043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zh-CN" altLang="en-US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通过端口仿真与探测能力，重点解决端口探通痛点。</a:t>
            </a:r>
            <a:endParaRPr lang="zh-CN" altLang="en-US" sz="1200" b="0" i="0">
              <a:solidFill>
                <a:srgbClr val="3C4043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zh-CN" altLang="en-US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提供全局状态可视化看板，提前拦截部署隐患，减少</a:t>
            </a:r>
            <a:r>
              <a:rPr lang="en-US" altLang="zh-CN" sz="1200" b="1" i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无效工时投入</a:t>
            </a:r>
            <a:r>
              <a:rPr lang="zh-CN" altLang="en-US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。</a:t>
            </a:r>
            <a:endParaRPr lang="zh-CN" altLang="en-US" sz="1200" b="0" i="0">
              <a:solidFill>
                <a:srgbClr val="3C4043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656455" y="1836420"/>
            <a:ext cx="2880000" cy="22561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auto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⚡</a:t>
            </a:r>
            <a:r>
              <a:rPr lang="en-US" altLang="zh-CN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实施中：化繁为简</a:t>
            </a:r>
            <a:endParaRPr lang="zh-CN" altLang="en-US" sz="1400" b="1" i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zh-CN" altLang="en-US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落地系统自动化部署工作流。</a:t>
            </a:r>
            <a:endParaRPr lang="zh-CN" altLang="en-US" sz="1200" b="0" i="0">
              <a:solidFill>
                <a:srgbClr val="3C4043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zh-CN" altLang="en-US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大量引入标准化脚本，支持任意节点批量操作。</a:t>
            </a:r>
            <a:endParaRPr lang="zh-CN" altLang="en-US" sz="1200" b="0" i="0">
              <a:solidFill>
                <a:srgbClr val="3C4043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zh-CN" altLang="en-US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已实装</a:t>
            </a:r>
            <a:r>
              <a:rPr lang="en-US" altLang="zh-CN" sz="1200" b="1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环境初始化、单机部署、系统验证、上线巡检、脚本注入</a:t>
            </a:r>
            <a:r>
              <a:rPr lang="zh-CN" altLang="en-US" sz="120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等能力。</a:t>
            </a:r>
            <a:endParaRPr lang="zh-CN" altLang="en-US" sz="1200" b="0" i="0">
              <a:solidFill>
                <a:srgbClr val="3C4043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56270" y="1836420"/>
            <a:ext cx="2880000" cy="22561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auto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🌐</a:t>
            </a:r>
            <a:r>
              <a:rPr lang="en-US" altLang="zh-CN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环境保障：无惧恶劣</a:t>
            </a:r>
            <a:endParaRPr lang="zh-CN" altLang="en-US" sz="1400" b="1" i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en-US" altLang="zh-CN" sz="1200" b="1" i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单文件设计</a:t>
            </a:r>
            <a:r>
              <a:rPr lang="zh-CN" altLang="en-US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，免安装、零依赖，开箱即用。</a:t>
            </a:r>
            <a:endParaRPr lang="zh-CN" altLang="en-US" sz="1200" b="0" i="0">
              <a:solidFill>
                <a:srgbClr val="3C4043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en-US" altLang="zh-CN" sz="120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Linux </a:t>
            </a:r>
            <a:r>
              <a:rPr lang="zh-CN" altLang="en-US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跨平台（</a:t>
            </a:r>
            <a:r>
              <a:rPr lang="en-US" altLang="zh-CN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x86 &amp; ARM</a:t>
            </a:r>
            <a:r>
              <a:rPr lang="zh-CN" altLang="en-US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）环境支持；</a:t>
            </a:r>
            <a:endParaRPr lang="en-US" altLang="zh-CN" sz="1200" b="0" i="0">
              <a:solidFill>
                <a:srgbClr val="3C4043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zh-CN" altLang="en-US" sz="120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支持</a:t>
            </a:r>
            <a:r>
              <a:rPr lang="en-US" altLang="zh-CN" sz="120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</a:t>
            </a:r>
            <a:r>
              <a:rPr lang="en-US" altLang="zh-CN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Web </a:t>
            </a:r>
            <a:r>
              <a:rPr lang="zh-CN" altLang="en-US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可视化</a:t>
            </a:r>
            <a:r>
              <a:rPr lang="en-US" altLang="zh-CN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&amp; CLI </a:t>
            </a:r>
            <a:r>
              <a:rPr lang="zh-CN" altLang="en-US" sz="1200" b="0" i="0">
                <a:solidFill>
                  <a:srgbClr val="3C404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命令行双模式运行。</a:t>
            </a:r>
            <a:endParaRPr lang="zh-CN" altLang="en-US" sz="1200" b="0" i="0">
              <a:solidFill>
                <a:srgbClr val="3C4043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56005" y="5427980"/>
            <a:ext cx="50399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20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自动压测工具：</a:t>
            </a:r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已发布</a:t>
            </a:r>
            <a:r>
              <a:rPr lang="en-US" altLang="zh-CN" sz="12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v1.0 </a:t>
            </a:r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版本，华北一区、华东一区、华南一区已成功应用。</a:t>
            </a:r>
            <a:endParaRPr lang="zh-CN" altLang="en-US" sz="1200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096000" y="5427980"/>
            <a:ext cx="5040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20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可视化迁移工具：</a:t>
            </a:r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已发布</a:t>
            </a:r>
            <a:r>
              <a:rPr lang="en-US" altLang="zh-CN" sz="12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v1.0 </a:t>
            </a:r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版本，完成</a:t>
            </a:r>
            <a:r>
              <a:rPr lang="en-US" altLang="zh-CN" sz="12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Exchange </a:t>
            </a:r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迁移、邮箱搬家、备份还原可视化操作功能实现。</a:t>
            </a:r>
            <a:endParaRPr lang="zh-CN" altLang="en-US" sz="1200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048000" y="10801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🛠</a:t>
            </a:r>
            <a:r>
              <a:rPr lang="en-US" altLang="zh-CN" sz="1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en-US" altLang="zh-CN" sz="1600" b="1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交付工具箱 CMBox</a:t>
            </a:r>
            <a:endParaRPr lang="en-US" altLang="zh-CN" sz="1600" b="1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" name="文本框 163"/>
          <p:cNvSpPr txBox="1"/>
          <p:nvPr/>
        </p:nvSpPr>
        <p:spPr>
          <a:xfrm>
            <a:off x="130175" y="257175"/>
            <a:ext cx="10457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三、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关键项目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：新小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C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同学试运行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——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从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「可用」走向「可靠」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grpSp>
        <p:nvGrpSpPr>
          <p:cNvPr id="16" name="组合 15"/>
          <p:cNvGrpSpPr/>
          <p:nvPr>
            <p:custDataLst>
              <p:tags r:id="rId1"/>
            </p:custDataLst>
          </p:nvPr>
        </p:nvGrpSpPr>
        <p:grpSpPr>
          <a:xfrm>
            <a:off x="283845" y="1076325"/>
            <a:ext cx="8421370" cy="1228725"/>
            <a:chOff x="447" y="1672"/>
            <a:chExt cx="13262" cy="2664"/>
          </a:xfrm>
        </p:grpSpPr>
        <p:sp>
          <p:nvSpPr>
            <p:cNvPr id="5" name="Rounded Rectangle 6"/>
            <p:cNvSpPr/>
            <p:nvPr>
              <p:custDataLst>
                <p:tags r:id="rId2"/>
              </p:custDataLst>
            </p:nvPr>
          </p:nvSpPr>
          <p:spPr>
            <a:xfrm>
              <a:off x="447" y="1672"/>
              <a:ext cx="4248" cy="266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4E3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7"/>
            <p:cNvSpPr/>
            <p:nvPr>
              <p:custDataLst>
                <p:tags r:id="rId3"/>
              </p:custDataLst>
            </p:nvPr>
          </p:nvSpPr>
          <p:spPr>
            <a:xfrm>
              <a:off x="447" y="1672"/>
              <a:ext cx="4248" cy="115"/>
            </a:xfrm>
            <a:prstGeom prst="rect">
              <a:avLst/>
            </a:prstGeom>
            <a:solidFill>
              <a:srgbClr val="0075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13"/>
            <p:cNvSpPr txBox="1"/>
            <p:nvPr>
              <p:custDataLst>
                <p:tags r:id="rId4"/>
              </p:custDataLst>
            </p:nvPr>
          </p:nvSpPr>
          <p:spPr>
            <a:xfrm>
              <a:off x="807" y="1960"/>
              <a:ext cx="3816" cy="106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2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15</a:t>
              </a:r>
              <a:r>
                <a:rPr sz="140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  人 MAU</a:t>
              </a:r>
              <a:endParaRPr sz="140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TextBox 14"/>
            <p:cNvSpPr txBox="1"/>
            <p:nvPr>
              <p:custDataLst>
                <p:tags r:id="rId5"/>
              </p:custDataLst>
            </p:nvPr>
          </p:nvSpPr>
          <p:spPr>
            <a:xfrm>
              <a:off x="807" y="3112"/>
              <a:ext cx="3816" cy="3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50" b="1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灰度用户</a:t>
              </a:r>
              <a:endParaRPr sz="1150" b="1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TextBox 15"/>
            <p:cNvSpPr txBox="1"/>
            <p:nvPr>
              <p:custDataLst>
                <p:tags r:id="rId6"/>
              </p:custDataLst>
            </p:nvPr>
          </p:nvSpPr>
          <p:spPr>
            <a:xfrm>
              <a:off x="807" y="3573"/>
              <a:ext cx="3816" cy="7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90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邮件场景为主路径
EML 上传 11 / 15 (73%)</a:t>
              </a:r>
              <a:endParaRPr sz="90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0" name="Rounded Rectangle 29"/>
            <p:cNvSpPr/>
            <p:nvPr>
              <p:custDataLst>
                <p:tags r:id="rId7"/>
              </p:custDataLst>
            </p:nvPr>
          </p:nvSpPr>
          <p:spPr>
            <a:xfrm>
              <a:off x="4954" y="1672"/>
              <a:ext cx="4248" cy="266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4E3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>
              <p:custDataLst>
                <p:tags r:id="rId8"/>
              </p:custDataLst>
            </p:nvPr>
          </p:nvSpPr>
          <p:spPr>
            <a:xfrm>
              <a:off x="4954" y="1672"/>
              <a:ext cx="4248" cy="115"/>
            </a:xfrm>
            <a:prstGeom prst="rect">
              <a:avLst/>
            </a:prstGeom>
            <a:solidFill>
              <a:srgbClr val="0075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18"/>
            <p:cNvSpPr txBox="1"/>
            <p:nvPr>
              <p:custDataLst>
                <p:tags r:id="rId9"/>
              </p:custDataLst>
            </p:nvPr>
          </p:nvSpPr>
          <p:spPr>
            <a:xfrm>
              <a:off x="5314" y="1960"/>
              <a:ext cx="3816" cy="106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2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522</a:t>
              </a:r>
              <a:r>
                <a:rPr sz="140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  次</a:t>
              </a:r>
              <a:endParaRPr sz="140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" name="TextBox 19"/>
            <p:cNvSpPr txBox="1"/>
            <p:nvPr>
              <p:custDataLst>
                <p:tags r:id="rId10"/>
              </p:custDataLst>
            </p:nvPr>
          </p:nvSpPr>
          <p:spPr>
            <a:xfrm>
              <a:off x="5314" y="3112"/>
              <a:ext cx="3816" cy="3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50" b="1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月总提问</a:t>
              </a:r>
              <a:endParaRPr sz="1150" b="1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TextBox 20"/>
            <p:cNvSpPr txBox="1"/>
            <p:nvPr>
              <p:custDataLst>
                <p:tags r:id="rId11"/>
              </p:custDataLst>
            </p:nvPr>
          </p:nvSpPr>
          <p:spPr>
            <a:xfrm>
              <a:off x="5314" y="3573"/>
              <a:ext cx="3816" cy="7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90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日均 ~35 次
人均日活高，粘性强</a:t>
              </a:r>
              <a:endParaRPr sz="90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Rounded Rectangle 51"/>
            <p:cNvSpPr/>
            <p:nvPr>
              <p:custDataLst>
                <p:tags r:id="rId12"/>
              </p:custDataLst>
            </p:nvPr>
          </p:nvSpPr>
          <p:spPr>
            <a:xfrm>
              <a:off x="9461" y="1672"/>
              <a:ext cx="4248" cy="266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4E3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52"/>
            <p:cNvSpPr/>
            <p:nvPr>
              <p:custDataLst>
                <p:tags r:id="rId13"/>
              </p:custDataLst>
            </p:nvPr>
          </p:nvSpPr>
          <p:spPr>
            <a:xfrm>
              <a:off x="9461" y="1672"/>
              <a:ext cx="4248" cy="115"/>
            </a:xfrm>
            <a:prstGeom prst="rect">
              <a:avLst/>
            </a:prstGeom>
            <a:solidFill>
              <a:srgbClr val="F491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23"/>
            <p:cNvSpPr txBox="1"/>
            <p:nvPr>
              <p:custDataLst>
                <p:tags r:id="rId14"/>
              </p:custDataLst>
            </p:nvPr>
          </p:nvSpPr>
          <p:spPr>
            <a:xfrm>
              <a:off x="9821" y="1960"/>
              <a:ext cx="3816" cy="106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2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257</a:t>
              </a:r>
              <a:r>
                <a:rPr sz="140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  单</a:t>
              </a:r>
              <a:endParaRPr sz="140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" name="TextBox 24"/>
            <p:cNvSpPr txBox="1"/>
            <p:nvPr>
              <p:custDataLst>
                <p:tags r:id="rId15"/>
              </p:custDataLst>
            </p:nvPr>
          </p:nvSpPr>
          <p:spPr>
            <a:xfrm>
              <a:off x="9821" y="3112"/>
              <a:ext cx="3816" cy="3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50" b="1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Jira 工单创建</a:t>
              </a:r>
              <a:r>
                <a:rPr lang="en-US" sz="1150" b="1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/</a:t>
              </a:r>
              <a:r>
                <a:rPr lang="zh-CN" altLang="en-US" sz="1150" b="1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邮件</a:t>
              </a:r>
              <a:r>
                <a:rPr lang="zh-CN" altLang="en-US" sz="1150" b="1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回复</a:t>
              </a:r>
              <a:endParaRPr lang="zh-CN" altLang="en-US" sz="1150" b="1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6" name="TextBox 25"/>
            <p:cNvSpPr txBox="1"/>
            <p:nvPr>
              <p:custDataLst>
                <p:tags r:id="rId16"/>
              </p:custDataLst>
            </p:nvPr>
          </p:nvSpPr>
          <p:spPr>
            <a:xfrm>
              <a:off x="9821" y="3573"/>
              <a:ext cx="3816" cy="37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90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转化率 45%</a:t>
              </a:r>
              <a:endParaRPr sz="90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57" name="TextBox 31"/>
          <p:cNvSpPr txBox="1"/>
          <p:nvPr/>
        </p:nvSpPr>
        <p:spPr>
          <a:xfrm>
            <a:off x="233045" y="2411095"/>
            <a:ext cx="1124712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200" b="1" i="0">
                <a:solidFill>
                  <a:srgbClr val="17406D"/>
                </a:solidFill>
                <a:latin typeface="微软雅黑" panose="020B0503020204020204" pitchFamily="34" charset="-122"/>
              </a:rPr>
              <a:t>前台聊天页主入口、后台知识工程治理同步推进；信任度与首次命中率显著提升</a:t>
            </a:r>
            <a:r>
              <a:rPr sz="1200" b="1" i="0">
                <a:solidFill>
                  <a:srgbClr val="17406D"/>
                </a:solidFill>
                <a:latin typeface="微软雅黑" panose="020B0503020204020204" pitchFamily="34" charset="-122"/>
              </a:rPr>
              <a:t> </a:t>
            </a:r>
            <a:endParaRPr sz="1200" b="1" i="0">
              <a:solidFill>
                <a:srgbClr val="17406D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33045" y="2605913"/>
            <a:ext cx="411480" cy="36576"/>
          </a:xfrm>
          <a:prstGeom prst="rect">
            <a:avLst/>
          </a:prstGeom>
          <a:solidFill>
            <a:srgbClr val="F4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233045" y="2719705"/>
            <a:ext cx="3703320" cy="1097280"/>
          </a:xfrm>
          <a:prstGeom prst="roundRect">
            <a:avLst>
              <a:gd name="adj" fmla="val 4000"/>
            </a:avLst>
          </a:prstGeom>
          <a:solidFill>
            <a:srgbClr val="E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33045" y="2719705"/>
            <a:ext cx="73152" cy="1097280"/>
          </a:xfrm>
          <a:prstGeom prst="rect">
            <a:avLst/>
          </a:prstGeom>
          <a:solidFill>
            <a:srgbClr val="174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35"/>
          <p:cNvSpPr txBox="1"/>
          <p:nvPr/>
        </p:nvSpPr>
        <p:spPr>
          <a:xfrm>
            <a:off x="434213" y="2856865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406D"/>
                </a:solidFill>
                <a:latin typeface="微软雅黑" panose="020B0503020204020204" pitchFamily="34" charset="-122"/>
              </a:rPr>
              <a:t>≈107</a:t>
            </a:r>
            <a:endParaRPr sz="2200" b="1" i="0">
              <a:solidFill>
                <a:srgbClr val="17406D"/>
              </a:solidFill>
              <a:latin typeface="微软雅黑" panose="020B0503020204020204" pitchFamily="34" charset="-122"/>
            </a:endParaRPr>
          </a:p>
        </p:txBody>
      </p:sp>
      <p:sp>
        <p:nvSpPr>
          <p:cNvPr id="62" name="TextBox 36"/>
          <p:cNvSpPr txBox="1"/>
          <p:nvPr/>
        </p:nvSpPr>
        <p:spPr>
          <a:xfrm>
            <a:off x="434213" y="3250057"/>
            <a:ext cx="3429000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A44"/>
                </a:solidFill>
                <a:latin typeface="微软雅黑" panose="020B0503020204020204" pitchFamily="34" charset="-122"/>
              </a:rPr>
              <a:t>Bug 修复</a:t>
            </a:r>
            <a:r>
              <a:rPr lang="zh-CN" sz="1050" b="1" i="0">
                <a:solidFill>
                  <a:srgbClr val="1A2A44"/>
                </a:solidFill>
                <a:latin typeface="微软雅黑" panose="020B0503020204020204" pitchFamily="34" charset="-122"/>
              </a:rPr>
              <a:t>提交</a:t>
            </a:r>
            <a:endParaRPr lang="zh-CN" sz="1050" b="1" i="0">
              <a:solidFill>
                <a:srgbClr val="1A2A44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TextBox 37"/>
          <p:cNvSpPr txBox="1"/>
          <p:nvPr/>
        </p:nvSpPr>
        <p:spPr>
          <a:xfrm>
            <a:off x="434213" y="3496945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0738F"/>
                </a:solidFill>
                <a:latin typeface="微软雅黑" panose="020B0503020204020204" pitchFamily="34" charset="-122"/>
              </a:rPr>
              <a:t>稳定性持续打磨，回归修复占主体</a:t>
            </a:r>
            <a:endParaRPr sz="850" b="0" i="0">
              <a:solidFill>
                <a:srgbClr val="60738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100957" y="2719705"/>
            <a:ext cx="3703320" cy="1097280"/>
          </a:xfrm>
          <a:prstGeom prst="roundRect">
            <a:avLst>
              <a:gd name="adj" fmla="val 4000"/>
            </a:avLst>
          </a:prstGeom>
          <a:solidFill>
            <a:srgbClr val="E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00957" y="2719705"/>
            <a:ext cx="73152" cy="1097280"/>
          </a:xfrm>
          <a:prstGeom prst="rect">
            <a:avLst/>
          </a:prstGeom>
          <a:solidFill>
            <a:srgbClr val="174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40"/>
          <p:cNvSpPr txBox="1"/>
          <p:nvPr/>
        </p:nvSpPr>
        <p:spPr>
          <a:xfrm>
            <a:off x="4302125" y="2856865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406D"/>
                </a:solidFill>
                <a:latin typeface="微软雅黑" panose="020B0503020204020204" pitchFamily="34" charset="-122"/>
              </a:rPr>
              <a:t>43</a:t>
            </a:r>
            <a:endParaRPr sz="2200" b="1" i="0">
              <a:solidFill>
                <a:srgbClr val="17406D"/>
              </a:solidFill>
              <a:latin typeface="微软雅黑" panose="020B0503020204020204" pitchFamily="34" charset="-122"/>
            </a:endParaRPr>
          </a:p>
        </p:txBody>
      </p:sp>
      <p:sp>
        <p:nvSpPr>
          <p:cNvPr id="67" name="TextBox 41"/>
          <p:cNvSpPr txBox="1"/>
          <p:nvPr/>
        </p:nvSpPr>
        <p:spPr>
          <a:xfrm>
            <a:off x="4302125" y="3250057"/>
            <a:ext cx="3429000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A44"/>
                </a:solidFill>
                <a:latin typeface="微软雅黑" panose="020B0503020204020204" pitchFamily="34" charset="-122"/>
              </a:rPr>
              <a:t>新功能</a:t>
            </a:r>
            <a:r>
              <a:rPr lang="zh-CN" sz="1050" b="1" i="0">
                <a:solidFill>
                  <a:srgbClr val="1A2A44"/>
                </a:solidFill>
                <a:latin typeface="微软雅黑" panose="020B0503020204020204" pitchFamily="34" charset="-122"/>
              </a:rPr>
              <a:t>提交</a:t>
            </a:r>
            <a:endParaRPr lang="zh-CN" sz="1050" b="1" i="0">
              <a:solidFill>
                <a:srgbClr val="1A2A44"/>
              </a:solidFill>
              <a:latin typeface="微软雅黑" panose="020B0503020204020204" pitchFamily="34" charset="-122"/>
            </a:endParaRPr>
          </a:p>
        </p:txBody>
      </p:sp>
      <p:sp>
        <p:nvSpPr>
          <p:cNvPr id="68" name="TextBox 42"/>
          <p:cNvSpPr txBox="1"/>
          <p:nvPr/>
        </p:nvSpPr>
        <p:spPr>
          <a:xfrm>
            <a:off x="4302125" y="3496945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0738F"/>
                </a:solidFill>
                <a:latin typeface="微软雅黑" panose="020B0503020204020204" pitchFamily="34" charset="-122"/>
              </a:rPr>
              <a:t>功能迭代节奏稳定，含 Skill / 角色模式 / 体感速查表</a:t>
            </a:r>
            <a:endParaRPr sz="850" b="0" i="0">
              <a:solidFill>
                <a:srgbClr val="60738F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968615" y="2724785"/>
            <a:ext cx="3412490" cy="1094105"/>
            <a:chOff x="12629" y="4305"/>
            <a:chExt cx="4248" cy="1944"/>
          </a:xfrm>
        </p:grpSpPr>
        <p:sp>
          <p:nvSpPr>
            <p:cNvPr id="18" name="Rounded Rectangle 16"/>
            <p:cNvSpPr/>
            <p:nvPr/>
          </p:nvSpPr>
          <p:spPr>
            <a:xfrm>
              <a:off x="12629" y="4305"/>
              <a:ext cx="4248" cy="1944"/>
            </a:xfrm>
            <a:prstGeom prst="roundRect">
              <a:avLst>
                <a:gd name="adj" fmla="val 5000"/>
              </a:avLst>
            </a:prstGeom>
            <a:solidFill>
              <a:srgbClr val="E6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17"/>
            <p:cNvSpPr/>
            <p:nvPr/>
          </p:nvSpPr>
          <p:spPr>
            <a:xfrm>
              <a:off x="12629" y="4305"/>
              <a:ext cx="115" cy="1944"/>
            </a:xfrm>
            <a:prstGeom prst="rect">
              <a:avLst/>
            </a:prstGeom>
            <a:solidFill>
              <a:srgbClr val="17406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18"/>
            <p:cNvSpPr txBox="1"/>
            <p:nvPr/>
          </p:nvSpPr>
          <p:spPr>
            <a:xfrm>
              <a:off x="12989" y="4521"/>
              <a:ext cx="3816" cy="7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≈127K</a:t>
              </a:r>
              <a:endParaRPr sz="2600" b="1" i="0">
                <a:solidFill>
                  <a:srgbClr val="17406D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3" name="TextBox 19"/>
            <p:cNvSpPr txBox="1"/>
            <p:nvPr/>
          </p:nvSpPr>
          <p:spPr>
            <a:xfrm>
              <a:off x="12989" y="5371"/>
              <a:ext cx="3816" cy="3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RAG 知识 chunks</a:t>
              </a:r>
              <a:endParaRPr sz="1100" b="1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76" name="TextBox 6"/>
          <p:cNvSpPr txBox="1"/>
          <p:nvPr/>
        </p:nvSpPr>
        <p:spPr>
          <a:xfrm>
            <a:off x="144145" y="6533769"/>
            <a:ext cx="11247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60738F"/>
                </a:solidFill>
                <a:latin typeface="微软雅黑" panose="020B0503020204020204" pitchFamily="34" charset="-122"/>
              </a:rPr>
              <a:t>Coremail · 小 C 同学 · VP 月报 · 2026 年 4 月</a:t>
            </a:r>
            <a:endParaRPr sz="850" b="0" i="1">
              <a:solidFill>
                <a:srgbClr val="60738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7" name="TextBox 31"/>
          <p:cNvSpPr txBox="1"/>
          <p:nvPr/>
        </p:nvSpPr>
        <p:spPr>
          <a:xfrm>
            <a:off x="184785" y="3974465"/>
            <a:ext cx="1124712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7406D"/>
                </a:solidFill>
                <a:latin typeface="微软雅黑" panose="020B0503020204020204" pitchFamily="34" charset="-122"/>
              </a:rPr>
              <a:t>本月关键里程碑</a:t>
            </a:r>
            <a:endParaRPr sz="1200" b="1" i="0">
              <a:solidFill>
                <a:srgbClr val="17406D"/>
              </a:solidFill>
              <a:latin typeface="微软雅黑" panose="020B0503020204020204" pitchFamily="3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84785" y="4157345"/>
            <a:ext cx="502920" cy="36576"/>
          </a:xfrm>
          <a:prstGeom prst="rect">
            <a:avLst/>
          </a:prstGeom>
          <a:solidFill>
            <a:srgbClr val="F4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44145" y="4284345"/>
            <a:ext cx="370332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4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4145" y="4284345"/>
            <a:ext cx="3703320" cy="54864"/>
          </a:xfrm>
          <a:prstGeom prst="rect">
            <a:avLst/>
          </a:prstGeom>
          <a:solidFill>
            <a:srgbClr val="007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35"/>
          <p:cNvSpPr txBox="1"/>
          <p:nvPr/>
        </p:nvSpPr>
        <p:spPr>
          <a:xfrm>
            <a:off x="345313" y="4448937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75B0"/>
                </a:solidFill>
                <a:latin typeface="微软雅黑" panose="020B0503020204020204" pitchFamily="34" charset="-122"/>
              </a:rPr>
              <a:t>01</a:t>
            </a:r>
            <a:endParaRPr sz="1300" b="1" i="0">
              <a:solidFill>
                <a:srgbClr val="0075B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2" name="TextBox 36"/>
          <p:cNvSpPr txBox="1"/>
          <p:nvPr/>
        </p:nvSpPr>
        <p:spPr>
          <a:xfrm>
            <a:off x="738505" y="4448937"/>
            <a:ext cx="29718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A44"/>
                </a:solidFill>
                <a:latin typeface="微软雅黑" panose="020B0503020204020204" pitchFamily="34" charset="-122"/>
              </a:rPr>
              <a:t>Agent </a:t>
            </a:r>
            <a:r>
              <a:rPr lang="zh-CN" sz="1200" b="1" i="0">
                <a:solidFill>
                  <a:srgbClr val="1A2A44"/>
                </a:solidFill>
                <a:latin typeface="微软雅黑" panose="020B0503020204020204" pitchFamily="34" charset="-122"/>
              </a:rPr>
              <a:t>自动路</a:t>
            </a:r>
            <a:r>
              <a:rPr lang="zh-CN" sz="1200" b="1" i="0">
                <a:solidFill>
                  <a:srgbClr val="1A2A44"/>
                </a:solidFill>
                <a:latin typeface="微软雅黑" panose="020B0503020204020204" pitchFamily="34" charset="-122"/>
              </a:rPr>
              <a:t>由</a:t>
            </a:r>
            <a:endParaRPr lang="zh-CN" sz="1200" b="1" i="0">
              <a:solidFill>
                <a:srgbClr val="1A2A44"/>
              </a:solidFill>
              <a:latin typeface="微软雅黑" panose="020B0503020204020204" pitchFamily="34" charset="-122"/>
            </a:endParaRPr>
          </a:p>
        </p:txBody>
      </p:sp>
      <p:sp>
        <p:nvSpPr>
          <p:cNvPr id="83" name="TextBox 37"/>
          <p:cNvSpPr txBox="1"/>
          <p:nvPr/>
        </p:nvSpPr>
        <p:spPr>
          <a:xfrm>
            <a:off x="345313" y="4851273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0738F"/>
                </a:solidFill>
                <a:latin typeface="微软雅黑" panose="020B0503020204020204" pitchFamily="34" charset="-122"/>
              </a:rPr>
              <a:t>知识检索、联网搜索、退信诊断、CRM 链路均可自主推进；执行类动作交人工拍板。</a:t>
            </a:r>
            <a:endParaRPr sz="950" b="0" i="0">
              <a:solidFill>
                <a:srgbClr val="60738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4012057" y="4284345"/>
            <a:ext cx="370332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4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012057" y="4284345"/>
            <a:ext cx="3703320" cy="54864"/>
          </a:xfrm>
          <a:prstGeom prst="rect">
            <a:avLst/>
          </a:prstGeom>
          <a:solidFill>
            <a:srgbClr val="007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40"/>
          <p:cNvSpPr txBox="1"/>
          <p:nvPr/>
        </p:nvSpPr>
        <p:spPr>
          <a:xfrm>
            <a:off x="4213225" y="4448937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75B0"/>
                </a:solidFill>
                <a:latin typeface="微软雅黑" panose="020B0503020204020204" pitchFamily="34" charset="-122"/>
              </a:rPr>
              <a:t>02</a:t>
            </a:r>
            <a:endParaRPr sz="1300" b="1" i="0">
              <a:solidFill>
                <a:srgbClr val="0075B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7" name="TextBox 41"/>
          <p:cNvSpPr txBox="1"/>
          <p:nvPr/>
        </p:nvSpPr>
        <p:spPr>
          <a:xfrm>
            <a:off x="4606417" y="4448937"/>
            <a:ext cx="29718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A44"/>
                </a:solidFill>
                <a:latin typeface="微软雅黑" panose="020B0503020204020204" pitchFamily="34" charset="-122"/>
              </a:rPr>
              <a:t>工单升级 4 步</a:t>
            </a:r>
            <a:endParaRPr sz="1200" b="1" i="0">
              <a:solidFill>
                <a:srgbClr val="1A2A44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TextBox 42"/>
          <p:cNvSpPr txBox="1"/>
          <p:nvPr/>
        </p:nvSpPr>
        <p:spPr>
          <a:xfrm>
            <a:off x="4213225" y="4851273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0738F"/>
                </a:solidFill>
                <a:latin typeface="微软雅黑" panose="020B0503020204020204" pitchFamily="34" charset="-122"/>
              </a:rPr>
              <a:t>触发 → CRM 匹配 → 字段复查 → 提交，附件自动入 Jira，支持线程内追加。</a:t>
            </a:r>
            <a:endParaRPr sz="950" b="0" i="0">
              <a:solidFill>
                <a:srgbClr val="60738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7879969" y="4284345"/>
            <a:ext cx="370332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4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879969" y="4284345"/>
            <a:ext cx="3703320" cy="54864"/>
          </a:xfrm>
          <a:prstGeom prst="rect">
            <a:avLst/>
          </a:prstGeom>
          <a:solidFill>
            <a:srgbClr val="007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45"/>
          <p:cNvSpPr txBox="1"/>
          <p:nvPr/>
        </p:nvSpPr>
        <p:spPr>
          <a:xfrm>
            <a:off x="8081137" y="4448937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75B0"/>
                </a:solidFill>
                <a:latin typeface="微软雅黑" panose="020B0503020204020204" pitchFamily="34" charset="-122"/>
              </a:rPr>
              <a:t>03</a:t>
            </a:r>
            <a:endParaRPr sz="1300" b="1" i="0">
              <a:solidFill>
                <a:srgbClr val="0075B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" name="TextBox 46"/>
          <p:cNvSpPr txBox="1"/>
          <p:nvPr/>
        </p:nvSpPr>
        <p:spPr>
          <a:xfrm>
            <a:off x="8474329" y="4448937"/>
            <a:ext cx="29718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A44"/>
                </a:solidFill>
                <a:latin typeface="微软雅黑" panose="020B0503020204020204" pitchFamily="34" charset="-122"/>
              </a:rPr>
              <a:t>/ 菜单与 Skill </a:t>
            </a:r>
            <a:endParaRPr sz="1200" b="1" i="0">
              <a:solidFill>
                <a:srgbClr val="1A2A44"/>
              </a:solidFill>
              <a:latin typeface="微软雅黑" panose="020B0503020204020204" pitchFamily="34" charset="-122"/>
            </a:endParaRPr>
          </a:p>
        </p:txBody>
      </p:sp>
      <p:sp>
        <p:nvSpPr>
          <p:cNvPr id="93" name="TextBox 47"/>
          <p:cNvSpPr txBox="1"/>
          <p:nvPr/>
        </p:nvSpPr>
        <p:spPr>
          <a:xfrm>
            <a:off x="8081137" y="4851273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0738F"/>
                </a:solidFill>
                <a:latin typeface="微软雅黑" panose="020B0503020204020204" pitchFamily="34" charset="-122"/>
              </a:rPr>
              <a:t>/普通问答、/详细回答、/skills（云服务中心开通续期）覆盖高频路径。</a:t>
            </a:r>
            <a:endParaRPr sz="950" b="0" i="0">
              <a:solidFill>
                <a:srgbClr val="60738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144145" y="5619369"/>
            <a:ext cx="370332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4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44145" y="5619369"/>
            <a:ext cx="3703320" cy="54864"/>
          </a:xfrm>
          <a:prstGeom prst="rect">
            <a:avLst/>
          </a:prstGeom>
          <a:solidFill>
            <a:srgbClr val="007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50"/>
          <p:cNvSpPr txBox="1"/>
          <p:nvPr/>
        </p:nvSpPr>
        <p:spPr>
          <a:xfrm>
            <a:off x="345313" y="5783961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75B0"/>
                </a:solidFill>
                <a:latin typeface="微软雅黑" panose="020B0503020204020204" pitchFamily="34" charset="-122"/>
              </a:rPr>
              <a:t>04</a:t>
            </a:r>
            <a:endParaRPr sz="1300" b="1" i="0">
              <a:solidFill>
                <a:srgbClr val="0075B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7" name="TextBox 51"/>
          <p:cNvSpPr txBox="1"/>
          <p:nvPr/>
        </p:nvSpPr>
        <p:spPr>
          <a:xfrm>
            <a:off x="738505" y="5783961"/>
            <a:ext cx="29718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A44"/>
                </a:solidFill>
                <a:latin typeface="微软雅黑" panose="020B0503020204020204" pitchFamily="34" charset="-122"/>
              </a:rPr>
              <a:t>退信诊断</a:t>
            </a:r>
            <a:endParaRPr sz="1200" b="1" i="0">
              <a:solidFill>
                <a:srgbClr val="1A2A44"/>
              </a:solidFill>
              <a:latin typeface="微软雅黑" panose="020B0503020204020204" pitchFamily="34" charset="-122"/>
            </a:endParaRPr>
          </a:p>
        </p:txBody>
      </p:sp>
      <p:sp>
        <p:nvSpPr>
          <p:cNvPr id="98" name="TextBox 52"/>
          <p:cNvSpPr txBox="1"/>
          <p:nvPr/>
        </p:nvSpPr>
        <p:spPr>
          <a:xfrm>
            <a:off x="345313" y="6186297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0738F"/>
                </a:solidFill>
                <a:latin typeface="微软雅黑" panose="020B0503020204020204" pitchFamily="34" charset="-122"/>
              </a:rPr>
              <a:t>依次调用 MX / SPF / DMARC / SMTP，输出结构化诊断报告。</a:t>
            </a:r>
            <a:endParaRPr sz="950" b="0" i="0">
              <a:solidFill>
                <a:srgbClr val="60738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4012057" y="5619369"/>
            <a:ext cx="370332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4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012057" y="5619369"/>
            <a:ext cx="3703320" cy="54864"/>
          </a:xfrm>
          <a:prstGeom prst="rect">
            <a:avLst/>
          </a:prstGeom>
          <a:solidFill>
            <a:srgbClr val="007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55"/>
          <p:cNvSpPr txBox="1"/>
          <p:nvPr/>
        </p:nvSpPr>
        <p:spPr>
          <a:xfrm>
            <a:off x="4213225" y="5783961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75B0"/>
                </a:solidFill>
                <a:latin typeface="微软雅黑" panose="020B0503020204020204" pitchFamily="34" charset="-122"/>
              </a:rPr>
              <a:t>05</a:t>
            </a:r>
            <a:endParaRPr sz="1300" b="1" i="0">
              <a:solidFill>
                <a:srgbClr val="0075B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2" name="TextBox 56"/>
          <p:cNvSpPr txBox="1"/>
          <p:nvPr/>
        </p:nvSpPr>
        <p:spPr>
          <a:xfrm>
            <a:off x="4606417" y="5783961"/>
            <a:ext cx="29718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A44"/>
                </a:solidFill>
                <a:latin typeface="微软雅黑" panose="020B0503020204020204" pitchFamily="34" charset="-122"/>
              </a:rPr>
              <a:t>知识工程闭环 6 步</a:t>
            </a:r>
            <a:endParaRPr lang="zh-CN" sz="1200" b="1" i="0">
              <a:solidFill>
                <a:srgbClr val="1A2A4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3" name="TextBox 57"/>
          <p:cNvSpPr txBox="1"/>
          <p:nvPr/>
        </p:nvSpPr>
        <p:spPr>
          <a:xfrm>
            <a:off x="4213225" y="6186297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0738F"/>
                </a:solidFill>
                <a:latin typeface="微软雅黑" panose="020B0503020204020204" pitchFamily="34" charset="-122"/>
              </a:rPr>
              <a:t>贡献 → 查重 → 审核 → 入库 → 命中 → 反馈，差评直转回归用例。</a:t>
            </a:r>
            <a:endParaRPr sz="950" b="0" i="0">
              <a:solidFill>
                <a:srgbClr val="60738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7879969" y="5619369"/>
            <a:ext cx="370332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4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79969" y="5619369"/>
            <a:ext cx="3703320" cy="54864"/>
          </a:xfrm>
          <a:prstGeom prst="rect">
            <a:avLst/>
          </a:prstGeom>
          <a:solidFill>
            <a:srgbClr val="007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60"/>
          <p:cNvSpPr txBox="1"/>
          <p:nvPr/>
        </p:nvSpPr>
        <p:spPr>
          <a:xfrm>
            <a:off x="8081137" y="5783961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75B0"/>
                </a:solidFill>
                <a:latin typeface="微软雅黑" panose="020B0503020204020204" pitchFamily="34" charset="-122"/>
              </a:rPr>
              <a:t>06</a:t>
            </a:r>
            <a:endParaRPr sz="1300" b="1" i="0">
              <a:solidFill>
                <a:srgbClr val="0075B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7" name="TextBox 61"/>
          <p:cNvSpPr txBox="1"/>
          <p:nvPr/>
        </p:nvSpPr>
        <p:spPr>
          <a:xfrm>
            <a:off x="8474329" y="5783961"/>
            <a:ext cx="29718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A44"/>
                </a:solidFill>
                <a:latin typeface="微软雅黑" panose="020B0503020204020204" pitchFamily="34" charset="-122"/>
              </a:rPr>
              <a:t>可靠</a:t>
            </a:r>
            <a:endParaRPr sz="1200" b="1" i="0">
              <a:solidFill>
                <a:srgbClr val="1A2A4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8" name="TextBox 62"/>
          <p:cNvSpPr txBox="1"/>
          <p:nvPr/>
        </p:nvSpPr>
        <p:spPr>
          <a:xfrm>
            <a:off x="8081137" y="6186297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0738F"/>
                </a:solidFill>
                <a:latin typeface="微软雅黑" panose="020B0503020204020204" pitchFamily="34" charset="-122"/>
              </a:rPr>
              <a:t>速度差异 / 来源数量 / 匹配分数三档判读，帮助用户判断答案可信度。</a:t>
            </a:r>
            <a:endParaRPr sz="950" b="0" i="0">
              <a:solidFill>
                <a:srgbClr val="60738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" name="文本框 163"/>
          <p:cNvSpPr txBox="1"/>
          <p:nvPr/>
        </p:nvSpPr>
        <p:spPr>
          <a:xfrm>
            <a:off x="130175" y="247650"/>
            <a:ext cx="10457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、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关键项目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：新小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C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同学试运行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——从「能用」走向「好用」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338455" y="1024255"/>
            <a:ext cx="5577840" cy="1747520"/>
            <a:chOff x="533" y="1613"/>
            <a:chExt cx="8784" cy="3456"/>
          </a:xfrm>
        </p:grpSpPr>
        <p:sp>
          <p:nvSpPr>
            <p:cNvPr id="2" name="Rounded Rectangle 11"/>
            <p:cNvSpPr/>
            <p:nvPr/>
          </p:nvSpPr>
          <p:spPr>
            <a:xfrm>
              <a:off x="533" y="1613"/>
              <a:ext cx="8784" cy="3456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9525">
              <a:solidFill>
                <a:srgbClr val="D4E3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ectangle 12"/>
            <p:cNvSpPr/>
            <p:nvPr/>
          </p:nvSpPr>
          <p:spPr>
            <a:xfrm>
              <a:off x="533" y="1613"/>
              <a:ext cx="115" cy="3456"/>
            </a:xfrm>
            <a:prstGeom prst="rect">
              <a:avLst/>
            </a:prstGeom>
            <a:solidFill>
              <a:srgbClr val="0075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13"/>
            <p:cNvSpPr txBox="1"/>
            <p:nvPr/>
          </p:nvSpPr>
          <p:spPr>
            <a:xfrm>
              <a:off x="936" y="1800"/>
              <a:ext cx="8208" cy="3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zh-CN"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意图识别，</a:t>
              </a:r>
              <a:r>
                <a:rPr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自动</a:t>
              </a:r>
              <a:r>
                <a:rPr lang="zh-CN"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选择</a:t>
              </a:r>
              <a:r>
                <a:rPr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路径</a:t>
              </a:r>
              <a:endParaRPr sz="1300" b="1" i="0">
                <a:solidFill>
                  <a:srgbClr val="17406D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" name="TextBox 14"/>
            <p:cNvSpPr txBox="1"/>
            <p:nvPr/>
          </p:nvSpPr>
          <p:spPr>
            <a:xfrm>
              <a:off x="936" y="2275"/>
              <a:ext cx="8208" cy="27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按问题内容自动选路，速度与来源数量随路径变化</a:t>
              </a:r>
              <a:endParaRPr sz="90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  <p:cxnSp>
          <p:nvCxnSpPr>
            <p:cNvPr id="6" name="Connector 15"/>
            <p:cNvCxnSpPr/>
            <p:nvPr/>
          </p:nvCxnSpPr>
          <p:spPr>
            <a:xfrm>
              <a:off x="936" y="2736"/>
              <a:ext cx="8208" cy="0"/>
            </a:xfrm>
            <a:prstGeom prst="line">
              <a:avLst/>
            </a:prstGeom>
            <a:ln w="6350">
              <a:solidFill>
                <a:srgbClr val="D4E3E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16"/>
            <p:cNvSpPr/>
            <p:nvPr/>
          </p:nvSpPr>
          <p:spPr>
            <a:xfrm>
              <a:off x="994" y="3024"/>
              <a:ext cx="101" cy="101"/>
            </a:xfrm>
            <a:prstGeom prst="rect">
              <a:avLst/>
            </a:prstGeom>
            <a:solidFill>
              <a:srgbClr val="0075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17"/>
            <p:cNvSpPr txBox="1"/>
            <p:nvPr/>
          </p:nvSpPr>
          <p:spPr>
            <a:xfrm>
              <a:off x="1224" y="2908"/>
              <a:ext cx="2880" cy="31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17406D"/>
                  </a:solidFill>
                  <a:latin typeface="Consolas" panose="020B0609020204030204"/>
                </a:rPr>
                <a:t>direct</a:t>
              </a:r>
              <a:endParaRPr sz="1050" b="1" i="0">
                <a:solidFill>
                  <a:srgbClr val="17406D"/>
                </a:solidFill>
                <a:latin typeface="Consolas" panose="020B0609020204030204"/>
              </a:endParaRPr>
            </a:p>
          </p:txBody>
        </p:sp>
        <p:sp>
          <p:nvSpPr>
            <p:cNvPr id="32" name="TextBox 18"/>
            <p:cNvSpPr txBox="1"/>
            <p:nvPr/>
          </p:nvSpPr>
          <p:spPr>
            <a:xfrm>
              <a:off x="4133" y="2923"/>
              <a:ext cx="2376" cy="2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5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秒回 · 0 来源</a:t>
              </a:r>
              <a:endParaRPr sz="95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3" name="TextBox 19"/>
            <p:cNvSpPr txBox="1"/>
            <p:nvPr/>
          </p:nvSpPr>
          <p:spPr>
            <a:xfrm>
              <a:off x="6509" y="2923"/>
              <a:ext cx="2664" cy="2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5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问候 / 事实 / 改写</a:t>
              </a:r>
              <a:endParaRPr sz="95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4" name="Rectangle 20"/>
            <p:cNvSpPr/>
            <p:nvPr/>
          </p:nvSpPr>
          <p:spPr>
            <a:xfrm>
              <a:off x="994" y="3456"/>
              <a:ext cx="101" cy="101"/>
            </a:xfrm>
            <a:prstGeom prst="rect">
              <a:avLst/>
            </a:prstGeom>
            <a:solidFill>
              <a:srgbClr val="0075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21"/>
            <p:cNvSpPr txBox="1"/>
            <p:nvPr/>
          </p:nvSpPr>
          <p:spPr>
            <a:xfrm>
              <a:off x="1224" y="3340"/>
              <a:ext cx="2880" cy="31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17406D"/>
                  </a:solidFill>
                  <a:latin typeface="Consolas" panose="020B0609020204030204"/>
                </a:rPr>
                <a:t>coremail_rag</a:t>
              </a:r>
              <a:endParaRPr sz="1050" b="1" i="0">
                <a:solidFill>
                  <a:srgbClr val="17406D"/>
                </a:solidFill>
                <a:latin typeface="Consolas" panose="020B0609020204030204"/>
              </a:endParaRPr>
            </a:p>
          </p:txBody>
        </p:sp>
        <p:sp>
          <p:nvSpPr>
            <p:cNvPr id="36" name="TextBox 22"/>
            <p:cNvSpPr txBox="1"/>
            <p:nvPr/>
          </p:nvSpPr>
          <p:spPr>
            <a:xfrm>
              <a:off x="4133" y="3355"/>
              <a:ext cx="2376" cy="2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5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3–8s · 1–5 来源</a:t>
              </a:r>
              <a:endParaRPr sz="95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" name="TextBox 23"/>
            <p:cNvSpPr txBox="1"/>
            <p:nvPr/>
          </p:nvSpPr>
          <p:spPr>
            <a:xfrm>
              <a:off x="6509" y="3355"/>
              <a:ext cx="2664" cy="2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5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标准知识类问题（最常见）</a:t>
              </a:r>
              <a:endParaRPr sz="95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" name="Rectangle 24"/>
            <p:cNvSpPr/>
            <p:nvPr/>
          </p:nvSpPr>
          <p:spPr>
            <a:xfrm>
              <a:off x="994" y="3888"/>
              <a:ext cx="101" cy="101"/>
            </a:xfrm>
            <a:prstGeom prst="rect">
              <a:avLst/>
            </a:prstGeom>
            <a:solidFill>
              <a:srgbClr val="0075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25"/>
            <p:cNvSpPr txBox="1"/>
            <p:nvPr/>
          </p:nvSpPr>
          <p:spPr>
            <a:xfrm>
              <a:off x="1224" y="3772"/>
              <a:ext cx="2880" cy="31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17406D"/>
                  </a:solidFill>
                  <a:latin typeface="Consolas" panose="020B0609020204030204"/>
                </a:rPr>
                <a:t>external_search</a:t>
              </a:r>
              <a:endParaRPr sz="1050" b="1" i="0">
                <a:solidFill>
                  <a:srgbClr val="17406D"/>
                </a:solidFill>
                <a:latin typeface="Consolas" panose="020B0609020204030204"/>
              </a:endParaRPr>
            </a:p>
          </p:txBody>
        </p:sp>
        <p:sp>
          <p:nvSpPr>
            <p:cNvPr id="40" name="TextBox 26"/>
            <p:cNvSpPr txBox="1"/>
            <p:nvPr/>
          </p:nvSpPr>
          <p:spPr>
            <a:xfrm>
              <a:off x="4133" y="3787"/>
              <a:ext cx="2376" cy="2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5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10–20s · 网页/Jira</a:t>
              </a:r>
              <a:endParaRPr sz="95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TextBox 27"/>
            <p:cNvSpPr txBox="1"/>
            <p:nvPr/>
          </p:nvSpPr>
          <p:spPr>
            <a:xfrm>
              <a:off x="6509" y="3787"/>
              <a:ext cx="2664" cy="2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5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外部产品 / 工单号 / 最新信息</a:t>
              </a:r>
              <a:endParaRPr sz="95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2" name="Rectangle 28"/>
            <p:cNvSpPr/>
            <p:nvPr/>
          </p:nvSpPr>
          <p:spPr>
            <a:xfrm>
              <a:off x="994" y="4320"/>
              <a:ext cx="101" cy="101"/>
            </a:xfrm>
            <a:prstGeom prst="rect">
              <a:avLst/>
            </a:prstGeom>
            <a:solidFill>
              <a:srgbClr val="0075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29"/>
            <p:cNvSpPr txBox="1"/>
            <p:nvPr/>
          </p:nvSpPr>
          <p:spPr>
            <a:xfrm>
              <a:off x="1224" y="4204"/>
              <a:ext cx="2880" cy="31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17406D"/>
                  </a:solidFill>
                  <a:latin typeface="Consolas" panose="020B0609020204030204"/>
                </a:rPr>
                <a:t>complex</a:t>
              </a:r>
              <a:endParaRPr sz="1050" b="1" i="0">
                <a:solidFill>
                  <a:srgbClr val="17406D"/>
                </a:solidFill>
                <a:latin typeface="Consolas" panose="020B0609020204030204"/>
              </a:endParaRPr>
            </a:p>
          </p:txBody>
        </p:sp>
        <p:sp>
          <p:nvSpPr>
            <p:cNvPr id="44" name="TextBox 30"/>
            <p:cNvSpPr txBox="1"/>
            <p:nvPr/>
          </p:nvSpPr>
          <p:spPr>
            <a:xfrm>
              <a:off x="4133" y="4219"/>
              <a:ext cx="2376" cy="2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5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20–40s · 5–10+ 来源</a:t>
              </a:r>
              <a:endParaRPr sz="95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5" name="TextBox 31"/>
            <p:cNvSpPr txBox="1"/>
            <p:nvPr/>
          </p:nvSpPr>
          <p:spPr>
            <a:xfrm>
              <a:off x="6509" y="4219"/>
              <a:ext cx="2664" cy="2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5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竞品对比 / 多目标 / 跨数据集</a:t>
              </a:r>
              <a:endParaRPr sz="95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6" name="Rectangle 32"/>
            <p:cNvSpPr/>
            <p:nvPr/>
          </p:nvSpPr>
          <p:spPr>
            <a:xfrm>
              <a:off x="994" y="4752"/>
              <a:ext cx="101" cy="101"/>
            </a:xfrm>
            <a:prstGeom prst="rect">
              <a:avLst/>
            </a:prstGeom>
            <a:solidFill>
              <a:srgbClr val="0075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33"/>
            <p:cNvSpPr txBox="1"/>
            <p:nvPr/>
          </p:nvSpPr>
          <p:spPr>
            <a:xfrm>
              <a:off x="1224" y="4636"/>
              <a:ext cx="2880" cy="31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17406D"/>
                  </a:solidFill>
                  <a:latin typeface="Consolas" panose="020B0609020204030204"/>
                </a:rPr>
                <a:t>bounce_analysis</a:t>
              </a:r>
              <a:endParaRPr sz="1050" b="1" i="0">
                <a:solidFill>
                  <a:srgbClr val="17406D"/>
                </a:solidFill>
                <a:latin typeface="Consolas" panose="020B0609020204030204"/>
              </a:endParaRPr>
            </a:p>
          </p:txBody>
        </p:sp>
        <p:sp>
          <p:nvSpPr>
            <p:cNvPr id="48" name="TextBox 34"/>
            <p:cNvSpPr txBox="1"/>
            <p:nvPr/>
          </p:nvSpPr>
          <p:spPr>
            <a:xfrm>
              <a:off x="4133" y="4651"/>
              <a:ext cx="2376" cy="2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5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8 步内 · 结构化</a:t>
              </a:r>
              <a:endParaRPr sz="95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9" name="TextBox 35"/>
            <p:cNvSpPr txBox="1"/>
            <p:nvPr/>
          </p:nvSpPr>
          <p:spPr>
            <a:xfrm>
              <a:off x="6509" y="4651"/>
              <a:ext cx="2664" cy="2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5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退信 / NDR / EML 上传</a:t>
              </a:r>
              <a:endParaRPr sz="95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38455" y="2903220"/>
            <a:ext cx="5577840" cy="1577172"/>
            <a:chOff x="648" y="6206"/>
            <a:chExt cx="8784" cy="2832"/>
          </a:xfrm>
        </p:grpSpPr>
        <p:sp>
          <p:nvSpPr>
            <p:cNvPr id="60" name="Rounded Rectangle 59"/>
            <p:cNvSpPr/>
            <p:nvPr/>
          </p:nvSpPr>
          <p:spPr>
            <a:xfrm>
              <a:off x="648" y="6206"/>
              <a:ext cx="8784" cy="2832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9525">
              <a:solidFill>
                <a:srgbClr val="D4E3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48" y="6206"/>
              <a:ext cx="120" cy="2832"/>
            </a:xfrm>
            <a:prstGeom prst="rect">
              <a:avLst/>
            </a:prstGeom>
            <a:solidFill>
              <a:srgbClr val="0075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51" y="6393"/>
              <a:ext cx="8208" cy="3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角色模式：售前专家 vs 客服默认</a:t>
              </a:r>
              <a:endParaRPr sz="1300" b="1" i="0">
                <a:solidFill>
                  <a:srgbClr val="17406D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51" y="6868"/>
              <a:ext cx="8208" cy="2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>
                  <a:solidFill>
                    <a:srgbClr val="60738F"/>
                  </a:solidFill>
                  <a:latin typeface="微软雅黑" panose="020B0503020204020204" pitchFamily="34" charset="-122"/>
                  <a:sym typeface="+mn-ea"/>
                </a:rPr>
                <a:t>按角色</a:t>
              </a:r>
              <a:r>
                <a:rPr lang="zh-CN" sz="900">
                  <a:solidFill>
                    <a:srgbClr val="60738F"/>
                  </a:solidFill>
                  <a:latin typeface="微软雅黑" panose="020B0503020204020204" pitchFamily="34" charset="-122"/>
                  <a:sym typeface="+mn-ea"/>
                </a:rPr>
                <a:t>自动</a:t>
              </a:r>
              <a:r>
                <a:rPr sz="900">
                  <a:solidFill>
                    <a:srgbClr val="60738F"/>
                  </a:solidFill>
                  <a:latin typeface="微软雅黑" panose="020B0503020204020204" pitchFamily="34" charset="-122"/>
                  <a:sym typeface="+mn-ea"/>
                </a:rPr>
                <a:t>给输出</a:t>
              </a:r>
              <a:r>
                <a:rPr lang="zh-CN" sz="900">
                  <a:solidFill>
                    <a:srgbClr val="60738F"/>
                  </a:solidFill>
                  <a:latin typeface="微软雅黑" panose="020B0503020204020204" pitchFamily="34" charset="-122"/>
                  <a:sym typeface="+mn-ea"/>
                </a:rPr>
                <a:t>特定</a:t>
              </a:r>
              <a:r>
                <a:rPr sz="900">
                  <a:solidFill>
                    <a:srgbClr val="60738F"/>
                  </a:solidFill>
                  <a:latin typeface="微软雅黑" panose="020B0503020204020204" pitchFamily="34" charset="-122"/>
                  <a:sym typeface="+mn-ea"/>
                </a:rPr>
                <a:t>结构</a:t>
              </a:r>
              <a:endParaRPr sz="90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  <p:cxnSp>
          <p:nvCxnSpPr>
            <p:cNvPr id="64" name="Connector 63"/>
            <p:cNvCxnSpPr/>
            <p:nvPr/>
          </p:nvCxnSpPr>
          <p:spPr>
            <a:xfrm>
              <a:off x="1051" y="7329"/>
              <a:ext cx="8208" cy="0"/>
            </a:xfrm>
            <a:prstGeom prst="line">
              <a:avLst/>
            </a:prstGeom>
            <a:ln w="6350">
              <a:solidFill>
                <a:srgbClr val="D4E3E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ounded Rectangle 64"/>
            <p:cNvSpPr/>
            <p:nvPr/>
          </p:nvSpPr>
          <p:spPr>
            <a:xfrm>
              <a:off x="1051" y="7473"/>
              <a:ext cx="3888" cy="1387"/>
            </a:xfrm>
            <a:prstGeom prst="roundRect">
              <a:avLst>
                <a:gd name="adj" fmla="val 4000"/>
              </a:avLst>
            </a:prstGeom>
            <a:solidFill>
              <a:srgbClr val="DBEF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224" y="7574"/>
              <a:ext cx="3600" cy="29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1" i="0">
                  <a:solidFill>
                    <a:srgbClr val="0075B0"/>
                  </a:solidFill>
                  <a:latin typeface="微软雅黑" panose="020B0503020204020204" pitchFamily="34" charset="-122"/>
                </a:rPr>
                <a:t>售前 · 专家模式</a:t>
              </a:r>
              <a:endParaRPr sz="1050" b="1" i="0">
                <a:solidFill>
                  <a:srgbClr val="0075B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224" y="8006"/>
              <a:ext cx="3600" cy="66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93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结论摘要 · 原理说明 · 判断树/路径 · 可对客话术 · 落地建议 · 边界与风险 · 证据来源</a:t>
              </a:r>
              <a:endParaRPr sz="93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5083" y="7473"/>
              <a:ext cx="3888" cy="1388"/>
            </a:xfrm>
            <a:prstGeom prst="roundRect">
              <a:avLst>
                <a:gd name="adj" fmla="val 4000"/>
              </a:avLst>
            </a:prstGeom>
            <a:solidFill>
              <a:srgbClr val="E6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256" y="7574"/>
              <a:ext cx="3600" cy="29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客服 · 默认问答</a:t>
              </a:r>
              <a:endParaRPr sz="1050" b="1" i="0">
                <a:solidFill>
                  <a:srgbClr val="17406D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256" y="8006"/>
              <a:ext cx="3600" cy="66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93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直接回答 · 可选步骤说明 · 来源引用 · / 菜单切换详略 · 反馈驱动改进</a:t>
              </a:r>
              <a:endParaRPr sz="93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338455" y="4584700"/>
            <a:ext cx="5577840" cy="2194560"/>
            <a:chOff x="9691" y="2548"/>
            <a:chExt cx="8784" cy="3456"/>
          </a:xfrm>
        </p:grpSpPr>
        <p:sp>
          <p:nvSpPr>
            <p:cNvPr id="53" name="Rounded Rectangle 36"/>
            <p:cNvSpPr/>
            <p:nvPr/>
          </p:nvSpPr>
          <p:spPr>
            <a:xfrm>
              <a:off x="9691" y="2548"/>
              <a:ext cx="8784" cy="3456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9525">
              <a:solidFill>
                <a:srgbClr val="D4E3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37"/>
            <p:cNvSpPr/>
            <p:nvPr/>
          </p:nvSpPr>
          <p:spPr>
            <a:xfrm>
              <a:off x="9691" y="2548"/>
              <a:ext cx="115" cy="3456"/>
            </a:xfrm>
            <a:prstGeom prst="rect">
              <a:avLst/>
            </a:prstGeom>
            <a:solidFill>
              <a:srgbClr val="0075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38"/>
            <p:cNvSpPr txBox="1"/>
            <p:nvPr/>
          </p:nvSpPr>
          <p:spPr>
            <a:xfrm>
              <a:off x="10094" y="2735"/>
              <a:ext cx="8208" cy="6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zh-CN"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更多</a:t>
              </a:r>
              <a:r>
                <a:rPr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工具</a:t>
              </a:r>
              <a:r>
                <a:rPr lang="zh-CN"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接入</a:t>
              </a:r>
              <a:r>
                <a:rPr sz="1300" b="1">
                  <a:solidFill>
                    <a:srgbClr val="FF0000"/>
                  </a:solidFill>
                  <a:latin typeface="微软雅黑" panose="020B0503020204020204" pitchFamily="34" charset="-122"/>
                  <a:sym typeface="+mn-ea"/>
                </a:rPr>
                <a:t>（NEW）</a:t>
              </a:r>
              <a:endParaRPr sz="1300" b="1" i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  <a:p>
              <a:pPr algn="l"/>
              <a:endParaRPr sz="1300" b="1" i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6" name="TextBox 39"/>
            <p:cNvSpPr txBox="1"/>
            <p:nvPr/>
          </p:nvSpPr>
          <p:spPr>
            <a:xfrm>
              <a:off x="10094" y="3210"/>
              <a:ext cx="8208" cy="40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Agent 自主补齐上下文，执行动作由人工拍板</a:t>
              </a:r>
              <a:endParaRPr sz="90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  <p:cxnSp>
          <p:nvCxnSpPr>
            <p:cNvPr id="57" name="Connector 40"/>
            <p:cNvCxnSpPr/>
            <p:nvPr/>
          </p:nvCxnSpPr>
          <p:spPr>
            <a:xfrm>
              <a:off x="10094" y="3671"/>
              <a:ext cx="8208" cy="0"/>
            </a:xfrm>
            <a:prstGeom prst="line">
              <a:avLst/>
            </a:prstGeom>
            <a:ln w="6350">
              <a:solidFill>
                <a:srgbClr val="D4E3E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41"/>
            <p:cNvSpPr txBox="1"/>
            <p:nvPr/>
          </p:nvSpPr>
          <p:spPr>
            <a:xfrm>
              <a:off x="10094" y="3815"/>
              <a:ext cx="3960" cy="4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1" i="0">
                  <a:solidFill>
                    <a:srgbClr val="0075B0"/>
                  </a:solidFill>
                  <a:latin typeface="微软雅黑" panose="020B0503020204020204" pitchFamily="34" charset="-122"/>
                </a:rPr>
                <a:t>Agent 可自主推进</a:t>
              </a:r>
              <a:endParaRPr sz="1050" b="1" i="0">
                <a:solidFill>
                  <a:srgbClr val="0075B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9" name="Rectangle 42"/>
            <p:cNvSpPr/>
            <p:nvPr/>
          </p:nvSpPr>
          <p:spPr>
            <a:xfrm>
              <a:off x="10123" y="4391"/>
              <a:ext cx="101" cy="101"/>
            </a:xfrm>
            <a:prstGeom prst="rect">
              <a:avLst/>
            </a:prstGeom>
            <a:solidFill>
              <a:srgbClr val="0075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43"/>
            <p:cNvSpPr txBox="1"/>
            <p:nvPr/>
          </p:nvSpPr>
          <p:spPr>
            <a:xfrm>
              <a:off x="10339" y="4247"/>
              <a:ext cx="3960" cy="3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3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知识检索 / 联网搜索 / 业务诊断</a:t>
              </a:r>
              <a:endParaRPr sz="93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3" name="Rectangle 44"/>
            <p:cNvSpPr/>
            <p:nvPr/>
          </p:nvSpPr>
          <p:spPr>
            <a:xfrm>
              <a:off x="10123" y="4780"/>
              <a:ext cx="101" cy="101"/>
            </a:xfrm>
            <a:prstGeom prst="rect">
              <a:avLst/>
            </a:prstGeom>
            <a:solidFill>
              <a:srgbClr val="0075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TextBox 45"/>
            <p:cNvSpPr txBox="1"/>
            <p:nvPr/>
          </p:nvSpPr>
          <p:spPr>
            <a:xfrm>
              <a:off x="10339" y="4636"/>
              <a:ext cx="3960" cy="3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3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EML 解析 + MX/SPF/DMARC 自动调用</a:t>
              </a:r>
              <a:endParaRPr sz="93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5" name="Rectangle 46"/>
            <p:cNvSpPr/>
            <p:nvPr/>
          </p:nvSpPr>
          <p:spPr>
            <a:xfrm>
              <a:off x="10123" y="5169"/>
              <a:ext cx="101" cy="101"/>
            </a:xfrm>
            <a:prstGeom prst="rect">
              <a:avLst/>
            </a:prstGeom>
            <a:solidFill>
              <a:srgbClr val="0075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TextBox 47"/>
            <p:cNvSpPr txBox="1"/>
            <p:nvPr/>
          </p:nvSpPr>
          <p:spPr>
            <a:xfrm>
              <a:off x="10339" y="5025"/>
              <a:ext cx="3960" cy="3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3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CJ / CRM 中间链路补客户信息</a:t>
              </a:r>
              <a:endParaRPr sz="93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7" name="Rectangle 48"/>
            <p:cNvSpPr/>
            <p:nvPr/>
          </p:nvSpPr>
          <p:spPr>
            <a:xfrm>
              <a:off x="10123" y="5558"/>
              <a:ext cx="101" cy="101"/>
            </a:xfrm>
            <a:prstGeom prst="rect">
              <a:avLst/>
            </a:prstGeom>
            <a:solidFill>
              <a:srgbClr val="0075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TextBox 49"/>
            <p:cNvSpPr txBox="1"/>
            <p:nvPr/>
          </p:nvSpPr>
          <p:spPr>
            <a:xfrm>
              <a:off x="10339" y="5414"/>
              <a:ext cx="3960" cy="3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3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云服务中心 Skill 触发与字段收集</a:t>
              </a:r>
              <a:endParaRPr sz="93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9" name="TextBox 50"/>
            <p:cNvSpPr txBox="1"/>
            <p:nvPr/>
          </p:nvSpPr>
          <p:spPr>
            <a:xfrm>
              <a:off x="14227" y="3815"/>
              <a:ext cx="3960" cy="4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1" i="0">
                  <a:solidFill>
                    <a:srgbClr val="F49100"/>
                  </a:solidFill>
                  <a:latin typeface="微软雅黑" panose="020B0503020204020204" pitchFamily="34" charset="-122"/>
                </a:rPr>
                <a:t>人工最终判断 / 对外动作</a:t>
              </a:r>
              <a:endParaRPr sz="1050" b="1" i="0">
                <a:solidFill>
                  <a:srgbClr val="F491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0" name="Rectangle 51"/>
            <p:cNvSpPr/>
            <p:nvPr/>
          </p:nvSpPr>
          <p:spPr>
            <a:xfrm>
              <a:off x="14227" y="4391"/>
              <a:ext cx="101" cy="101"/>
            </a:xfrm>
            <a:prstGeom prst="rect">
              <a:avLst/>
            </a:prstGeom>
            <a:solidFill>
              <a:srgbClr val="F491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52"/>
            <p:cNvSpPr txBox="1"/>
            <p:nvPr/>
          </p:nvSpPr>
          <p:spPr>
            <a:xfrm>
              <a:off x="14443" y="4247"/>
              <a:ext cx="3960" cy="3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3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建单 / 开通 / 续期 / 升级流转</a:t>
              </a:r>
              <a:endParaRPr sz="93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2" name="Rectangle 53"/>
            <p:cNvSpPr/>
            <p:nvPr/>
          </p:nvSpPr>
          <p:spPr>
            <a:xfrm>
              <a:off x="14227" y="4780"/>
              <a:ext cx="101" cy="101"/>
            </a:xfrm>
            <a:prstGeom prst="rect">
              <a:avLst/>
            </a:prstGeom>
            <a:solidFill>
              <a:srgbClr val="F491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54"/>
            <p:cNvSpPr txBox="1"/>
            <p:nvPr/>
          </p:nvSpPr>
          <p:spPr>
            <a:xfrm>
              <a:off x="14443" y="4636"/>
              <a:ext cx="3960" cy="3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3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跨团队跟进 / 客户承诺 / 字段校对</a:t>
              </a:r>
              <a:endParaRPr sz="93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4" name="Rectangle 55"/>
            <p:cNvSpPr/>
            <p:nvPr/>
          </p:nvSpPr>
          <p:spPr>
            <a:xfrm>
              <a:off x="14227" y="5169"/>
              <a:ext cx="101" cy="101"/>
            </a:xfrm>
            <a:prstGeom prst="rect">
              <a:avLst/>
            </a:prstGeom>
            <a:solidFill>
              <a:srgbClr val="F491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56"/>
            <p:cNvSpPr txBox="1"/>
            <p:nvPr/>
          </p:nvSpPr>
          <p:spPr>
            <a:xfrm>
              <a:off x="14443" y="5025"/>
              <a:ext cx="3960" cy="3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3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退信诊断结论的对外回复</a:t>
              </a:r>
              <a:endParaRPr sz="93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6" name="Rectangle 57"/>
            <p:cNvSpPr/>
            <p:nvPr/>
          </p:nvSpPr>
          <p:spPr>
            <a:xfrm>
              <a:off x="14227" y="5558"/>
              <a:ext cx="101" cy="101"/>
            </a:xfrm>
            <a:prstGeom prst="rect">
              <a:avLst/>
            </a:prstGeom>
            <a:solidFill>
              <a:srgbClr val="F491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58"/>
            <p:cNvSpPr txBox="1"/>
            <p:nvPr/>
          </p:nvSpPr>
          <p:spPr>
            <a:xfrm>
              <a:off x="14443" y="5414"/>
              <a:ext cx="3960" cy="3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3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运营客户查询 / iCoremail 节点</a:t>
              </a:r>
              <a:endParaRPr sz="93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6149340" y="1024255"/>
            <a:ext cx="5757545" cy="2928620"/>
            <a:chOff x="677" y="2433"/>
            <a:chExt cx="9067" cy="4612"/>
          </a:xfrm>
        </p:grpSpPr>
        <p:sp>
          <p:nvSpPr>
            <p:cNvPr id="89" name="TextBox 11"/>
            <p:cNvSpPr txBox="1"/>
            <p:nvPr/>
          </p:nvSpPr>
          <p:spPr>
            <a:xfrm>
              <a:off x="677" y="2433"/>
              <a:ext cx="8784" cy="3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工单</a:t>
              </a:r>
              <a:r>
                <a:rPr lang="zh-CN"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创建更简单</a:t>
              </a:r>
              <a:r>
                <a:rPr lang="en-US"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  </a:t>
              </a:r>
              <a:r>
                <a:rPr lang="zh-CN" altLang="en-US"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更少步骤的</a:t>
              </a:r>
              <a:r>
                <a:rPr lang="zh-CN" altLang="en-US"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操作</a:t>
              </a:r>
              <a:endParaRPr lang="zh-CN" altLang="en-US" sz="1300" b="1" i="0">
                <a:solidFill>
                  <a:srgbClr val="17406D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0" name="TextBox 12"/>
            <p:cNvSpPr txBox="1"/>
            <p:nvPr/>
          </p:nvSpPr>
          <p:spPr>
            <a:xfrm>
              <a:off x="677" y="2908"/>
              <a:ext cx="8784" cy="4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触发 → CRM 自动匹配 → 预填字段复查 → 提交；附件自动入 Jira，同邮件线程可追加</a:t>
              </a:r>
              <a:endParaRPr sz="95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1" name="TextBox 15"/>
            <p:cNvSpPr txBox="1"/>
            <p:nvPr/>
          </p:nvSpPr>
          <p:spPr>
            <a:xfrm>
              <a:off x="960" y="6827"/>
              <a:ext cx="8784" cy="2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Q1 → </a:t>
              </a:r>
              <a:r>
                <a:rPr sz="90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基础版 Jira 创建 </a:t>
              </a:r>
              <a:r>
                <a:rPr sz="900" b="1" i="0">
                  <a:solidFill>
                    <a:srgbClr val="0075B0"/>
                  </a:solidFill>
                  <a:latin typeface="微软雅黑" panose="020B0503020204020204" pitchFamily="34" charset="-122"/>
                </a:rPr>
                <a:t>·  4 月 → </a:t>
              </a:r>
              <a:r>
                <a:rPr sz="90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15+ 字段自动预填 + EML 自动回复</a:t>
              </a:r>
              <a:endParaRPr sz="90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pic>
          <p:nvPicPr>
            <p:cNvPr id="92" name="Picture 30"/>
            <p:cNvPicPr>
              <a:picLocks noChangeAspect="1"/>
            </p:cNvPicPr>
            <p:nvPr/>
          </p:nvPicPr>
          <p:blipFill>
            <a:blip r:embed="rId1"/>
            <a:srcRect r="28184" b="16441"/>
            <a:stretch>
              <a:fillRect/>
            </a:stretch>
          </p:blipFill>
          <p:spPr>
            <a:xfrm>
              <a:off x="1761" y="3314"/>
              <a:ext cx="5452" cy="3532"/>
            </a:xfrm>
            <a:prstGeom prst="rect">
              <a:avLst/>
            </a:prstGeom>
          </p:spPr>
        </p:pic>
      </p:grpSp>
      <p:grpSp>
        <p:nvGrpSpPr>
          <p:cNvPr id="93" name="组合 92"/>
          <p:cNvGrpSpPr/>
          <p:nvPr/>
        </p:nvGrpSpPr>
        <p:grpSpPr>
          <a:xfrm>
            <a:off x="6240780" y="4158615"/>
            <a:ext cx="5486400" cy="2384516"/>
            <a:chOff x="9792" y="2433"/>
            <a:chExt cx="8640" cy="4792"/>
          </a:xfrm>
        </p:grpSpPr>
        <p:sp>
          <p:nvSpPr>
            <p:cNvPr id="94" name="TextBox 16"/>
            <p:cNvSpPr txBox="1"/>
            <p:nvPr/>
          </p:nvSpPr>
          <p:spPr>
            <a:xfrm>
              <a:off x="9792" y="2433"/>
              <a:ext cx="8640" cy="40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退信诊断</a:t>
              </a:r>
              <a:r>
                <a:rPr lang="zh-CN"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自动化完成</a:t>
              </a:r>
              <a:r>
                <a:rPr sz="1300" b="1" i="0">
                  <a:solidFill>
                    <a:srgbClr val="17406D"/>
                  </a:solidFill>
                  <a:latin typeface="微软雅黑" panose="020B0503020204020204" pitchFamily="34" charset="-122"/>
                </a:rPr>
                <a:t> </a:t>
              </a:r>
              <a:endParaRPr sz="1300" b="1" i="0">
                <a:solidFill>
                  <a:srgbClr val="17406D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5" name="TextBox 17"/>
            <p:cNvSpPr txBox="1"/>
            <p:nvPr/>
          </p:nvSpPr>
          <p:spPr>
            <a:xfrm>
              <a:off x="9792" y="2908"/>
              <a:ext cx="8640" cy="2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MX → SPF → DMARC → SMTP 串行调用，输出结构化诊断报告</a:t>
              </a:r>
              <a:endParaRPr sz="950" b="0" i="0">
                <a:solidFill>
                  <a:srgbClr val="60738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6" name="TextBox 20"/>
            <p:cNvSpPr txBox="1"/>
            <p:nvPr/>
          </p:nvSpPr>
          <p:spPr>
            <a:xfrm>
              <a:off x="9792" y="6947"/>
              <a:ext cx="8640" cy="27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Q1 → </a:t>
              </a:r>
              <a:r>
                <a:rPr sz="900" b="0" i="0">
                  <a:solidFill>
                    <a:srgbClr val="60738F"/>
                  </a:solidFill>
                  <a:latin typeface="微软雅黑" panose="020B0503020204020204" pitchFamily="34" charset="-122"/>
                </a:rPr>
                <a:t>自动调用工具但黑盒  </a:t>
              </a:r>
              <a:r>
                <a:rPr sz="900" b="1" i="0">
                  <a:solidFill>
                    <a:srgbClr val="0075B0"/>
                  </a:solidFill>
                  <a:latin typeface="微软雅黑" panose="020B0503020204020204" pitchFamily="34" charset="-122"/>
                </a:rPr>
                <a:t>·  4 月 → </a:t>
              </a:r>
              <a:r>
                <a:rPr sz="900" b="0" i="0">
                  <a:solidFill>
                    <a:srgbClr val="1A2A44"/>
                  </a:solidFill>
                  <a:latin typeface="微软雅黑" panose="020B0503020204020204" pitchFamily="34" charset="-122"/>
                </a:rPr>
                <a:t>思考链可见 + 结构化诊断 + 根因建议</a:t>
              </a:r>
              <a:endParaRPr sz="900" b="0" i="0">
                <a:solidFill>
                  <a:srgbClr val="1A2A44"/>
                </a:solidFill>
                <a:latin typeface="微软雅黑" panose="020B0503020204020204" pitchFamily="34" charset="-122"/>
              </a:endParaRPr>
            </a:p>
          </p:txBody>
        </p:sp>
        <p:pic>
          <p:nvPicPr>
            <p:cNvPr id="97" name="Picture 25"/>
            <p:cNvPicPr>
              <a:picLocks noChangeAspect="1"/>
            </p:cNvPicPr>
            <p:nvPr/>
          </p:nvPicPr>
          <p:blipFill>
            <a:blip r:embed="rId2"/>
            <a:srcRect b="15112"/>
            <a:stretch>
              <a:fillRect/>
            </a:stretch>
          </p:blipFill>
          <p:spPr>
            <a:xfrm>
              <a:off x="10732" y="3289"/>
              <a:ext cx="6409" cy="340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 bwMode="auto">
          <a:xfrm>
            <a:off x="360045" y="324485"/>
            <a:ext cx="7846060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、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关键项目：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售后Support——数字人葱葱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173095" y="1090295"/>
            <a:ext cx="8403590" cy="219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围绕售后团队 IM 场景，本阶段从稳定回复、长内容承载、异步文档交付、工具参数治理四条线提升可用性。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131820" y="1527302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38100" dist="12700" dir="8100000" algn="bl" rotWithShape="0">
              <a:srgbClr val="0B2F2A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41548" y="1618742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45C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6项</a:t>
            </a:r>
            <a:endParaRPr lang="en-US" b="1" dirty="0">
              <a:solidFill>
                <a:srgbClr val="45C4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41548" y="1929638"/>
            <a:ext cx="119786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7B8D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近期关键优化</a:t>
            </a:r>
            <a:endParaRPr lang="en-US" sz="950" b="1" dirty="0">
              <a:solidFill>
                <a:srgbClr val="7B8D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32020" y="1527302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38100" dist="12700" dir="8100000" algn="bl" rotWithShape="0">
              <a:srgbClr val="0B2F2A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1748" y="1618742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2F80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2类</a:t>
            </a:r>
            <a:endParaRPr lang="en-US" b="1" dirty="0">
              <a:solidFill>
                <a:srgbClr val="2F80E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41748" y="1929638"/>
            <a:ext cx="119786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7B8D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TXT / DOCX 输出</a:t>
            </a:r>
            <a:endParaRPr lang="en-US" sz="950" b="1" dirty="0">
              <a:solidFill>
                <a:srgbClr val="7B8D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332220" y="1527302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38100" dist="12700" dir="8100000" algn="bl" rotWithShape="0">
              <a:srgbClr val="0B2F2A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41948" y="1618742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F7B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半年+</a:t>
            </a:r>
            <a:endParaRPr lang="en-US" b="1" dirty="0">
              <a:solidFill>
                <a:srgbClr val="F7B7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41948" y="1929638"/>
            <a:ext cx="119786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7B8D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长周期总结</a:t>
            </a:r>
            <a:endParaRPr lang="en-US" sz="950" b="1" dirty="0">
              <a:solidFill>
                <a:srgbClr val="7B8D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932420" y="1527302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38100" dist="12700" dir="8100000" algn="bl" rotWithShape="0">
              <a:srgbClr val="0B2F2A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042148" y="1618742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7566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Black" panose="020B0A04020102020204" pitchFamily="34" charset="-120"/>
              </a:rPr>
              <a:t>20+</a:t>
            </a:r>
            <a:endParaRPr lang="en-US" b="1" dirty="0">
              <a:solidFill>
                <a:srgbClr val="7566D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042148" y="1929638"/>
            <a:ext cx="119786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7B8D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语义化参数</a:t>
            </a:r>
            <a:endParaRPr lang="en-US" sz="950" b="1" dirty="0">
              <a:solidFill>
                <a:srgbClr val="7B8D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802368" y="1499870"/>
            <a:ext cx="1627632" cy="786384"/>
          </a:xfrm>
          <a:prstGeom prst="roundRect">
            <a:avLst>
              <a:gd name="adj" fmla="val 9302"/>
            </a:avLst>
          </a:prstGeom>
          <a:solidFill>
            <a:schemeClr val="accent1">
              <a:lumMod val="50000"/>
            </a:schemeClr>
          </a:solidFill>
          <a:ln w="12700">
            <a:solidFill>
              <a:srgbClr val="0B2F2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66960" y="1637030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价值转化</a:t>
            </a:r>
            <a:endParaRPr lang="en-US" sz="1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948672" y="1865630"/>
            <a:ext cx="1261872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E5F4E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少刷屏 · 少误判</a:t>
            </a:r>
            <a:endParaRPr lang="en-US" sz="85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E5F4E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可复用文件交付</a:t>
            </a:r>
            <a:endParaRPr lang="en-US" sz="850" b="1" dirty="0">
              <a:solidFill>
                <a:srgbClr val="E5F4E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154680" y="2426970"/>
            <a:ext cx="4041775" cy="1462405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50800" dist="15240" dir="8100000" algn="bl" rotWithShape="0">
              <a:srgbClr val="0B2F2A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91840" y="2573020"/>
            <a:ext cx="310896" cy="310896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45C46A"/>
          </a:solidFill>
          <a:ln w="12700">
            <a:solidFill>
              <a:srgbClr val="45C46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2632456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Black" panose="020B0A04020102020204" pitchFamily="34" charset="-120"/>
              </a:rPr>
              <a:t>01</a:t>
            </a:r>
            <a:endParaRPr lang="en-US" sz="7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685032" y="2554732"/>
            <a:ext cx="3346704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F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稳定性与响应速度提升</a:t>
            </a:r>
            <a:endParaRPr lang="en-US" sz="1400" b="1" dirty="0">
              <a:solidFill>
                <a:srgbClr val="0B2F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392424" y="2891536"/>
            <a:ext cx="3566160" cy="6766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sz="1020" dirty="0">
                <a:solidFill>
                  <a:srgbClr val="506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解决纯文本总结场景下的 LLM 超时、abort 与长回复卡死问题。</a:t>
            </a:r>
            <a:endParaRPr lang="en-US" sz="102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1020" dirty="0">
                <a:solidFill>
                  <a:srgbClr val="506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 AbortError、429、529 等异常做快速失败识别和熔断。</a:t>
            </a:r>
            <a:endParaRPr lang="en-US" sz="102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1020" dirty="0">
                <a:solidFill>
                  <a:srgbClr val="506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主备模型链路异常更快切换，整体回复成功率与体感速度同步提升。</a:t>
            </a:r>
            <a:endParaRPr lang="en-US" sz="1020" dirty="0">
              <a:solidFill>
                <a:srgbClr val="5065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88225" y="2426970"/>
            <a:ext cx="4041775" cy="1462405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50800" dist="15240" dir="8100000" algn="bl" rotWithShape="0">
              <a:srgbClr val="0B2F2A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525512" y="2573020"/>
            <a:ext cx="310896" cy="310896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25512" y="2632456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Black" panose="020B0A04020102020204" pitchFamily="34" charset="-120"/>
              </a:rPr>
              <a:t>02</a:t>
            </a:r>
            <a:endParaRPr lang="en-US" sz="7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918704" y="2554732"/>
            <a:ext cx="3346704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F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大内容承载与异步交付</a:t>
            </a:r>
            <a:endParaRPr lang="en-US" sz="1400" b="1" dirty="0">
              <a:solidFill>
                <a:srgbClr val="0B2F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626350" y="2885440"/>
            <a:ext cx="3566160" cy="8928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sz="1020" dirty="0">
                <a:solidFill>
                  <a:srgbClr val="506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客户历史工单总结支持分页汇总，不再依赖单页结果做结论。</a:t>
            </a:r>
            <a:endParaRPr lang="en-US" sz="102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1020" dirty="0">
                <a:solidFill>
                  <a:srgbClr val="506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长内容自动整理为 TXT 下发，减少 IM 聊天框刷屏。</a:t>
            </a:r>
            <a:endParaRPr lang="en-US" sz="102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1020" dirty="0">
                <a:solidFill>
                  <a:srgbClr val="506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年度、半年度、跨月总结可异步执行，完成后自动回传文件，并支持状态查询与取消。</a:t>
            </a:r>
            <a:endParaRPr lang="en-US" sz="1020" dirty="0">
              <a:solidFill>
                <a:srgbClr val="5065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154680" y="4032885"/>
            <a:ext cx="4041775" cy="1557655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50800" dist="15240" dir="8100000" algn="bl" rotWithShape="0">
              <a:srgbClr val="0B2F2A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91840" y="4179062"/>
            <a:ext cx="310896" cy="310896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7B733"/>
          </a:solidFill>
          <a:ln w="12700">
            <a:solidFill>
              <a:srgbClr val="F7B733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0" y="4238498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Black" panose="020B0A04020102020204" pitchFamily="34" charset="-120"/>
              </a:rPr>
              <a:t>03</a:t>
            </a:r>
            <a:endParaRPr lang="en-US" sz="7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3685032" y="4160774"/>
            <a:ext cx="3346704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F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Jira Skill 语义化参数治理</a:t>
            </a:r>
            <a:endParaRPr lang="en-US" sz="1400" b="1" dirty="0">
              <a:solidFill>
                <a:srgbClr val="0B2F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3392424" y="4497578"/>
            <a:ext cx="3566160" cy="6766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sz="1020" dirty="0">
                <a:solidFill>
                  <a:srgbClr val="506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 arg1/arg2/arg3 过渡到 ticketId、jql、keywords、range、outputMode 等语义化参数。</a:t>
            </a:r>
            <a:endParaRPr lang="en-US" sz="102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1020" dirty="0">
                <a:solidFill>
                  <a:srgbClr val="506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附件下载/上传/删除、Wiki 获取、备注发布等工具调用更稳定。</a:t>
            </a:r>
            <a:endParaRPr lang="en-US" sz="102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1020" dirty="0">
                <a:solidFill>
                  <a:srgbClr val="506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无参数 action 增加保护，避免旧参数误带导致 argparse 报错。</a:t>
            </a:r>
            <a:endParaRPr lang="en-US" sz="1020" dirty="0">
              <a:solidFill>
                <a:srgbClr val="5065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388225" y="4032885"/>
            <a:ext cx="4041775" cy="155702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50800" dist="15240" dir="8100000" algn="bl" rotWithShape="0">
              <a:srgbClr val="0B2F2A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525512" y="4179062"/>
            <a:ext cx="310896" cy="310896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7566D9"/>
          </a:solidFill>
          <a:ln w="12700">
            <a:solidFill>
              <a:srgbClr val="7566D9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25512" y="4238498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Black" panose="020B0A04020102020204" pitchFamily="34" charset="-120"/>
              </a:rPr>
              <a:t>04</a:t>
            </a:r>
            <a:endParaRPr lang="en-US" sz="7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918704" y="4160774"/>
            <a:ext cx="3346704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F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能力定位与典型场景升级</a:t>
            </a:r>
            <a:endParaRPr lang="en-US" sz="1400" b="1" dirty="0">
              <a:solidFill>
                <a:srgbClr val="0B2F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626096" y="4491228"/>
            <a:ext cx="3566160" cy="6766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sz="1020" dirty="0">
                <a:solidFill>
                  <a:srgbClr val="506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 document-processing-core 与 report-generation-core 作为内部底座。</a:t>
            </a:r>
            <a:endParaRPr lang="en-US" sz="102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1020" dirty="0">
                <a:solidFill>
                  <a:srgbClr val="506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聚焦售后协作与工单场景：单工单查询、历史总结、JQL/Wiki 检索、附件管理、待办负载。</a:t>
            </a:r>
            <a:endParaRPr lang="en-US" sz="1020" dirty="0">
              <a:solidFill>
                <a:srgbClr val="5065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3154680" y="5678678"/>
            <a:ext cx="8275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50800" dist="12700" dir="8100000" algn="bl" rotWithShape="0">
              <a:srgbClr val="0B2F2A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3364992" y="5824982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F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下一步规划</a:t>
            </a:r>
            <a:endParaRPr lang="en-US" sz="1200" b="1" dirty="0">
              <a:solidFill>
                <a:srgbClr val="0B2F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4434840" y="5824982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06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继续增强总结质量、报告模板体系、复杂场景路由理解，并面向 Word/PPT 资料准备与巡检解析深化项目助手能力。</a:t>
            </a:r>
            <a:endParaRPr lang="en-US" sz="1050" dirty="0">
              <a:solidFill>
                <a:srgbClr val="5065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3364992" y="6201410"/>
            <a:ext cx="754380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1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业务价值：效率提升 / 准确性提升 / 交付能力提升 / 管控边界更清晰</a:t>
            </a:r>
            <a:endParaRPr lang="en-US" sz="101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754505"/>
            <a:ext cx="2288540" cy="11626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 Jira 查询机器人</a:t>
            </a:r>
            <a:endParaRPr 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升级为售后协作与报告生成PM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角色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79781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升级主线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3068320"/>
            <a:ext cx="1783080" cy="661035"/>
          </a:xfrm>
          <a:prstGeom prst="roundRect">
            <a:avLst>
              <a:gd name="adj" fmla="val 17391"/>
            </a:avLst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211322"/>
            <a:ext cx="530352" cy="146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能查询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" name="Text 11"/>
          <p:cNvSpPr/>
          <p:nvPr/>
        </p:nvSpPr>
        <p:spPr>
          <a:xfrm>
            <a:off x="1289304" y="3156966"/>
            <a:ext cx="932688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sz="102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单工单 / Wiki / JQL</a:t>
            </a:r>
            <a:endParaRPr lang="en-US" sz="102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hape 12"/>
          <p:cNvSpPr/>
          <p:nvPr/>
        </p:nvSpPr>
        <p:spPr>
          <a:xfrm>
            <a:off x="1380744" y="3817620"/>
            <a:ext cx="146304" cy="164592"/>
          </a:xfrm>
          <a:prstGeom prst="downArrow">
            <a:avLst/>
          </a:prstGeom>
          <a:solidFill>
            <a:srgbClr val="45C46A"/>
          </a:solidFill>
          <a:ln w="12700">
            <a:solidFill>
              <a:srgbClr val="45C46A">
                <a:alpha val="0"/>
              </a:srgbClr>
            </a:solidFill>
            <a:prstDash val="solid"/>
          </a:ln>
        </p:spPr>
      </p:sp>
      <p:sp>
        <p:nvSpPr>
          <p:cNvPr id="4" name="Shape 13"/>
          <p:cNvSpPr/>
          <p:nvPr/>
        </p:nvSpPr>
        <p:spPr>
          <a:xfrm>
            <a:off x="640080" y="4048125"/>
            <a:ext cx="1783080" cy="610235"/>
          </a:xfrm>
          <a:prstGeom prst="roundRect">
            <a:avLst>
              <a:gd name="adj" fmla="val 17391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6" name="Text 14"/>
          <p:cNvSpPr/>
          <p:nvPr/>
        </p:nvSpPr>
        <p:spPr>
          <a:xfrm>
            <a:off x="795528" y="4121404"/>
            <a:ext cx="530352" cy="146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能总结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15"/>
          <p:cNvSpPr/>
          <p:nvPr/>
        </p:nvSpPr>
        <p:spPr>
          <a:xfrm>
            <a:off x="1289304" y="4105148"/>
            <a:ext cx="932688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sz="1020" b="1" dirty="0">
                <a:solidFill>
                  <a:srgbClr val="B6C8C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分页汇总 / 长周期识别</a:t>
            </a:r>
            <a:endParaRPr lang="en-US" sz="1020" b="1" dirty="0">
              <a:solidFill>
                <a:srgbClr val="B6C8C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Shape 16"/>
          <p:cNvSpPr/>
          <p:nvPr/>
        </p:nvSpPr>
        <p:spPr>
          <a:xfrm>
            <a:off x="1380744" y="4772152"/>
            <a:ext cx="146304" cy="164592"/>
          </a:xfrm>
          <a:prstGeom prst="downArrow">
            <a:avLst/>
          </a:prstGeom>
          <a:solidFill>
            <a:srgbClr val="45C46A"/>
          </a:solidFill>
          <a:ln w="12700">
            <a:solidFill>
              <a:srgbClr val="45C46A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0080" y="5015230"/>
            <a:ext cx="1783080" cy="626110"/>
          </a:xfrm>
          <a:prstGeom prst="roundRect">
            <a:avLst>
              <a:gd name="adj" fmla="val 17391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95528" y="5088636"/>
            <a:ext cx="530352" cy="146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F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能交付</a:t>
            </a:r>
            <a:endParaRPr lang="en-US" sz="1400" b="1" dirty="0">
              <a:solidFill>
                <a:srgbClr val="0B2F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1289304" y="5059680"/>
            <a:ext cx="932688" cy="146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23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TXT / DOCX / 异步报告</a:t>
            </a:r>
            <a:endParaRPr lang="en-US" sz="1000" b="1" dirty="0">
              <a:solidFill>
                <a:srgbClr val="123C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" name="文本框 163"/>
          <p:cNvSpPr txBox="1"/>
          <p:nvPr/>
        </p:nvSpPr>
        <p:spPr>
          <a:xfrm>
            <a:off x="130175" y="247650"/>
            <a:ext cx="10457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、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关键项目：售后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TS——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数字人双儿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底座搭建完成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975" y="984250"/>
            <a:ext cx="11483975" cy="48895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44550" y="9467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从凭证到执行的全方位保障</a:t>
            </a:r>
            <a:endParaRPr lang="zh-CN" altLang="en-US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447800" y="1594485"/>
            <a:ext cx="38722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第一层：凭证安全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447800" y="1949450"/>
            <a:ext cx="38722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XOR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加密存储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Base64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编码，本地永不明文暴露</a:t>
            </a:r>
            <a:endParaRPr lang="zh-CN" altLang="en-US" sz="1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727825" y="1594485"/>
            <a:ext cx="38722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第二层：操作审批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727825" y="1949450"/>
            <a:ext cx="38722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文件写入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前需人工审批，监听模式支持远程授权。</a:t>
            </a:r>
            <a:endParaRPr lang="zh-CN" altLang="en-US" sz="1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447800" y="2727960"/>
            <a:ext cx="38722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第三层：路径围栏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1447800" y="3082925"/>
            <a:ext cx="3872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禁止删除工作区外目录、系统根目录等高危路径，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删除文件优先进入回收站。</a:t>
            </a:r>
            <a:endParaRPr lang="zh-CN" altLang="en-US" sz="1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727825" y="2702560"/>
            <a:ext cx="38722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第四层：超时保护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6727825" y="3057525"/>
            <a:ext cx="38722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工具执行默认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秒超时限制，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错误连续重试上限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zh-CN" altLang="en-US" sz="1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1447800" y="3792855"/>
            <a:ext cx="38722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第五层：权限隔离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1447800" y="4147820"/>
            <a:ext cx="3872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用户白名单（只允许谁能用）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Owner/Admin 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权限分离（用户权限与管理员权限不同）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6727825" y="3775075"/>
            <a:ext cx="38722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第六层：注入防护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6727825" y="4130040"/>
            <a:ext cx="3872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工具白名单过滤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XML 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环境标签隔离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禁止子代理嵌套</a:t>
            </a:r>
            <a:endParaRPr lang="zh-CN" altLang="en-US" sz="1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1447800" y="4857750"/>
            <a:ext cx="59391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第七层：上下文管理</a:t>
            </a:r>
            <a:r>
              <a:rPr lang="en-US" altLang="zh-CN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+LLM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多活（负载均衡</a:t>
            </a:r>
            <a:r>
              <a:rPr lang="en-US" altLang="zh-CN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高可用）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1447800" y="5212715"/>
            <a:ext cx="77298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超阈值自动压缩旧内容，超长内容自动采用多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 agent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分批完成。</a:t>
            </a:r>
            <a:endParaRPr lang="zh-CN" altLang="en-US" sz="1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支持配置多模型，用户访问随机分发模型，模型如果出现无法访问，请求超时等情况，重试时自动切换到可用模型。</a:t>
            </a:r>
            <a:endParaRPr lang="zh-CN" altLang="en-US" sz="1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" name="文本框 163"/>
          <p:cNvSpPr txBox="1"/>
          <p:nvPr/>
        </p:nvSpPr>
        <p:spPr>
          <a:xfrm>
            <a:off x="130175" y="247650"/>
            <a:ext cx="10457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、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关键项目：数字人双儿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使用情况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66928" y="1024128"/>
            <a:ext cx="2066543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73152" cy="841248"/>
          </a:xfrm>
          <a:prstGeom prst="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731520" y="1115568"/>
            <a:ext cx="1792223" cy="2834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6,982</a:t>
            </a:r>
            <a:endParaRPr sz="250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731520" y="1463040"/>
            <a:ext cx="1792223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会话总数</a:t>
            </a:r>
            <a:endParaRPr sz="102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731520" y="1664208"/>
            <a:ext cx="1792223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日均 232.7 次</a:t>
            </a:r>
            <a:endParaRPr sz="950" b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2752344" y="1024128"/>
            <a:ext cx="2066543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8"/>
          <p:cNvSpPr/>
          <p:nvPr/>
        </p:nvSpPr>
        <p:spPr>
          <a:xfrm>
            <a:off x="2752344" y="1024128"/>
            <a:ext cx="73152" cy="841248"/>
          </a:xfrm>
          <a:prstGeom prst="rect">
            <a:avLst/>
          </a:prstGeom>
          <a:solidFill>
            <a:srgbClr val="0891B2"/>
          </a:solidFill>
          <a:ln w="889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2916936" y="1115568"/>
            <a:ext cx="1792223" cy="2834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67</a:t>
            </a:r>
            <a:endParaRPr sz="250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2916936" y="1463040"/>
            <a:ext cx="1792223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独立联系人</a:t>
            </a:r>
            <a:endParaRPr sz="102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2916936" y="1664208"/>
            <a:ext cx="1792223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覆盖使用人群</a:t>
            </a:r>
            <a:endParaRPr sz="950" b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4937759" y="1024128"/>
            <a:ext cx="2066543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13"/>
          <p:cNvSpPr/>
          <p:nvPr/>
        </p:nvSpPr>
        <p:spPr>
          <a:xfrm>
            <a:off x="4937759" y="1024128"/>
            <a:ext cx="73152" cy="841248"/>
          </a:xfrm>
          <a:prstGeom prst="rect">
            <a:avLst/>
          </a:prstGeom>
          <a:solidFill>
            <a:srgbClr val="00A870"/>
          </a:solidFill>
          <a:ln w="8890">
            <a:solidFill>
              <a:srgbClr val="00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5102351" y="1115568"/>
            <a:ext cx="1792223" cy="2834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71.5%</a:t>
            </a:r>
            <a:endParaRPr sz="250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5102351" y="1463040"/>
            <a:ext cx="1792223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技能覆盖</a:t>
            </a:r>
            <a:endParaRPr sz="102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6"/>
          <p:cNvSpPr txBox="1"/>
          <p:nvPr/>
        </p:nvSpPr>
        <p:spPr>
          <a:xfrm>
            <a:off x="5102351" y="1664208"/>
            <a:ext cx="1792223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4,989 次会话</a:t>
            </a:r>
            <a:endParaRPr sz="950" b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Rounded Rectangle 17"/>
          <p:cNvSpPr/>
          <p:nvPr/>
        </p:nvSpPr>
        <p:spPr>
          <a:xfrm>
            <a:off x="7123175" y="1024128"/>
            <a:ext cx="2066543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18"/>
          <p:cNvSpPr/>
          <p:nvPr/>
        </p:nvSpPr>
        <p:spPr>
          <a:xfrm>
            <a:off x="7123175" y="1024128"/>
            <a:ext cx="73152" cy="841248"/>
          </a:xfrm>
          <a:prstGeom prst="rect">
            <a:avLst/>
          </a:prstGeom>
          <a:solidFill>
            <a:srgbClr val="DC2626"/>
          </a:solidFill>
          <a:ln w="889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7287767" y="1115568"/>
            <a:ext cx="1792223" cy="2834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4.97%</a:t>
            </a:r>
            <a:endParaRPr sz="250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7287767" y="1463040"/>
            <a:ext cx="1792223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模型异常率</a:t>
            </a:r>
            <a:endParaRPr sz="102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7287767" y="1664208"/>
            <a:ext cx="1792223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347 次异常会话</a:t>
            </a:r>
            <a:endParaRPr sz="950" b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Rounded Rectangle 22"/>
          <p:cNvSpPr/>
          <p:nvPr/>
        </p:nvSpPr>
        <p:spPr>
          <a:xfrm>
            <a:off x="9308591" y="1024128"/>
            <a:ext cx="2066543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23"/>
          <p:cNvSpPr/>
          <p:nvPr/>
        </p:nvSpPr>
        <p:spPr>
          <a:xfrm>
            <a:off x="9308591" y="1024128"/>
            <a:ext cx="73152" cy="841248"/>
          </a:xfrm>
          <a:prstGeom prst="rect">
            <a:avLst/>
          </a:prstGeom>
          <a:solidFill>
            <a:srgbClr val="7C3AED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4"/>
          <p:cNvSpPr txBox="1"/>
          <p:nvPr/>
        </p:nvSpPr>
        <p:spPr>
          <a:xfrm>
            <a:off x="9473183" y="1115568"/>
            <a:ext cx="1792223" cy="2834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2.40亿</a:t>
            </a:r>
            <a:endParaRPr sz="250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9473183" y="1463040"/>
            <a:ext cx="1792223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 总消耗</a:t>
            </a:r>
            <a:endParaRPr sz="102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TextBox 26"/>
          <p:cNvSpPr txBox="1"/>
          <p:nvPr/>
        </p:nvSpPr>
        <p:spPr>
          <a:xfrm>
            <a:off x="9473183" y="1664208"/>
            <a:ext cx="1792223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缓存命中 87.55%</a:t>
            </a:r>
            <a:endParaRPr sz="950" b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Rounded Rectangle 27"/>
          <p:cNvSpPr/>
          <p:nvPr/>
        </p:nvSpPr>
        <p:spPr>
          <a:xfrm>
            <a:off x="566928" y="1993392"/>
            <a:ext cx="6492240" cy="2267712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28"/>
          <p:cNvSpPr txBox="1"/>
          <p:nvPr/>
        </p:nvSpPr>
        <p:spPr>
          <a:xfrm>
            <a:off x="768096" y="2139696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每日会话量趋势</a:t>
            </a:r>
            <a:endParaRPr sz="140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Rectangle 29"/>
          <p:cNvSpPr/>
          <p:nvPr/>
        </p:nvSpPr>
        <p:spPr>
          <a:xfrm>
            <a:off x="768096" y="2441448"/>
            <a:ext cx="2103120" cy="9144"/>
          </a:xfrm>
          <a:prstGeom prst="rect">
            <a:avLst/>
          </a:prstGeom>
          <a:solidFill>
            <a:srgbClr val="E5E7EB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Connector 30"/>
          <p:cNvCxnSpPr/>
          <p:nvPr/>
        </p:nvCxnSpPr>
        <p:spPr>
          <a:xfrm>
            <a:off x="1133856" y="2651760"/>
            <a:ext cx="0" cy="1133856"/>
          </a:xfrm>
          <a:prstGeom prst="line">
            <a:avLst/>
          </a:prstGeom>
          <a:ln w="1143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1"/>
          <p:cNvCxnSpPr/>
          <p:nvPr/>
        </p:nvCxnSpPr>
        <p:spPr>
          <a:xfrm>
            <a:off x="1133856" y="3785616"/>
            <a:ext cx="5669280" cy="0"/>
          </a:xfrm>
          <a:prstGeom prst="line">
            <a:avLst/>
          </a:prstGeom>
          <a:ln w="1143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2"/>
          <p:cNvSpPr txBox="1"/>
          <p:nvPr/>
        </p:nvSpPr>
        <p:spPr>
          <a:xfrm>
            <a:off x="704088" y="2432304"/>
            <a:ext cx="64008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会话数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Box 33"/>
          <p:cNvSpPr txBox="1"/>
          <p:nvPr/>
        </p:nvSpPr>
        <p:spPr>
          <a:xfrm>
            <a:off x="6208775" y="4078224"/>
            <a:ext cx="594360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日期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Connector 34"/>
          <p:cNvCxnSpPr/>
          <p:nvPr/>
        </p:nvCxnSpPr>
        <p:spPr>
          <a:xfrm>
            <a:off x="1133856" y="3785616"/>
            <a:ext cx="5669280" cy="0"/>
          </a:xfrm>
          <a:prstGeom prst="line">
            <a:avLst/>
          </a:prstGeom>
          <a:ln w="571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5"/>
          <p:cNvSpPr txBox="1"/>
          <p:nvPr/>
        </p:nvSpPr>
        <p:spPr>
          <a:xfrm>
            <a:off x="731520" y="3721608"/>
            <a:ext cx="310896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Connector 36"/>
          <p:cNvCxnSpPr/>
          <p:nvPr/>
        </p:nvCxnSpPr>
        <p:spPr>
          <a:xfrm>
            <a:off x="1133856" y="3515650"/>
            <a:ext cx="5669280" cy="0"/>
          </a:xfrm>
          <a:prstGeom prst="line">
            <a:avLst/>
          </a:prstGeom>
          <a:ln w="571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7"/>
          <p:cNvSpPr txBox="1"/>
          <p:nvPr/>
        </p:nvSpPr>
        <p:spPr>
          <a:xfrm>
            <a:off x="731520" y="3451642"/>
            <a:ext cx="310896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Connector 38"/>
          <p:cNvCxnSpPr/>
          <p:nvPr/>
        </p:nvCxnSpPr>
        <p:spPr>
          <a:xfrm>
            <a:off x="1133856" y="3245684"/>
            <a:ext cx="5669280" cy="0"/>
          </a:xfrm>
          <a:prstGeom prst="line">
            <a:avLst/>
          </a:prstGeom>
          <a:ln w="571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39"/>
          <p:cNvSpPr txBox="1"/>
          <p:nvPr/>
        </p:nvSpPr>
        <p:spPr>
          <a:xfrm>
            <a:off x="731520" y="3181676"/>
            <a:ext cx="310896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" name="Connector 40"/>
          <p:cNvCxnSpPr/>
          <p:nvPr/>
        </p:nvCxnSpPr>
        <p:spPr>
          <a:xfrm>
            <a:off x="1133856" y="2975718"/>
            <a:ext cx="5669280" cy="0"/>
          </a:xfrm>
          <a:prstGeom prst="line">
            <a:avLst/>
          </a:prstGeom>
          <a:ln w="571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1"/>
          <p:cNvSpPr txBox="1"/>
          <p:nvPr/>
        </p:nvSpPr>
        <p:spPr>
          <a:xfrm>
            <a:off x="731520" y="2911710"/>
            <a:ext cx="310896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Connector 42"/>
          <p:cNvCxnSpPr/>
          <p:nvPr/>
        </p:nvCxnSpPr>
        <p:spPr>
          <a:xfrm>
            <a:off x="1133856" y="2705753"/>
            <a:ext cx="5669280" cy="0"/>
          </a:xfrm>
          <a:prstGeom prst="line">
            <a:avLst/>
          </a:prstGeom>
          <a:ln w="571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3"/>
          <p:cNvSpPr txBox="1"/>
          <p:nvPr/>
        </p:nvSpPr>
        <p:spPr>
          <a:xfrm>
            <a:off x="731520" y="2641745"/>
            <a:ext cx="310896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Connector 44"/>
          <p:cNvCxnSpPr/>
          <p:nvPr/>
        </p:nvCxnSpPr>
        <p:spPr>
          <a:xfrm>
            <a:off x="1133856" y="3785616"/>
            <a:ext cx="0" cy="54864"/>
          </a:xfrm>
          <a:prstGeom prst="line">
            <a:avLst/>
          </a:prstGeom>
          <a:ln w="69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5"/>
          <p:cNvSpPr txBox="1"/>
          <p:nvPr/>
        </p:nvSpPr>
        <p:spPr>
          <a:xfrm>
            <a:off x="905256" y="3867912"/>
            <a:ext cx="457200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04-01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8" name="Connector 46"/>
          <p:cNvCxnSpPr/>
          <p:nvPr/>
        </p:nvCxnSpPr>
        <p:spPr>
          <a:xfrm>
            <a:off x="3870749" y="3785616"/>
            <a:ext cx="0" cy="54864"/>
          </a:xfrm>
          <a:prstGeom prst="line">
            <a:avLst/>
          </a:prstGeom>
          <a:ln w="69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7"/>
          <p:cNvSpPr txBox="1"/>
          <p:nvPr/>
        </p:nvSpPr>
        <p:spPr>
          <a:xfrm>
            <a:off x="3642149" y="3867912"/>
            <a:ext cx="457200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04-15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Connector 48"/>
          <p:cNvCxnSpPr/>
          <p:nvPr/>
        </p:nvCxnSpPr>
        <p:spPr>
          <a:xfrm>
            <a:off x="6803136" y="3785616"/>
            <a:ext cx="0" cy="54864"/>
          </a:xfrm>
          <a:prstGeom prst="line">
            <a:avLst/>
          </a:prstGeom>
          <a:ln w="69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49"/>
          <p:cNvSpPr txBox="1"/>
          <p:nvPr/>
        </p:nvSpPr>
        <p:spPr>
          <a:xfrm>
            <a:off x="6574536" y="3867912"/>
            <a:ext cx="457200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04-30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50"/>
          <p:cNvSpPr/>
          <p:nvPr/>
        </p:nvSpPr>
        <p:spPr>
          <a:xfrm>
            <a:off x="1133856" y="3008114"/>
            <a:ext cx="173065" cy="777501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Rectangle 51"/>
          <p:cNvSpPr/>
          <p:nvPr/>
        </p:nvSpPr>
        <p:spPr>
          <a:xfrm>
            <a:off x="1323380" y="3035111"/>
            <a:ext cx="173065" cy="750504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Rectangle 52"/>
          <p:cNvSpPr/>
          <p:nvPr/>
        </p:nvSpPr>
        <p:spPr>
          <a:xfrm>
            <a:off x="1512905" y="3048609"/>
            <a:ext cx="173065" cy="737006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ectangle 53"/>
          <p:cNvSpPr/>
          <p:nvPr/>
        </p:nvSpPr>
        <p:spPr>
          <a:xfrm>
            <a:off x="1702429" y="3629035"/>
            <a:ext cx="173065" cy="156580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Rectangle 54"/>
          <p:cNvSpPr/>
          <p:nvPr/>
        </p:nvSpPr>
        <p:spPr>
          <a:xfrm>
            <a:off x="1891954" y="3631735"/>
            <a:ext cx="173065" cy="153880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Rectangle 55"/>
          <p:cNvSpPr/>
          <p:nvPr/>
        </p:nvSpPr>
        <p:spPr>
          <a:xfrm>
            <a:off x="2081479" y="3383367"/>
            <a:ext cx="173065" cy="402248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Rectangle 56"/>
          <p:cNvSpPr/>
          <p:nvPr/>
        </p:nvSpPr>
        <p:spPr>
          <a:xfrm>
            <a:off x="2271003" y="3043210"/>
            <a:ext cx="173065" cy="742405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Rectangle 57"/>
          <p:cNvSpPr/>
          <p:nvPr/>
        </p:nvSpPr>
        <p:spPr>
          <a:xfrm>
            <a:off x="2460528" y="3048609"/>
            <a:ext cx="173065" cy="737006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Rectangle 58"/>
          <p:cNvSpPr/>
          <p:nvPr/>
        </p:nvSpPr>
        <p:spPr>
          <a:xfrm>
            <a:off x="2650053" y="3037810"/>
            <a:ext cx="173065" cy="747805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Rectangle 59"/>
          <p:cNvSpPr/>
          <p:nvPr/>
        </p:nvSpPr>
        <p:spPr>
          <a:xfrm>
            <a:off x="2839577" y="3081005"/>
            <a:ext cx="173065" cy="704610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Rectangle 60"/>
          <p:cNvSpPr/>
          <p:nvPr/>
        </p:nvSpPr>
        <p:spPr>
          <a:xfrm>
            <a:off x="3029102" y="3612837"/>
            <a:ext cx="173065" cy="172778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Rectangle 61"/>
          <p:cNvSpPr/>
          <p:nvPr/>
        </p:nvSpPr>
        <p:spPr>
          <a:xfrm>
            <a:off x="3218627" y="3683029"/>
            <a:ext cx="173065" cy="102586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Rectangle 62"/>
          <p:cNvSpPr/>
          <p:nvPr/>
        </p:nvSpPr>
        <p:spPr>
          <a:xfrm>
            <a:off x="3408151" y="2705753"/>
            <a:ext cx="173065" cy="1079862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Rectangle 63"/>
          <p:cNvSpPr/>
          <p:nvPr/>
        </p:nvSpPr>
        <p:spPr>
          <a:xfrm>
            <a:off x="3597676" y="2697654"/>
            <a:ext cx="173065" cy="1087961"/>
          </a:xfrm>
          <a:prstGeom prst="rect">
            <a:avLst/>
          </a:prstGeom>
          <a:solidFill>
            <a:srgbClr val="F59E0B"/>
          </a:solidFill>
          <a:ln w="38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Rectangle 64"/>
          <p:cNvSpPr/>
          <p:nvPr/>
        </p:nvSpPr>
        <p:spPr>
          <a:xfrm>
            <a:off x="3787200" y="2821838"/>
            <a:ext cx="173065" cy="963777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Rectangle 65"/>
          <p:cNvSpPr/>
          <p:nvPr/>
        </p:nvSpPr>
        <p:spPr>
          <a:xfrm>
            <a:off x="3976725" y="2786742"/>
            <a:ext cx="173065" cy="998873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Rectangle 66"/>
          <p:cNvSpPr/>
          <p:nvPr/>
        </p:nvSpPr>
        <p:spPr>
          <a:xfrm>
            <a:off x="4166250" y="3056708"/>
            <a:ext cx="173065" cy="728907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Rectangle 67"/>
          <p:cNvSpPr/>
          <p:nvPr/>
        </p:nvSpPr>
        <p:spPr>
          <a:xfrm>
            <a:off x="4355774" y="3596640"/>
            <a:ext cx="173065" cy="188976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Rectangle 68"/>
          <p:cNvSpPr/>
          <p:nvPr/>
        </p:nvSpPr>
        <p:spPr>
          <a:xfrm>
            <a:off x="4545299" y="3720824"/>
            <a:ext cx="173065" cy="64791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Rectangle 69"/>
          <p:cNvSpPr/>
          <p:nvPr/>
        </p:nvSpPr>
        <p:spPr>
          <a:xfrm>
            <a:off x="4734824" y="2913626"/>
            <a:ext cx="173065" cy="871989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Rectangle 70"/>
          <p:cNvSpPr/>
          <p:nvPr/>
        </p:nvSpPr>
        <p:spPr>
          <a:xfrm>
            <a:off x="4924348" y="2713852"/>
            <a:ext cx="173065" cy="1071763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Rectangle 71"/>
          <p:cNvSpPr/>
          <p:nvPr/>
        </p:nvSpPr>
        <p:spPr>
          <a:xfrm>
            <a:off x="5113873" y="3021613"/>
            <a:ext cx="173065" cy="764002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Rectangle 72"/>
          <p:cNvSpPr/>
          <p:nvPr/>
        </p:nvSpPr>
        <p:spPr>
          <a:xfrm>
            <a:off x="5303398" y="2975718"/>
            <a:ext cx="173065" cy="809897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Rectangle 73"/>
          <p:cNvSpPr/>
          <p:nvPr/>
        </p:nvSpPr>
        <p:spPr>
          <a:xfrm>
            <a:off x="5492922" y="3045909"/>
            <a:ext cx="173065" cy="739706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Rectangle 74"/>
          <p:cNvSpPr/>
          <p:nvPr/>
        </p:nvSpPr>
        <p:spPr>
          <a:xfrm>
            <a:off x="5682447" y="3656032"/>
            <a:ext cx="173065" cy="129583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Rectangle 75"/>
          <p:cNvSpPr/>
          <p:nvPr/>
        </p:nvSpPr>
        <p:spPr>
          <a:xfrm>
            <a:off x="5871971" y="3680329"/>
            <a:ext cx="173065" cy="105286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Rectangle 76"/>
          <p:cNvSpPr/>
          <p:nvPr/>
        </p:nvSpPr>
        <p:spPr>
          <a:xfrm>
            <a:off x="6061496" y="2962220"/>
            <a:ext cx="173065" cy="823395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Rectangle 77"/>
          <p:cNvSpPr/>
          <p:nvPr/>
        </p:nvSpPr>
        <p:spPr>
          <a:xfrm>
            <a:off x="6251021" y="3000015"/>
            <a:ext cx="173065" cy="785600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Rectangle 78"/>
          <p:cNvSpPr/>
          <p:nvPr/>
        </p:nvSpPr>
        <p:spPr>
          <a:xfrm>
            <a:off x="6440545" y="3097203"/>
            <a:ext cx="173065" cy="688412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Rectangle 79"/>
          <p:cNvSpPr/>
          <p:nvPr/>
        </p:nvSpPr>
        <p:spPr>
          <a:xfrm>
            <a:off x="6630070" y="3024312"/>
            <a:ext cx="173065" cy="761303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2" name="Connector 80"/>
          <p:cNvCxnSpPr/>
          <p:nvPr/>
        </p:nvCxnSpPr>
        <p:spPr>
          <a:xfrm flipV="1">
            <a:off x="3684209" y="2478198"/>
            <a:ext cx="0" cy="192024"/>
          </a:xfrm>
          <a:prstGeom prst="line">
            <a:avLst/>
          </a:prstGeom>
          <a:ln w="1016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1"/>
          <p:cNvSpPr txBox="1"/>
          <p:nvPr/>
        </p:nvSpPr>
        <p:spPr>
          <a:xfrm>
            <a:off x="3080705" y="2277030"/>
            <a:ext cx="1207008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1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峰值 403 / 04-14</a:t>
            </a:r>
            <a:endParaRPr sz="950" b="1">
              <a:solidFill>
                <a:srgbClr val="F59E0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4" name="TextBox 82"/>
          <p:cNvSpPr txBox="1"/>
          <p:nvPr/>
        </p:nvSpPr>
        <p:spPr>
          <a:xfrm>
            <a:off x="5733288" y="2157984"/>
            <a:ext cx="105156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8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最低 24 / 04-19</a:t>
            </a:r>
            <a:endParaRPr sz="88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5" name="Rounded Rectangle 83"/>
          <p:cNvSpPr/>
          <p:nvPr/>
        </p:nvSpPr>
        <p:spPr>
          <a:xfrm>
            <a:off x="7269480" y="1993392"/>
            <a:ext cx="4187952" cy="1755648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TextBox 84"/>
          <p:cNvSpPr txBox="1"/>
          <p:nvPr/>
        </p:nvSpPr>
        <p:spPr>
          <a:xfrm>
            <a:off x="7470648" y="2139696"/>
            <a:ext cx="13716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结构</a:t>
            </a:r>
            <a:endParaRPr sz="140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7" name="Rectangle 85"/>
          <p:cNvSpPr/>
          <p:nvPr/>
        </p:nvSpPr>
        <p:spPr>
          <a:xfrm>
            <a:off x="7470648" y="2441448"/>
            <a:ext cx="1371600" cy="9144"/>
          </a:xfrm>
          <a:prstGeom prst="rect">
            <a:avLst/>
          </a:prstGeom>
          <a:solidFill>
            <a:srgbClr val="E5E7EB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8" name="Connector 86"/>
          <p:cNvCxnSpPr/>
          <p:nvPr/>
        </p:nvCxnSpPr>
        <p:spPr>
          <a:xfrm>
            <a:off x="7616952" y="3108960"/>
            <a:ext cx="3474720" cy="0"/>
          </a:xfrm>
          <a:prstGeom prst="line">
            <a:avLst/>
          </a:prstGeom>
          <a:ln w="101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7"/>
          <p:cNvCxnSpPr/>
          <p:nvPr/>
        </p:nvCxnSpPr>
        <p:spPr>
          <a:xfrm>
            <a:off x="7616952" y="3108960"/>
            <a:ext cx="0" cy="64008"/>
          </a:xfrm>
          <a:prstGeom prst="line">
            <a:avLst/>
          </a:prstGeom>
          <a:ln w="88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8"/>
          <p:cNvSpPr txBox="1"/>
          <p:nvPr/>
        </p:nvSpPr>
        <p:spPr>
          <a:xfrm>
            <a:off x="7434072" y="3182112"/>
            <a:ext cx="365760" cy="1188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0%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1" name="Connector 89"/>
          <p:cNvCxnSpPr/>
          <p:nvPr/>
        </p:nvCxnSpPr>
        <p:spPr>
          <a:xfrm>
            <a:off x="8485632" y="3108960"/>
            <a:ext cx="0" cy="64008"/>
          </a:xfrm>
          <a:prstGeom prst="line">
            <a:avLst/>
          </a:prstGeom>
          <a:ln w="88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0"/>
          <p:cNvSpPr txBox="1"/>
          <p:nvPr/>
        </p:nvSpPr>
        <p:spPr>
          <a:xfrm>
            <a:off x="8302752" y="3182112"/>
            <a:ext cx="365760" cy="1188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3" name="Connector 91"/>
          <p:cNvCxnSpPr/>
          <p:nvPr/>
        </p:nvCxnSpPr>
        <p:spPr>
          <a:xfrm>
            <a:off x="9354312" y="3108960"/>
            <a:ext cx="0" cy="64008"/>
          </a:xfrm>
          <a:prstGeom prst="line">
            <a:avLst/>
          </a:prstGeom>
          <a:ln w="88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2"/>
          <p:cNvSpPr txBox="1"/>
          <p:nvPr/>
        </p:nvSpPr>
        <p:spPr>
          <a:xfrm>
            <a:off x="9171432" y="3182112"/>
            <a:ext cx="365760" cy="1188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5" name="Connector 93"/>
          <p:cNvCxnSpPr/>
          <p:nvPr/>
        </p:nvCxnSpPr>
        <p:spPr>
          <a:xfrm>
            <a:off x="10222992" y="3108960"/>
            <a:ext cx="0" cy="64008"/>
          </a:xfrm>
          <a:prstGeom prst="line">
            <a:avLst/>
          </a:prstGeom>
          <a:ln w="88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4"/>
          <p:cNvSpPr txBox="1"/>
          <p:nvPr/>
        </p:nvSpPr>
        <p:spPr>
          <a:xfrm>
            <a:off x="10040112" y="3182112"/>
            <a:ext cx="365760" cy="1188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75%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7" name="Connector 95"/>
          <p:cNvCxnSpPr/>
          <p:nvPr/>
        </p:nvCxnSpPr>
        <p:spPr>
          <a:xfrm>
            <a:off x="11091672" y="3108960"/>
            <a:ext cx="0" cy="64008"/>
          </a:xfrm>
          <a:prstGeom prst="line">
            <a:avLst/>
          </a:prstGeom>
          <a:ln w="88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6"/>
          <p:cNvSpPr txBox="1"/>
          <p:nvPr/>
        </p:nvSpPr>
        <p:spPr>
          <a:xfrm>
            <a:off x="10908792" y="3182112"/>
            <a:ext cx="365760" cy="1188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TextBox 97"/>
          <p:cNvSpPr txBox="1"/>
          <p:nvPr/>
        </p:nvSpPr>
        <p:spPr>
          <a:xfrm>
            <a:off x="10451592" y="3355848"/>
            <a:ext cx="640080" cy="1188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会话占比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Rectangle 98"/>
          <p:cNvSpPr/>
          <p:nvPr/>
        </p:nvSpPr>
        <p:spPr>
          <a:xfrm>
            <a:off x="7616952" y="2670048"/>
            <a:ext cx="2200191" cy="347472"/>
          </a:xfrm>
          <a:prstGeom prst="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TextBox 99"/>
          <p:cNvSpPr txBox="1"/>
          <p:nvPr/>
        </p:nvSpPr>
        <p:spPr>
          <a:xfrm>
            <a:off x="7644383" y="2752344"/>
            <a:ext cx="2145327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 Agent 63.3%</a:t>
            </a:r>
            <a:endParaRPr sz="9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2" name="Rectangle 100"/>
          <p:cNvSpPr/>
          <p:nvPr/>
        </p:nvSpPr>
        <p:spPr>
          <a:xfrm>
            <a:off x="9817143" y="2670048"/>
            <a:ext cx="1274528" cy="347472"/>
          </a:xfrm>
          <a:prstGeom prst="rect">
            <a:avLst/>
          </a:prstGeom>
          <a:solidFill>
            <a:srgbClr val="00A870"/>
          </a:solidFill>
          <a:ln w="8890">
            <a:solidFill>
              <a:srgbClr val="00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TextBox 101"/>
          <p:cNvSpPr txBox="1"/>
          <p:nvPr/>
        </p:nvSpPr>
        <p:spPr>
          <a:xfrm>
            <a:off x="9844575" y="2752344"/>
            <a:ext cx="1219664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 Agent 36.7%</a:t>
            </a:r>
            <a:endParaRPr sz="9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TextBox 102"/>
          <p:cNvSpPr txBox="1"/>
          <p:nvPr/>
        </p:nvSpPr>
        <p:spPr>
          <a:xfrm>
            <a:off x="7635240" y="3419856"/>
            <a:ext cx="1143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2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 4,421 次</a:t>
            </a:r>
            <a:endParaRPr sz="102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TextBox 103"/>
          <p:cNvSpPr txBox="1"/>
          <p:nvPr/>
        </p:nvSpPr>
        <p:spPr>
          <a:xfrm>
            <a:off x="9134856" y="3419856"/>
            <a:ext cx="1143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20" b="1">
                <a:solidFill>
                  <a:srgbClr val="00A8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 2,561 次</a:t>
            </a:r>
            <a:endParaRPr sz="1020" b="1">
              <a:solidFill>
                <a:srgbClr val="00A8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Rounded Rectangle 104"/>
          <p:cNvSpPr/>
          <p:nvPr/>
        </p:nvSpPr>
        <p:spPr>
          <a:xfrm>
            <a:off x="7269480" y="3913632"/>
            <a:ext cx="4187952" cy="2304288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TextBox 105"/>
          <p:cNvSpPr txBox="1"/>
          <p:nvPr/>
        </p:nvSpPr>
        <p:spPr>
          <a:xfrm>
            <a:off x="7470648" y="4059936"/>
            <a:ext cx="17373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 与知识库</a:t>
            </a:r>
            <a:endParaRPr sz="140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Rectangle 106"/>
          <p:cNvSpPr/>
          <p:nvPr/>
        </p:nvSpPr>
        <p:spPr>
          <a:xfrm>
            <a:off x="7470648" y="4361688"/>
            <a:ext cx="1737360" cy="9144"/>
          </a:xfrm>
          <a:prstGeom prst="rect">
            <a:avLst/>
          </a:prstGeom>
          <a:solidFill>
            <a:srgbClr val="E5E7EB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TextBox 107"/>
          <p:cNvSpPr txBox="1"/>
          <p:nvPr/>
        </p:nvSpPr>
        <p:spPr>
          <a:xfrm>
            <a:off x="7562088" y="4553712"/>
            <a:ext cx="1700784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2.40亿</a:t>
            </a:r>
            <a:endParaRPr sz="1800" b="1">
              <a:solidFill>
                <a:srgbClr val="7C3AE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TextBox 108"/>
          <p:cNvSpPr txBox="1"/>
          <p:nvPr/>
        </p:nvSpPr>
        <p:spPr>
          <a:xfrm>
            <a:off x="7562088" y="4855464"/>
            <a:ext cx="1700784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 总消耗</a:t>
            </a:r>
            <a:endParaRPr sz="95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TextBox 109"/>
          <p:cNvSpPr txBox="1"/>
          <p:nvPr/>
        </p:nvSpPr>
        <p:spPr>
          <a:xfrm>
            <a:off x="9464040" y="4553712"/>
            <a:ext cx="1700784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00A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87.55%</a:t>
            </a:r>
            <a:endParaRPr sz="1800" b="1">
              <a:solidFill>
                <a:srgbClr val="00A8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TextBox 110"/>
          <p:cNvSpPr txBox="1"/>
          <p:nvPr/>
        </p:nvSpPr>
        <p:spPr>
          <a:xfrm>
            <a:off x="9464040" y="4855464"/>
            <a:ext cx="1700784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缓存命中</a:t>
            </a:r>
            <a:endParaRPr sz="95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TextBox 111"/>
          <p:cNvSpPr txBox="1"/>
          <p:nvPr/>
        </p:nvSpPr>
        <p:spPr>
          <a:xfrm>
            <a:off x="7562088" y="5266944"/>
            <a:ext cx="1700784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905</a:t>
            </a:r>
            <a:endParaRPr sz="1800" b="1">
              <a:solidFill>
                <a:srgbClr val="0891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TextBox 112"/>
          <p:cNvSpPr txBox="1"/>
          <p:nvPr/>
        </p:nvSpPr>
        <p:spPr>
          <a:xfrm>
            <a:off x="7562088" y="5568696"/>
            <a:ext cx="1700784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知识库检索</a:t>
            </a:r>
            <a:endParaRPr sz="95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TextBox 113"/>
          <p:cNvSpPr txBox="1"/>
          <p:nvPr/>
        </p:nvSpPr>
        <p:spPr>
          <a:xfrm>
            <a:off x="9464040" y="5266944"/>
            <a:ext cx="1700784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4.53%</a:t>
            </a:r>
            <a:endParaRPr sz="1800" b="1">
              <a:solidFill>
                <a:srgbClr val="F59E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TextBox 114"/>
          <p:cNvSpPr txBox="1"/>
          <p:nvPr/>
        </p:nvSpPr>
        <p:spPr>
          <a:xfrm>
            <a:off x="9464040" y="5568696"/>
            <a:ext cx="1700784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召回率</a:t>
            </a:r>
            <a:endParaRPr sz="95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TextBox 115"/>
          <p:cNvSpPr txBox="1"/>
          <p:nvPr/>
        </p:nvSpPr>
        <p:spPr>
          <a:xfrm>
            <a:off x="7580376" y="5888736"/>
            <a:ext cx="35661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有效 Token 会话 1,825；均值 131,611 Token/会话。</a:t>
            </a:r>
            <a:endParaRPr sz="950" b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8" name="Rounded Rectangle 116"/>
          <p:cNvSpPr/>
          <p:nvPr/>
        </p:nvSpPr>
        <p:spPr>
          <a:xfrm>
            <a:off x="566928" y="4443984"/>
            <a:ext cx="6492240" cy="17830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TextBox 117"/>
          <p:cNvSpPr txBox="1"/>
          <p:nvPr/>
        </p:nvSpPr>
        <p:spPr>
          <a:xfrm>
            <a:off x="768096" y="4590288"/>
            <a:ext cx="12344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时长分布</a:t>
            </a:r>
            <a:endParaRPr sz="140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Rectangle 118"/>
          <p:cNvSpPr/>
          <p:nvPr/>
        </p:nvSpPr>
        <p:spPr>
          <a:xfrm>
            <a:off x="768096" y="4892040"/>
            <a:ext cx="1234440" cy="9144"/>
          </a:xfrm>
          <a:prstGeom prst="rect">
            <a:avLst/>
          </a:prstGeom>
          <a:solidFill>
            <a:srgbClr val="E5E7EB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TextBox 119"/>
          <p:cNvSpPr txBox="1"/>
          <p:nvPr/>
        </p:nvSpPr>
        <p:spPr>
          <a:xfrm>
            <a:off x="795528" y="4956048"/>
            <a:ext cx="640080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40" b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0-30s</a:t>
            </a:r>
            <a:endParaRPr sz="840" b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Rectangle 120"/>
          <p:cNvSpPr/>
          <p:nvPr/>
        </p:nvSpPr>
        <p:spPr>
          <a:xfrm>
            <a:off x="1444752" y="4974336"/>
            <a:ext cx="5349240" cy="109728"/>
          </a:xfrm>
          <a:prstGeom prst="rect">
            <a:avLst/>
          </a:prstGeom>
          <a:solidFill>
            <a:srgbClr val="E8EEF6"/>
          </a:solidFill>
          <a:ln w="3175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Rectangle 121"/>
          <p:cNvSpPr/>
          <p:nvPr/>
        </p:nvSpPr>
        <p:spPr>
          <a:xfrm>
            <a:off x="1444752" y="4974336"/>
            <a:ext cx="3792016" cy="109728"/>
          </a:xfrm>
          <a:prstGeom prst="rect">
            <a:avLst/>
          </a:prstGeom>
          <a:solidFill>
            <a:srgbClr val="0891B2"/>
          </a:solidFill>
          <a:ln w="31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TextBox 122"/>
          <p:cNvSpPr txBox="1"/>
          <p:nvPr/>
        </p:nvSpPr>
        <p:spPr>
          <a:xfrm>
            <a:off x="795528" y="5093208"/>
            <a:ext cx="640080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40" b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30-60s</a:t>
            </a:r>
            <a:endParaRPr sz="840" b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Rectangle 123"/>
          <p:cNvSpPr/>
          <p:nvPr/>
        </p:nvSpPr>
        <p:spPr>
          <a:xfrm>
            <a:off x="1444752" y="5111496"/>
            <a:ext cx="5349240" cy="109728"/>
          </a:xfrm>
          <a:prstGeom prst="rect">
            <a:avLst/>
          </a:prstGeom>
          <a:solidFill>
            <a:srgbClr val="E8EEF6"/>
          </a:solidFill>
          <a:ln w="3175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Rectangle 124"/>
          <p:cNvSpPr/>
          <p:nvPr/>
        </p:nvSpPr>
        <p:spPr>
          <a:xfrm>
            <a:off x="1444752" y="5111496"/>
            <a:ext cx="4258589" cy="109728"/>
          </a:xfrm>
          <a:prstGeom prst="rect">
            <a:avLst/>
          </a:prstGeom>
          <a:solidFill>
            <a:srgbClr val="0891B2"/>
          </a:solidFill>
          <a:ln w="31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TextBox 125"/>
          <p:cNvSpPr txBox="1"/>
          <p:nvPr/>
        </p:nvSpPr>
        <p:spPr>
          <a:xfrm>
            <a:off x="795528" y="5230368"/>
            <a:ext cx="640080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40" b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60-120s</a:t>
            </a:r>
            <a:endParaRPr sz="840" b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Rectangle 126"/>
          <p:cNvSpPr/>
          <p:nvPr/>
        </p:nvSpPr>
        <p:spPr>
          <a:xfrm>
            <a:off x="1444752" y="5248656"/>
            <a:ext cx="5349240" cy="109728"/>
          </a:xfrm>
          <a:prstGeom prst="rect">
            <a:avLst/>
          </a:prstGeom>
          <a:solidFill>
            <a:srgbClr val="E8EEF6"/>
          </a:solidFill>
          <a:ln w="3175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Rectangle 127"/>
          <p:cNvSpPr/>
          <p:nvPr/>
        </p:nvSpPr>
        <p:spPr>
          <a:xfrm>
            <a:off x="1444752" y="5248656"/>
            <a:ext cx="4939131" cy="109728"/>
          </a:xfrm>
          <a:prstGeom prst="rect">
            <a:avLst/>
          </a:prstGeom>
          <a:solidFill>
            <a:srgbClr val="0891B2"/>
          </a:solidFill>
          <a:ln w="31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TextBox 128"/>
          <p:cNvSpPr txBox="1"/>
          <p:nvPr/>
        </p:nvSpPr>
        <p:spPr>
          <a:xfrm>
            <a:off x="795528" y="5367528"/>
            <a:ext cx="640080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40" b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120-300s</a:t>
            </a:r>
            <a:endParaRPr sz="840" b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Rectangle 129"/>
          <p:cNvSpPr/>
          <p:nvPr/>
        </p:nvSpPr>
        <p:spPr>
          <a:xfrm>
            <a:off x="1444752" y="5385816"/>
            <a:ext cx="5349240" cy="109728"/>
          </a:xfrm>
          <a:prstGeom prst="rect">
            <a:avLst/>
          </a:prstGeom>
          <a:solidFill>
            <a:srgbClr val="E8EEF6"/>
          </a:solidFill>
          <a:ln w="3175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0"/>
          <p:cNvSpPr/>
          <p:nvPr/>
        </p:nvSpPr>
        <p:spPr>
          <a:xfrm>
            <a:off x="1444752" y="5385816"/>
            <a:ext cx="4754880" cy="109728"/>
          </a:xfrm>
          <a:prstGeom prst="rect">
            <a:avLst/>
          </a:prstGeom>
          <a:solidFill>
            <a:srgbClr val="0891B2"/>
          </a:solidFill>
          <a:ln w="31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TextBox 131"/>
          <p:cNvSpPr txBox="1"/>
          <p:nvPr/>
        </p:nvSpPr>
        <p:spPr>
          <a:xfrm>
            <a:off x="795528" y="5504688"/>
            <a:ext cx="640080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40" b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300-600s</a:t>
            </a:r>
            <a:endParaRPr sz="840" b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Rectangle 132"/>
          <p:cNvSpPr/>
          <p:nvPr/>
        </p:nvSpPr>
        <p:spPr>
          <a:xfrm>
            <a:off x="1444752" y="5522976"/>
            <a:ext cx="5349240" cy="109728"/>
          </a:xfrm>
          <a:prstGeom prst="rect">
            <a:avLst/>
          </a:prstGeom>
          <a:solidFill>
            <a:srgbClr val="E8EEF6"/>
          </a:solidFill>
          <a:ln w="3175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Rectangle 133"/>
          <p:cNvSpPr/>
          <p:nvPr/>
        </p:nvSpPr>
        <p:spPr>
          <a:xfrm>
            <a:off x="1444752" y="5522976"/>
            <a:ext cx="1979218" cy="109728"/>
          </a:xfrm>
          <a:prstGeom prst="rect">
            <a:avLst/>
          </a:prstGeom>
          <a:solidFill>
            <a:srgbClr val="0891B2"/>
          </a:solidFill>
          <a:ln w="31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TextBox 134"/>
          <p:cNvSpPr txBox="1"/>
          <p:nvPr/>
        </p:nvSpPr>
        <p:spPr>
          <a:xfrm>
            <a:off x="795528" y="5641848"/>
            <a:ext cx="640080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40" b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600s+</a:t>
            </a:r>
            <a:endParaRPr sz="840" b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Rectangle 135"/>
          <p:cNvSpPr/>
          <p:nvPr/>
        </p:nvSpPr>
        <p:spPr>
          <a:xfrm>
            <a:off x="1444752" y="5660136"/>
            <a:ext cx="5349240" cy="109728"/>
          </a:xfrm>
          <a:prstGeom prst="rect">
            <a:avLst/>
          </a:prstGeom>
          <a:solidFill>
            <a:srgbClr val="E8EEF6"/>
          </a:solidFill>
          <a:ln w="3175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Rectangle 136"/>
          <p:cNvSpPr/>
          <p:nvPr/>
        </p:nvSpPr>
        <p:spPr>
          <a:xfrm>
            <a:off x="1444752" y="5660136"/>
            <a:ext cx="1025270" cy="109728"/>
          </a:xfrm>
          <a:prstGeom prst="rect">
            <a:avLst/>
          </a:prstGeom>
          <a:solidFill>
            <a:srgbClr val="0891B2"/>
          </a:solidFill>
          <a:ln w="31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Connector 137"/>
          <p:cNvCxnSpPr/>
          <p:nvPr/>
        </p:nvCxnSpPr>
        <p:spPr>
          <a:xfrm>
            <a:off x="1444752" y="5815583"/>
            <a:ext cx="5349240" cy="0"/>
          </a:xfrm>
          <a:prstGeom prst="line">
            <a:avLst/>
          </a:prstGeom>
          <a:ln w="101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8"/>
          <p:cNvCxnSpPr/>
          <p:nvPr/>
        </p:nvCxnSpPr>
        <p:spPr>
          <a:xfrm>
            <a:off x="1444752" y="5815583"/>
            <a:ext cx="0" cy="64009"/>
          </a:xfrm>
          <a:prstGeom prst="line">
            <a:avLst/>
          </a:prstGeom>
          <a:ln w="88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39"/>
          <p:cNvSpPr txBox="1"/>
          <p:nvPr/>
        </p:nvSpPr>
        <p:spPr>
          <a:xfrm>
            <a:off x="1261872" y="5888736"/>
            <a:ext cx="365760" cy="1188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2" name="Connector 140"/>
          <p:cNvCxnSpPr/>
          <p:nvPr/>
        </p:nvCxnSpPr>
        <p:spPr>
          <a:xfrm>
            <a:off x="3210001" y="5815583"/>
            <a:ext cx="0" cy="64009"/>
          </a:xfrm>
          <a:prstGeom prst="line">
            <a:avLst/>
          </a:prstGeom>
          <a:ln w="88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1"/>
          <p:cNvSpPr txBox="1"/>
          <p:nvPr/>
        </p:nvSpPr>
        <p:spPr>
          <a:xfrm>
            <a:off x="3027121" y="5888736"/>
            <a:ext cx="365760" cy="1188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600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4" name="Connector 142"/>
          <p:cNvCxnSpPr/>
          <p:nvPr/>
        </p:nvCxnSpPr>
        <p:spPr>
          <a:xfrm>
            <a:off x="5028742" y="5815583"/>
            <a:ext cx="0" cy="64009"/>
          </a:xfrm>
          <a:prstGeom prst="line">
            <a:avLst/>
          </a:prstGeom>
          <a:ln w="88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3"/>
          <p:cNvSpPr txBox="1"/>
          <p:nvPr/>
        </p:nvSpPr>
        <p:spPr>
          <a:xfrm>
            <a:off x="4845862" y="5888736"/>
            <a:ext cx="365760" cy="1188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1200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6" name="Connector 144"/>
          <p:cNvCxnSpPr/>
          <p:nvPr/>
        </p:nvCxnSpPr>
        <p:spPr>
          <a:xfrm>
            <a:off x="6793992" y="5815583"/>
            <a:ext cx="0" cy="64009"/>
          </a:xfrm>
          <a:prstGeom prst="line">
            <a:avLst/>
          </a:prstGeom>
          <a:ln w="88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5"/>
          <p:cNvSpPr txBox="1"/>
          <p:nvPr/>
        </p:nvSpPr>
        <p:spPr>
          <a:xfrm>
            <a:off x="6611112" y="5888736"/>
            <a:ext cx="365760" cy="1188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1800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" name="TextBox 146"/>
          <p:cNvSpPr txBox="1"/>
          <p:nvPr/>
        </p:nvSpPr>
        <p:spPr>
          <a:xfrm>
            <a:off x="6153912" y="6062471"/>
            <a:ext cx="640080" cy="1188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4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会话数</a:t>
            </a:r>
            <a:endParaRPr sz="84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TextBox 147"/>
          <p:cNvSpPr txBox="1"/>
          <p:nvPr/>
        </p:nvSpPr>
        <p:spPr>
          <a:xfrm>
            <a:off x="621792" y="6318504"/>
            <a:ext cx="8961120" cy="1549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统计周期：2026-04-01 至 2026-04-30；</a:t>
            </a:r>
            <a:endParaRPr lang="zh-CN" sz="78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8494395" y="2139950"/>
            <a:ext cx="27800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任务都比较复杂，大部分需要多</a:t>
            </a:r>
            <a:r>
              <a:rPr lang="en-US" altLang="zh-CN" sz="1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协同</a:t>
            </a:r>
            <a:endParaRPr lang="zh-CN" altLang="en-US" sz="1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8842375" y="4060190"/>
            <a:ext cx="24231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知识库召回率较低</a:t>
            </a:r>
            <a:endParaRPr lang="zh-CN" sz="1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10452100" y="1287145"/>
            <a:ext cx="10058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21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日才开始统计，数据偏少。</a:t>
            </a:r>
            <a:endParaRPr lang="zh-CN" altLang="en-US" sz="1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9" name="矩形 8"/>
          <p:cNvSpPr/>
          <p:nvPr/>
        </p:nvSpPr>
        <p:spPr>
          <a:xfrm>
            <a:off x="0" y="6588125"/>
            <a:ext cx="12192000" cy="284163"/>
          </a:xfrm>
          <a:prstGeom prst="rect">
            <a:avLst/>
          </a:prstGeom>
          <a:solidFill>
            <a:srgbClr val="2E75B5"/>
          </a:solidFill>
          <a:ln w="9525">
            <a:noFill/>
          </a:ln>
        </p:spPr>
        <p:txBody>
          <a:bodyPr anchor="ctr"/>
          <a:p>
            <a:pPr algn="ctr" eaLnBrk="0" hangingPunct="0"/>
            <a:endParaRPr lang="zh-CN" altLang="zh-CN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78" name="文本框 4"/>
          <p:cNvSpPr txBox="1">
            <a:spLocks noChangeArrowheads="1"/>
          </p:cNvSpPr>
          <p:nvPr/>
        </p:nvSpPr>
        <p:spPr bwMode="auto">
          <a:xfrm>
            <a:off x="75565" y="320040"/>
            <a:ext cx="11278870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、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关键项目：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汉仪中黑简" panose="02010600000101010101" charset="-122"/>
              </a:rPr>
              <a:t>双儿开发情况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汉仪中黑简" panose="02010600000101010101" charset="-122"/>
            </a:endParaRPr>
          </a:p>
        </p:txBody>
      </p:sp>
      <p:sp>
        <p:nvSpPr>
          <p:cNvPr id="11" name="Rounded Rectangle 2"/>
          <p:cNvSpPr/>
          <p:nvPr/>
        </p:nvSpPr>
        <p:spPr>
          <a:xfrm>
            <a:off x="566928" y="1042415"/>
            <a:ext cx="2542032" cy="74980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3"/>
          <p:cNvSpPr/>
          <p:nvPr/>
        </p:nvSpPr>
        <p:spPr>
          <a:xfrm>
            <a:off x="566928" y="1042415"/>
            <a:ext cx="64008" cy="749808"/>
          </a:xfrm>
          <a:prstGeom prst="rect">
            <a:avLst/>
          </a:prstGeom>
          <a:solidFill>
            <a:srgbClr val="2563EB"/>
          </a:solidFill>
          <a:ln w="825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713232" y="1133856"/>
            <a:ext cx="2267712" cy="36385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2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61</a:t>
            </a:r>
            <a:r>
              <a:rPr lang="zh-CN" sz="22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</a:t>
            </a:r>
            <a:endParaRPr lang="zh-CN" sz="225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TextBox 5"/>
          <p:cNvSpPr txBox="1"/>
          <p:nvPr/>
        </p:nvSpPr>
        <p:spPr>
          <a:xfrm>
            <a:off x="713232" y="1471675"/>
            <a:ext cx="2267712" cy="12801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3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开发计划</a:t>
            </a:r>
            <a:endParaRPr sz="93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ounded Rectangle 7"/>
          <p:cNvSpPr/>
          <p:nvPr/>
        </p:nvSpPr>
        <p:spPr>
          <a:xfrm>
            <a:off x="3255264" y="1042415"/>
            <a:ext cx="2542032" cy="74980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8"/>
          <p:cNvSpPr/>
          <p:nvPr/>
        </p:nvSpPr>
        <p:spPr>
          <a:xfrm>
            <a:off x="3255264" y="1042415"/>
            <a:ext cx="64008" cy="749808"/>
          </a:xfrm>
          <a:prstGeom prst="rect">
            <a:avLst/>
          </a:prstGeom>
          <a:solidFill>
            <a:srgbClr val="10B981"/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9"/>
          <p:cNvSpPr txBox="1"/>
          <p:nvPr/>
        </p:nvSpPr>
        <p:spPr>
          <a:xfrm>
            <a:off x="3401568" y="1133856"/>
            <a:ext cx="2267712" cy="36385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2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41</a:t>
            </a:r>
            <a:r>
              <a:rPr lang="zh-CN" sz="22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</a:t>
            </a:r>
            <a:endParaRPr lang="zh-CN" sz="225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TextBox 10"/>
          <p:cNvSpPr txBox="1"/>
          <p:nvPr/>
        </p:nvSpPr>
        <p:spPr>
          <a:xfrm>
            <a:off x="3401568" y="1453895"/>
            <a:ext cx="2267712" cy="12801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3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</a:t>
            </a:r>
            <a:endParaRPr sz="93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11"/>
          <p:cNvSpPr txBox="1"/>
          <p:nvPr/>
        </p:nvSpPr>
        <p:spPr>
          <a:xfrm>
            <a:off x="3401568" y="1618488"/>
            <a:ext cx="2267712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完成率 67.2%</a:t>
            </a:r>
            <a:endParaRPr sz="830" b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Rounded Rectangle 12"/>
          <p:cNvSpPr/>
          <p:nvPr/>
        </p:nvSpPr>
        <p:spPr>
          <a:xfrm>
            <a:off x="5943600" y="1042415"/>
            <a:ext cx="2542032" cy="74980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13"/>
          <p:cNvSpPr/>
          <p:nvPr/>
        </p:nvSpPr>
        <p:spPr>
          <a:xfrm>
            <a:off x="5943600" y="1042415"/>
            <a:ext cx="64008" cy="749808"/>
          </a:xfrm>
          <a:prstGeom prst="rect">
            <a:avLst/>
          </a:prstGeom>
          <a:solidFill>
            <a:srgbClr val="0891B2"/>
          </a:solidFill>
          <a:ln w="825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Box 14"/>
          <p:cNvSpPr txBox="1"/>
          <p:nvPr/>
        </p:nvSpPr>
        <p:spPr>
          <a:xfrm>
            <a:off x="6089904" y="1133856"/>
            <a:ext cx="2267712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2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67.2%</a:t>
            </a:r>
            <a:endParaRPr sz="225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Box 15"/>
          <p:cNvSpPr txBox="1"/>
          <p:nvPr/>
        </p:nvSpPr>
        <p:spPr>
          <a:xfrm>
            <a:off x="6089904" y="1453895"/>
            <a:ext cx="2267712" cy="12801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3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整体完成率</a:t>
            </a:r>
            <a:endParaRPr sz="93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16"/>
          <p:cNvSpPr txBox="1"/>
          <p:nvPr/>
        </p:nvSpPr>
        <p:spPr>
          <a:xfrm>
            <a:off x="6089904" y="1618488"/>
            <a:ext cx="2267712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41 / 61</a:t>
            </a:r>
            <a:endParaRPr sz="830" b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ounded Rectangle 17"/>
          <p:cNvSpPr/>
          <p:nvPr/>
        </p:nvSpPr>
        <p:spPr>
          <a:xfrm>
            <a:off x="8631936" y="1042415"/>
            <a:ext cx="2542032" cy="74980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ectangle 18"/>
          <p:cNvSpPr/>
          <p:nvPr/>
        </p:nvSpPr>
        <p:spPr>
          <a:xfrm>
            <a:off x="8631936" y="1042415"/>
            <a:ext cx="64008" cy="749808"/>
          </a:xfrm>
          <a:prstGeom prst="rect">
            <a:avLst/>
          </a:prstGeom>
          <a:solidFill>
            <a:srgbClr val="F59E0B"/>
          </a:solidFill>
          <a:ln w="825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19"/>
          <p:cNvSpPr txBox="1"/>
          <p:nvPr/>
        </p:nvSpPr>
        <p:spPr>
          <a:xfrm>
            <a:off x="8778240" y="1133856"/>
            <a:ext cx="2267712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2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72.7%</a:t>
            </a:r>
            <a:endParaRPr sz="225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20"/>
          <p:cNvSpPr txBox="1"/>
          <p:nvPr/>
        </p:nvSpPr>
        <p:spPr>
          <a:xfrm>
            <a:off x="8778240" y="1453895"/>
            <a:ext cx="2267712" cy="12801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3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高优先级完成率</a:t>
            </a:r>
            <a:endParaRPr sz="93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Box 21"/>
          <p:cNvSpPr txBox="1"/>
          <p:nvPr/>
        </p:nvSpPr>
        <p:spPr>
          <a:xfrm>
            <a:off x="8778240" y="1618488"/>
            <a:ext cx="2267712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/ 22</a:t>
            </a:r>
            <a:endParaRPr sz="830" b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Rounded Rectangle 22"/>
          <p:cNvSpPr/>
          <p:nvPr/>
        </p:nvSpPr>
        <p:spPr>
          <a:xfrm>
            <a:off x="566928" y="1956816"/>
            <a:ext cx="5074920" cy="2331720"/>
          </a:xfrm>
          <a:prstGeom prst="roundRect">
            <a:avLst/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23"/>
          <p:cNvSpPr txBox="1"/>
          <p:nvPr/>
        </p:nvSpPr>
        <p:spPr>
          <a:xfrm>
            <a:off x="731520" y="2084832"/>
            <a:ext cx="1325880" cy="17373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方向分布</a:t>
            </a:r>
            <a:endParaRPr sz="125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Rectangle 24"/>
          <p:cNvSpPr/>
          <p:nvPr/>
        </p:nvSpPr>
        <p:spPr>
          <a:xfrm>
            <a:off x="731520" y="2350008"/>
            <a:ext cx="1325880" cy="10972"/>
          </a:xfrm>
          <a:prstGeom prst="rect">
            <a:avLst/>
          </a:prstGeom>
          <a:solidFill>
            <a:srgbClr val="E2E8F0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Box 25"/>
          <p:cNvSpPr txBox="1"/>
          <p:nvPr/>
        </p:nvSpPr>
        <p:spPr>
          <a:xfrm>
            <a:off x="731520" y="2564891"/>
            <a:ext cx="1216152" cy="1463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60" b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Skills</a:t>
            </a:r>
            <a:endParaRPr sz="860" b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Rectangle 26"/>
          <p:cNvSpPr/>
          <p:nvPr/>
        </p:nvSpPr>
        <p:spPr>
          <a:xfrm>
            <a:off x="1984248" y="2596896"/>
            <a:ext cx="3227832" cy="118872"/>
          </a:xfrm>
          <a:prstGeom prst="rect">
            <a:avLst/>
          </a:prstGeom>
          <a:solidFill>
            <a:srgbClr val="E8EEF6"/>
          </a:solidFill>
          <a:ln w="3175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27"/>
          <p:cNvSpPr/>
          <p:nvPr/>
        </p:nvSpPr>
        <p:spPr>
          <a:xfrm>
            <a:off x="1984248" y="2596896"/>
            <a:ext cx="3227832" cy="118872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Box 28"/>
          <p:cNvSpPr txBox="1"/>
          <p:nvPr/>
        </p:nvSpPr>
        <p:spPr>
          <a:xfrm>
            <a:off x="5266943" y="2569464"/>
            <a:ext cx="347472" cy="12801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endParaRPr sz="850" b="1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29"/>
          <p:cNvSpPr txBox="1"/>
          <p:nvPr/>
        </p:nvSpPr>
        <p:spPr>
          <a:xfrm>
            <a:off x="731520" y="2848356"/>
            <a:ext cx="1216152" cy="1463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60" b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双儿底座</a:t>
            </a:r>
            <a:endParaRPr sz="860" b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ectangle 30"/>
          <p:cNvSpPr/>
          <p:nvPr/>
        </p:nvSpPr>
        <p:spPr>
          <a:xfrm>
            <a:off x="1984248" y="2880360"/>
            <a:ext cx="3227832" cy="118872"/>
          </a:xfrm>
          <a:prstGeom prst="rect">
            <a:avLst/>
          </a:prstGeom>
          <a:solidFill>
            <a:srgbClr val="E8EEF6"/>
          </a:solidFill>
          <a:ln w="3175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Rectangle 31"/>
          <p:cNvSpPr/>
          <p:nvPr/>
        </p:nvSpPr>
        <p:spPr>
          <a:xfrm>
            <a:off x="1984248" y="2880360"/>
            <a:ext cx="2420874" cy="118872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32"/>
          <p:cNvSpPr txBox="1"/>
          <p:nvPr/>
        </p:nvSpPr>
        <p:spPr>
          <a:xfrm>
            <a:off x="5266943" y="2852928"/>
            <a:ext cx="347472" cy="12801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endParaRPr sz="850" b="1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Box 33"/>
          <p:cNvSpPr txBox="1"/>
          <p:nvPr/>
        </p:nvSpPr>
        <p:spPr>
          <a:xfrm>
            <a:off x="731520" y="3131820"/>
            <a:ext cx="1216152" cy="1463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60" b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其他/未分类</a:t>
            </a:r>
            <a:endParaRPr sz="860" b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Rectangle 34"/>
          <p:cNvSpPr/>
          <p:nvPr/>
        </p:nvSpPr>
        <p:spPr>
          <a:xfrm>
            <a:off x="1984248" y="3163824"/>
            <a:ext cx="3227832" cy="118872"/>
          </a:xfrm>
          <a:prstGeom prst="rect">
            <a:avLst/>
          </a:prstGeom>
          <a:solidFill>
            <a:srgbClr val="E8EEF6"/>
          </a:solidFill>
          <a:ln w="3175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Rectangle 35"/>
          <p:cNvSpPr/>
          <p:nvPr/>
        </p:nvSpPr>
        <p:spPr>
          <a:xfrm>
            <a:off x="1984248" y="3163824"/>
            <a:ext cx="1210437" cy="118872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36"/>
          <p:cNvSpPr txBox="1"/>
          <p:nvPr/>
        </p:nvSpPr>
        <p:spPr>
          <a:xfrm>
            <a:off x="5266943" y="3136392"/>
            <a:ext cx="347472" cy="12801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sz="850" b="1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37"/>
          <p:cNvSpPr txBox="1"/>
          <p:nvPr/>
        </p:nvSpPr>
        <p:spPr>
          <a:xfrm>
            <a:off x="731520" y="3415283"/>
            <a:ext cx="1216152" cy="1463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60" b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巡检</a:t>
            </a:r>
            <a:endParaRPr sz="860" b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Rectangle 38"/>
          <p:cNvSpPr/>
          <p:nvPr/>
        </p:nvSpPr>
        <p:spPr>
          <a:xfrm>
            <a:off x="1984248" y="3447287"/>
            <a:ext cx="3227832" cy="118872"/>
          </a:xfrm>
          <a:prstGeom prst="rect">
            <a:avLst/>
          </a:prstGeom>
          <a:solidFill>
            <a:srgbClr val="E8EEF6"/>
          </a:solidFill>
          <a:ln w="3175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Rectangle 39"/>
          <p:cNvSpPr/>
          <p:nvPr/>
        </p:nvSpPr>
        <p:spPr>
          <a:xfrm>
            <a:off x="1984248" y="3447287"/>
            <a:ext cx="806958" cy="118872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Box 40"/>
          <p:cNvSpPr txBox="1"/>
          <p:nvPr/>
        </p:nvSpPr>
        <p:spPr>
          <a:xfrm>
            <a:off x="5266943" y="3419856"/>
            <a:ext cx="347472" cy="12801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sz="850" b="1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TextBox 41"/>
          <p:cNvSpPr txBox="1"/>
          <p:nvPr/>
        </p:nvSpPr>
        <p:spPr>
          <a:xfrm>
            <a:off x="731520" y="3698748"/>
            <a:ext cx="1216152" cy="1463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60" b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Middle-Platform</a:t>
            </a:r>
            <a:endParaRPr sz="860" b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Rectangle 42"/>
          <p:cNvSpPr/>
          <p:nvPr/>
        </p:nvSpPr>
        <p:spPr>
          <a:xfrm>
            <a:off x="1984248" y="3730752"/>
            <a:ext cx="3227832" cy="118872"/>
          </a:xfrm>
          <a:prstGeom prst="rect">
            <a:avLst/>
          </a:prstGeom>
          <a:solidFill>
            <a:srgbClr val="E8EEF6"/>
          </a:solidFill>
          <a:ln w="3175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Rectangle 43"/>
          <p:cNvSpPr/>
          <p:nvPr/>
        </p:nvSpPr>
        <p:spPr>
          <a:xfrm>
            <a:off x="1984248" y="3730752"/>
            <a:ext cx="403479" cy="118872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TextBox 44"/>
          <p:cNvSpPr txBox="1"/>
          <p:nvPr/>
        </p:nvSpPr>
        <p:spPr>
          <a:xfrm>
            <a:off x="5266943" y="3703320"/>
            <a:ext cx="347472" cy="12801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850" b="1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Box 45"/>
          <p:cNvSpPr txBox="1"/>
          <p:nvPr/>
        </p:nvSpPr>
        <p:spPr>
          <a:xfrm>
            <a:off x="731520" y="3982211"/>
            <a:ext cx="1216152" cy="1463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60" b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TSTool</a:t>
            </a:r>
            <a:endParaRPr sz="860" b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Rectangle 46"/>
          <p:cNvSpPr/>
          <p:nvPr/>
        </p:nvSpPr>
        <p:spPr>
          <a:xfrm>
            <a:off x="1984248" y="4014215"/>
            <a:ext cx="3227832" cy="118872"/>
          </a:xfrm>
          <a:prstGeom prst="rect">
            <a:avLst/>
          </a:prstGeom>
          <a:solidFill>
            <a:srgbClr val="E8EEF6"/>
          </a:solidFill>
          <a:ln w="3175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Rectangle 47"/>
          <p:cNvSpPr/>
          <p:nvPr/>
        </p:nvSpPr>
        <p:spPr>
          <a:xfrm>
            <a:off x="1984248" y="4014215"/>
            <a:ext cx="134492" cy="118872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48"/>
          <p:cNvSpPr txBox="1"/>
          <p:nvPr/>
        </p:nvSpPr>
        <p:spPr>
          <a:xfrm>
            <a:off x="5266943" y="3986783"/>
            <a:ext cx="347472" cy="12801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850" b="1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4" name="Connector 49"/>
          <p:cNvCxnSpPr/>
          <p:nvPr/>
        </p:nvCxnSpPr>
        <p:spPr>
          <a:xfrm>
            <a:off x="1984248" y="4315967"/>
            <a:ext cx="3227831" cy="0"/>
          </a:xfrm>
          <a:prstGeom prst="line">
            <a:avLst/>
          </a:prstGeom>
          <a:ln w="88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50"/>
          <p:cNvCxnSpPr/>
          <p:nvPr/>
        </p:nvCxnSpPr>
        <p:spPr>
          <a:xfrm>
            <a:off x="1984248" y="4315967"/>
            <a:ext cx="0" cy="54864"/>
          </a:xfrm>
          <a:prstGeom prst="line">
            <a:avLst/>
          </a:prstGeom>
          <a:ln w="69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51"/>
          <p:cNvSpPr txBox="1"/>
          <p:nvPr/>
        </p:nvSpPr>
        <p:spPr>
          <a:xfrm>
            <a:off x="1783080" y="4384547"/>
            <a:ext cx="402336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sz="78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7" name="Connector 52"/>
          <p:cNvCxnSpPr/>
          <p:nvPr/>
        </p:nvCxnSpPr>
        <p:spPr>
          <a:xfrm>
            <a:off x="2791206" y="4315967"/>
            <a:ext cx="0" cy="54864"/>
          </a:xfrm>
          <a:prstGeom prst="line">
            <a:avLst/>
          </a:prstGeom>
          <a:ln w="69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53"/>
          <p:cNvSpPr txBox="1"/>
          <p:nvPr/>
        </p:nvSpPr>
        <p:spPr>
          <a:xfrm>
            <a:off x="2590037" y="4384547"/>
            <a:ext cx="402336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sz="78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9" name="Connector 54"/>
          <p:cNvCxnSpPr/>
          <p:nvPr/>
        </p:nvCxnSpPr>
        <p:spPr>
          <a:xfrm>
            <a:off x="3598163" y="4315967"/>
            <a:ext cx="0" cy="54864"/>
          </a:xfrm>
          <a:prstGeom prst="line">
            <a:avLst/>
          </a:prstGeom>
          <a:ln w="69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55"/>
          <p:cNvSpPr txBox="1"/>
          <p:nvPr/>
        </p:nvSpPr>
        <p:spPr>
          <a:xfrm>
            <a:off x="3396995" y="4384547"/>
            <a:ext cx="402336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sz="78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Connector 56"/>
          <p:cNvCxnSpPr/>
          <p:nvPr/>
        </p:nvCxnSpPr>
        <p:spPr>
          <a:xfrm>
            <a:off x="4405122" y="4315967"/>
            <a:ext cx="0" cy="54864"/>
          </a:xfrm>
          <a:prstGeom prst="line">
            <a:avLst/>
          </a:prstGeom>
          <a:ln w="69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57"/>
          <p:cNvSpPr txBox="1"/>
          <p:nvPr/>
        </p:nvSpPr>
        <p:spPr>
          <a:xfrm>
            <a:off x="4203954" y="4384547"/>
            <a:ext cx="402336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endParaRPr sz="78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3" name="Connector 58"/>
          <p:cNvCxnSpPr/>
          <p:nvPr/>
        </p:nvCxnSpPr>
        <p:spPr>
          <a:xfrm>
            <a:off x="5212079" y="4315967"/>
            <a:ext cx="0" cy="54864"/>
          </a:xfrm>
          <a:prstGeom prst="line">
            <a:avLst/>
          </a:prstGeom>
          <a:ln w="69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59"/>
          <p:cNvSpPr txBox="1"/>
          <p:nvPr/>
        </p:nvSpPr>
        <p:spPr>
          <a:xfrm>
            <a:off x="5010912" y="4384547"/>
            <a:ext cx="402336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endParaRPr sz="78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Box 60"/>
          <p:cNvSpPr txBox="1"/>
          <p:nvPr/>
        </p:nvSpPr>
        <p:spPr>
          <a:xfrm>
            <a:off x="4480559" y="4544567"/>
            <a:ext cx="731520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任务数</a:t>
            </a:r>
            <a:endParaRPr sz="78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Rounded Rectangle 61"/>
          <p:cNvSpPr/>
          <p:nvPr/>
        </p:nvSpPr>
        <p:spPr>
          <a:xfrm>
            <a:off x="5870448" y="1956816"/>
            <a:ext cx="5422392" cy="2331720"/>
          </a:xfrm>
          <a:prstGeom prst="roundRect">
            <a:avLst/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Box 62"/>
          <p:cNvSpPr txBox="1"/>
          <p:nvPr/>
        </p:nvSpPr>
        <p:spPr>
          <a:xfrm>
            <a:off x="6035040" y="2084832"/>
            <a:ext cx="1325880" cy="17373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完成状态</a:t>
            </a:r>
            <a:endParaRPr sz="125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Rectangle 63"/>
          <p:cNvSpPr/>
          <p:nvPr/>
        </p:nvSpPr>
        <p:spPr>
          <a:xfrm>
            <a:off x="6035040" y="2350008"/>
            <a:ext cx="1325880" cy="10972"/>
          </a:xfrm>
          <a:prstGeom prst="rect">
            <a:avLst/>
          </a:prstGeom>
          <a:solidFill>
            <a:srgbClr val="E2E8F0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Rectangle 64"/>
          <p:cNvSpPr/>
          <p:nvPr/>
        </p:nvSpPr>
        <p:spPr>
          <a:xfrm>
            <a:off x="6199632" y="2624328"/>
            <a:ext cx="3177465" cy="384048"/>
          </a:xfrm>
          <a:prstGeom prst="rect">
            <a:avLst/>
          </a:prstGeom>
          <a:solidFill>
            <a:srgbClr val="10B981"/>
          </a:solidFill>
          <a:ln w="31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TextBox 65"/>
          <p:cNvSpPr txBox="1"/>
          <p:nvPr/>
        </p:nvSpPr>
        <p:spPr>
          <a:xfrm>
            <a:off x="6217920" y="2706624"/>
            <a:ext cx="3140889" cy="2651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已完成 41</a:t>
            </a:r>
            <a:endParaRPr sz="84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1" name="Rectangle 66"/>
          <p:cNvSpPr/>
          <p:nvPr/>
        </p:nvSpPr>
        <p:spPr>
          <a:xfrm>
            <a:off x="9377097" y="2624328"/>
            <a:ext cx="1084988" cy="384048"/>
          </a:xfrm>
          <a:prstGeom prst="rect">
            <a:avLst/>
          </a:prstGeom>
          <a:solidFill>
            <a:srgbClr val="475569"/>
          </a:solidFill>
          <a:ln w="31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TextBox 67"/>
          <p:cNvSpPr txBox="1"/>
          <p:nvPr/>
        </p:nvSpPr>
        <p:spPr>
          <a:xfrm>
            <a:off x="9395385" y="2706624"/>
            <a:ext cx="1048412" cy="2651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未开始 14</a:t>
            </a:r>
            <a:endParaRPr sz="84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3" name="Rectangle 68"/>
          <p:cNvSpPr/>
          <p:nvPr/>
        </p:nvSpPr>
        <p:spPr>
          <a:xfrm>
            <a:off x="10462085" y="2624328"/>
            <a:ext cx="309996" cy="384048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Rectangle 69"/>
          <p:cNvSpPr/>
          <p:nvPr/>
        </p:nvSpPr>
        <p:spPr>
          <a:xfrm>
            <a:off x="10772081" y="2624328"/>
            <a:ext cx="77499" cy="384048"/>
          </a:xfrm>
          <a:prstGeom prst="rect">
            <a:avLst/>
          </a:prstGeom>
          <a:solidFill>
            <a:srgbClr val="F59E0B"/>
          </a:solidFill>
          <a:ln w="31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Rectangle 70"/>
          <p:cNvSpPr/>
          <p:nvPr/>
        </p:nvSpPr>
        <p:spPr>
          <a:xfrm>
            <a:off x="10849580" y="2624328"/>
            <a:ext cx="77499" cy="384048"/>
          </a:xfrm>
          <a:prstGeom prst="rect">
            <a:avLst/>
          </a:prstGeom>
          <a:solidFill>
            <a:srgbClr val="DC2626"/>
          </a:solidFill>
          <a:ln w="31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6" name="Connector 71"/>
          <p:cNvCxnSpPr/>
          <p:nvPr/>
        </p:nvCxnSpPr>
        <p:spPr>
          <a:xfrm>
            <a:off x="6199632" y="3118104"/>
            <a:ext cx="4727448" cy="0"/>
          </a:xfrm>
          <a:prstGeom prst="line">
            <a:avLst/>
          </a:prstGeom>
          <a:ln w="88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72"/>
          <p:cNvCxnSpPr/>
          <p:nvPr/>
        </p:nvCxnSpPr>
        <p:spPr>
          <a:xfrm>
            <a:off x="6199632" y="3118104"/>
            <a:ext cx="0" cy="54864"/>
          </a:xfrm>
          <a:prstGeom prst="line">
            <a:avLst/>
          </a:prstGeom>
          <a:ln w="69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73"/>
          <p:cNvSpPr txBox="1"/>
          <p:nvPr/>
        </p:nvSpPr>
        <p:spPr>
          <a:xfrm>
            <a:off x="5998464" y="3186684"/>
            <a:ext cx="402336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0%</a:t>
            </a:r>
            <a:endParaRPr sz="78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9" name="Connector 74"/>
          <p:cNvCxnSpPr/>
          <p:nvPr/>
        </p:nvCxnSpPr>
        <p:spPr>
          <a:xfrm>
            <a:off x="7381494" y="3118104"/>
            <a:ext cx="0" cy="54864"/>
          </a:xfrm>
          <a:prstGeom prst="line">
            <a:avLst/>
          </a:prstGeom>
          <a:ln w="69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75"/>
          <p:cNvSpPr txBox="1"/>
          <p:nvPr/>
        </p:nvSpPr>
        <p:spPr>
          <a:xfrm>
            <a:off x="7180326" y="3186684"/>
            <a:ext cx="402336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endParaRPr sz="78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1" name="Connector 76"/>
          <p:cNvCxnSpPr/>
          <p:nvPr/>
        </p:nvCxnSpPr>
        <p:spPr>
          <a:xfrm>
            <a:off x="8563356" y="3118104"/>
            <a:ext cx="0" cy="54864"/>
          </a:xfrm>
          <a:prstGeom prst="line">
            <a:avLst/>
          </a:prstGeom>
          <a:ln w="69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77"/>
          <p:cNvSpPr txBox="1"/>
          <p:nvPr/>
        </p:nvSpPr>
        <p:spPr>
          <a:xfrm>
            <a:off x="8362188" y="3186684"/>
            <a:ext cx="402336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endParaRPr sz="78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3" name="Connector 78"/>
          <p:cNvCxnSpPr/>
          <p:nvPr/>
        </p:nvCxnSpPr>
        <p:spPr>
          <a:xfrm>
            <a:off x="9745218" y="3118104"/>
            <a:ext cx="0" cy="54864"/>
          </a:xfrm>
          <a:prstGeom prst="line">
            <a:avLst/>
          </a:prstGeom>
          <a:ln w="69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79"/>
          <p:cNvSpPr txBox="1"/>
          <p:nvPr/>
        </p:nvSpPr>
        <p:spPr>
          <a:xfrm>
            <a:off x="9544050" y="3186684"/>
            <a:ext cx="402336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75%</a:t>
            </a:r>
            <a:endParaRPr sz="78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5" name="Connector 80"/>
          <p:cNvCxnSpPr/>
          <p:nvPr/>
        </p:nvCxnSpPr>
        <p:spPr>
          <a:xfrm>
            <a:off x="10927080" y="3118104"/>
            <a:ext cx="0" cy="54864"/>
          </a:xfrm>
          <a:prstGeom prst="line">
            <a:avLst/>
          </a:prstGeom>
          <a:ln w="69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81"/>
          <p:cNvSpPr txBox="1"/>
          <p:nvPr/>
        </p:nvSpPr>
        <p:spPr>
          <a:xfrm>
            <a:off x="10725911" y="3186684"/>
            <a:ext cx="402336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endParaRPr sz="78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TextBox 82"/>
          <p:cNvSpPr txBox="1"/>
          <p:nvPr/>
        </p:nvSpPr>
        <p:spPr>
          <a:xfrm>
            <a:off x="10195559" y="3346704"/>
            <a:ext cx="731520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任务占比</a:t>
            </a:r>
            <a:endParaRPr sz="78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TextBox 84"/>
          <p:cNvSpPr txBox="1"/>
          <p:nvPr/>
        </p:nvSpPr>
        <p:spPr>
          <a:xfrm>
            <a:off x="6089650" y="3549650"/>
            <a:ext cx="4838065" cy="3251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双儿底座 18 项完成 17 项，底座能力基本收口；Skills 24 项完成 21 项，成为 4 月提效的主要扩展层。</a:t>
            </a:r>
            <a:endParaRPr sz="1000" b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TextBox 85"/>
          <p:cNvSpPr txBox="1"/>
          <p:nvPr/>
        </p:nvSpPr>
        <p:spPr>
          <a:xfrm>
            <a:off x="6089650" y="3961130"/>
            <a:ext cx="4745990" cy="17145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待排期集中在巡检、历史工单分析、CMDoctor 和 SOP 生成工具。</a:t>
            </a:r>
            <a:endParaRPr sz="1000" b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Rounded Rectangle 86"/>
          <p:cNvSpPr/>
          <p:nvPr/>
        </p:nvSpPr>
        <p:spPr>
          <a:xfrm>
            <a:off x="567055" y="4517390"/>
            <a:ext cx="10725785" cy="1788795"/>
          </a:xfrm>
          <a:prstGeom prst="roundRect">
            <a:avLst/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TextBox 87"/>
          <p:cNvSpPr txBox="1"/>
          <p:nvPr/>
        </p:nvSpPr>
        <p:spPr>
          <a:xfrm>
            <a:off x="731520" y="4645152"/>
            <a:ext cx="1920240" cy="17373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核心交付地图</a:t>
            </a:r>
            <a:endParaRPr sz="125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Rectangle 88"/>
          <p:cNvSpPr/>
          <p:nvPr/>
        </p:nvSpPr>
        <p:spPr>
          <a:xfrm>
            <a:off x="731520" y="4910328"/>
            <a:ext cx="1920240" cy="10972"/>
          </a:xfrm>
          <a:prstGeom prst="rect">
            <a:avLst/>
          </a:prstGeom>
          <a:solidFill>
            <a:srgbClr val="E2E8F0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TextBox 89"/>
          <p:cNvSpPr txBox="1"/>
          <p:nvPr/>
        </p:nvSpPr>
        <p:spPr>
          <a:xfrm>
            <a:off x="841248" y="5001768"/>
            <a:ext cx="3310128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双儿底座</a:t>
            </a:r>
            <a:endParaRPr sz="1200" b="1">
              <a:solidFill>
                <a:srgbClr val="10B98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Rounded Rectangle 90"/>
          <p:cNvSpPr/>
          <p:nvPr/>
        </p:nvSpPr>
        <p:spPr>
          <a:xfrm>
            <a:off x="841248" y="5330952"/>
            <a:ext cx="1517904" cy="228600"/>
          </a:xfrm>
          <a:prstGeom prst="roundRect">
            <a:avLst/>
          </a:prstGeom>
          <a:solidFill>
            <a:srgbClr val="ECFDF5"/>
          </a:solidFill>
          <a:ln w="8255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TextBox 91"/>
          <p:cNvSpPr txBox="1"/>
          <p:nvPr/>
        </p:nvSpPr>
        <p:spPr>
          <a:xfrm>
            <a:off x="877824" y="5381244"/>
            <a:ext cx="1444751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 client 兼容</a:t>
            </a:r>
            <a:endParaRPr sz="1200" b="1">
              <a:solidFill>
                <a:srgbClr val="10B9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6" name="Rounded Rectangle 92"/>
          <p:cNvSpPr/>
          <p:nvPr/>
        </p:nvSpPr>
        <p:spPr>
          <a:xfrm>
            <a:off x="2487168" y="5330952"/>
            <a:ext cx="1517904" cy="228600"/>
          </a:xfrm>
          <a:prstGeom prst="roundRect">
            <a:avLst/>
          </a:prstGeom>
          <a:solidFill>
            <a:srgbClr val="ECFDF5"/>
          </a:solidFill>
          <a:ln w="8255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TextBox 93"/>
          <p:cNvSpPr txBox="1"/>
          <p:nvPr/>
        </p:nvSpPr>
        <p:spPr>
          <a:xfrm>
            <a:off x="2523744" y="5381244"/>
            <a:ext cx="1444751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性能监控看板</a:t>
            </a:r>
            <a:endParaRPr sz="1200" b="1">
              <a:solidFill>
                <a:srgbClr val="10B98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Rounded Rectangle 94"/>
          <p:cNvSpPr/>
          <p:nvPr/>
        </p:nvSpPr>
        <p:spPr>
          <a:xfrm>
            <a:off x="841248" y="5641848"/>
            <a:ext cx="1517904" cy="228600"/>
          </a:xfrm>
          <a:prstGeom prst="roundRect">
            <a:avLst/>
          </a:prstGeom>
          <a:solidFill>
            <a:srgbClr val="ECFDF5"/>
          </a:solidFill>
          <a:ln w="8255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TextBox 95"/>
          <p:cNvSpPr txBox="1"/>
          <p:nvPr/>
        </p:nvSpPr>
        <p:spPr>
          <a:xfrm>
            <a:off x="877824" y="5692140"/>
            <a:ext cx="1444751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crontab 计划任务</a:t>
            </a:r>
            <a:endParaRPr sz="1200" b="1">
              <a:solidFill>
                <a:srgbClr val="10B9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0" name="Rounded Rectangle 96"/>
          <p:cNvSpPr/>
          <p:nvPr/>
        </p:nvSpPr>
        <p:spPr>
          <a:xfrm>
            <a:off x="2487168" y="5641848"/>
            <a:ext cx="1517904" cy="228600"/>
          </a:xfrm>
          <a:prstGeom prst="roundRect">
            <a:avLst/>
          </a:prstGeom>
          <a:solidFill>
            <a:srgbClr val="ECFDF5"/>
          </a:solidFill>
          <a:ln w="8255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TextBox 97"/>
          <p:cNvSpPr txBox="1"/>
          <p:nvPr/>
        </p:nvSpPr>
        <p:spPr>
          <a:xfrm>
            <a:off x="2523744" y="5692140"/>
            <a:ext cx="1444751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异步 subagent</a:t>
            </a:r>
            <a:endParaRPr sz="1200" b="1">
              <a:solidFill>
                <a:srgbClr val="10B9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2" name="Rounded Rectangle 98"/>
          <p:cNvSpPr/>
          <p:nvPr/>
        </p:nvSpPr>
        <p:spPr>
          <a:xfrm>
            <a:off x="841248" y="5952744"/>
            <a:ext cx="3154680" cy="228600"/>
          </a:xfrm>
          <a:prstGeom prst="roundRect">
            <a:avLst/>
          </a:prstGeom>
          <a:solidFill>
            <a:srgbClr val="ECFDF5"/>
          </a:solidFill>
          <a:ln w="8255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TextBox 99"/>
          <p:cNvSpPr txBox="1"/>
          <p:nvPr/>
        </p:nvSpPr>
        <p:spPr>
          <a:xfrm>
            <a:off x="877824" y="6003036"/>
            <a:ext cx="3081528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会话管理</a:t>
            </a:r>
            <a:endParaRPr sz="1200" b="1">
              <a:solidFill>
                <a:srgbClr val="10B98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TextBox 100"/>
          <p:cNvSpPr txBox="1"/>
          <p:nvPr/>
        </p:nvSpPr>
        <p:spPr>
          <a:xfrm>
            <a:off x="4315968" y="5001768"/>
            <a:ext cx="3310128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Skills</a:t>
            </a:r>
            <a:endParaRPr sz="12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Rounded Rectangle 101"/>
          <p:cNvSpPr/>
          <p:nvPr/>
        </p:nvSpPr>
        <p:spPr>
          <a:xfrm>
            <a:off x="4315968" y="5330952"/>
            <a:ext cx="1517904" cy="228600"/>
          </a:xfrm>
          <a:prstGeom prst="roundRect">
            <a:avLst/>
          </a:prstGeom>
          <a:solidFill>
            <a:srgbClr val="EFF6FF"/>
          </a:solidFill>
          <a:ln w="8255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TextBox 102"/>
          <p:cNvSpPr txBox="1"/>
          <p:nvPr/>
        </p:nvSpPr>
        <p:spPr>
          <a:xfrm>
            <a:off x="4352544" y="5381244"/>
            <a:ext cx="1444751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一键关单 / cmfbk</a:t>
            </a:r>
            <a:endParaRPr sz="12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7" name="Rounded Rectangle 103"/>
          <p:cNvSpPr/>
          <p:nvPr/>
        </p:nvSpPr>
        <p:spPr>
          <a:xfrm>
            <a:off x="5961888" y="5330952"/>
            <a:ext cx="1517904" cy="228600"/>
          </a:xfrm>
          <a:prstGeom prst="roundRect">
            <a:avLst/>
          </a:prstGeom>
          <a:solidFill>
            <a:srgbClr val="EFF6FF"/>
          </a:solidFill>
          <a:ln w="8255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TextBox 104"/>
          <p:cNvSpPr txBox="1"/>
          <p:nvPr/>
        </p:nvSpPr>
        <p:spPr>
          <a:xfrm>
            <a:off x="5998464" y="5381244"/>
            <a:ext cx="1444751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Coremail 技能包</a:t>
            </a:r>
            <a:endParaRPr sz="12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9" name="Rounded Rectangle 105"/>
          <p:cNvSpPr/>
          <p:nvPr/>
        </p:nvSpPr>
        <p:spPr>
          <a:xfrm>
            <a:off x="4315968" y="5641848"/>
            <a:ext cx="1517904" cy="228600"/>
          </a:xfrm>
          <a:prstGeom prst="roundRect">
            <a:avLst/>
          </a:prstGeom>
          <a:solidFill>
            <a:srgbClr val="EFF6FF"/>
          </a:solidFill>
          <a:ln w="8255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TextBox 106"/>
          <p:cNvSpPr txBox="1"/>
          <p:nvPr/>
        </p:nvSpPr>
        <p:spPr>
          <a:xfrm>
            <a:off x="4352544" y="5692140"/>
            <a:ext cx="1444751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日志解析</a:t>
            </a:r>
            <a:endParaRPr sz="12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Rounded Rectangle 107"/>
          <p:cNvSpPr/>
          <p:nvPr/>
        </p:nvSpPr>
        <p:spPr>
          <a:xfrm>
            <a:off x="5961888" y="5641848"/>
            <a:ext cx="1517904" cy="228600"/>
          </a:xfrm>
          <a:prstGeom prst="roundRect">
            <a:avLst/>
          </a:prstGeom>
          <a:solidFill>
            <a:srgbClr val="EFF6FF"/>
          </a:solidFill>
          <a:ln w="8255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TextBox 108"/>
          <p:cNvSpPr txBox="1"/>
          <p:nvPr/>
        </p:nvSpPr>
        <p:spPr>
          <a:xfrm>
            <a:off x="5998464" y="5692140"/>
            <a:ext cx="1444751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排错 Skills</a:t>
            </a:r>
            <a:endParaRPr sz="12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" name="Rounded Rectangle 109"/>
          <p:cNvSpPr/>
          <p:nvPr/>
        </p:nvSpPr>
        <p:spPr>
          <a:xfrm>
            <a:off x="4315968" y="5952744"/>
            <a:ext cx="3154680" cy="228600"/>
          </a:xfrm>
          <a:prstGeom prst="roundRect">
            <a:avLst/>
          </a:prstGeom>
          <a:solidFill>
            <a:srgbClr val="EFF6FF"/>
          </a:solidFill>
          <a:ln w="8255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TextBox 110"/>
          <p:cNvSpPr txBox="1"/>
          <p:nvPr/>
        </p:nvSpPr>
        <p:spPr>
          <a:xfrm>
            <a:off x="4352544" y="6003036"/>
            <a:ext cx="3081528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SOP / API Skill</a:t>
            </a:r>
            <a:endParaRPr sz="12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TextBox 111"/>
          <p:cNvSpPr txBox="1"/>
          <p:nvPr/>
        </p:nvSpPr>
        <p:spPr>
          <a:xfrm>
            <a:off x="7790688" y="5001768"/>
            <a:ext cx="3310128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平台 / 工具</a:t>
            </a:r>
            <a:endParaRPr sz="1200" b="1">
              <a:solidFill>
                <a:srgbClr val="7C3AE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6" name="Rounded Rectangle 112"/>
          <p:cNvSpPr/>
          <p:nvPr/>
        </p:nvSpPr>
        <p:spPr>
          <a:xfrm>
            <a:off x="7790688" y="5330952"/>
            <a:ext cx="1517904" cy="228600"/>
          </a:xfrm>
          <a:prstGeom prst="roundRect">
            <a:avLst/>
          </a:prstGeom>
          <a:solidFill>
            <a:srgbClr val="F5F3FF"/>
          </a:solidFill>
          <a:ln w="8255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TextBox 113"/>
          <p:cNvSpPr txBox="1"/>
          <p:nvPr/>
        </p:nvSpPr>
        <p:spPr>
          <a:xfrm>
            <a:off x="7827263" y="5381244"/>
            <a:ext cx="1444751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资源看板整合</a:t>
            </a:r>
            <a:endParaRPr sz="1200" b="1">
              <a:solidFill>
                <a:srgbClr val="7C3AE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Rounded Rectangle 114"/>
          <p:cNvSpPr/>
          <p:nvPr/>
        </p:nvSpPr>
        <p:spPr>
          <a:xfrm>
            <a:off x="9436608" y="5330952"/>
            <a:ext cx="1517904" cy="228600"/>
          </a:xfrm>
          <a:prstGeom prst="roundRect">
            <a:avLst/>
          </a:prstGeom>
          <a:solidFill>
            <a:srgbClr val="F5F3FF"/>
          </a:solidFill>
          <a:ln w="8255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TextBox 115"/>
          <p:cNvSpPr txBox="1"/>
          <p:nvPr/>
        </p:nvSpPr>
        <p:spPr>
          <a:xfrm>
            <a:off x="9473184" y="5381244"/>
            <a:ext cx="1444751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Jira 附件上传</a:t>
            </a:r>
            <a:endParaRPr sz="1200" b="1">
              <a:solidFill>
                <a:srgbClr val="7C3AE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0" name="Rounded Rectangle 116"/>
          <p:cNvSpPr/>
          <p:nvPr/>
        </p:nvSpPr>
        <p:spPr>
          <a:xfrm>
            <a:off x="7790688" y="5641848"/>
            <a:ext cx="1517904" cy="228600"/>
          </a:xfrm>
          <a:prstGeom prst="roundRect">
            <a:avLst/>
          </a:prstGeom>
          <a:solidFill>
            <a:srgbClr val="F5F3FF"/>
          </a:solidFill>
          <a:ln w="8255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TextBox 117"/>
          <p:cNvSpPr txBox="1"/>
          <p:nvPr/>
        </p:nvSpPr>
        <p:spPr>
          <a:xfrm>
            <a:off x="7827263" y="5692140"/>
            <a:ext cx="1444751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 Skill 约束</a:t>
            </a:r>
            <a:endParaRPr sz="1200" b="1">
              <a:solidFill>
                <a:srgbClr val="7C3AE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2" name="Rounded Rectangle 118"/>
          <p:cNvSpPr/>
          <p:nvPr/>
        </p:nvSpPr>
        <p:spPr>
          <a:xfrm>
            <a:off x="9436608" y="5641848"/>
            <a:ext cx="1517904" cy="228600"/>
          </a:xfrm>
          <a:prstGeom prst="roundRect">
            <a:avLst/>
          </a:prstGeom>
          <a:solidFill>
            <a:srgbClr val="F5F3FF"/>
          </a:solidFill>
          <a:ln w="8255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TextBox 119"/>
          <p:cNvSpPr txBox="1"/>
          <p:nvPr/>
        </p:nvSpPr>
        <p:spPr>
          <a:xfrm>
            <a:off x="9473184" y="5692140"/>
            <a:ext cx="1444751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产品护栏联动</a:t>
            </a:r>
            <a:endParaRPr sz="1200" b="1">
              <a:solidFill>
                <a:srgbClr val="7C3AE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Rounded Rectangle 120"/>
          <p:cNvSpPr/>
          <p:nvPr/>
        </p:nvSpPr>
        <p:spPr>
          <a:xfrm>
            <a:off x="7790688" y="5952744"/>
            <a:ext cx="3154680" cy="228600"/>
          </a:xfrm>
          <a:prstGeom prst="roundRect">
            <a:avLst/>
          </a:prstGeom>
          <a:solidFill>
            <a:srgbClr val="F5F3FF"/>
          </a:solidFill>
          <a:ln w="8255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TextBox 121"/>
          <p:cNvSpPr txBox="1"/>
          <p:nvPr/>
        </p:nvSpPr>
        <p:spPr>
          <a:xfrm>
            <a:off x="7827263" y="6003036"/>
            <a:ext cx="3081528" cy="20193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流程自动化</a:t>
            </a:r>
            <a:endParaRPr sz="1200" b="1">
              <a:solidFill>
                <a:srgbClr val="7C3AE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文本框 163"/>
          <p:cNvSpPr txBox="1"/>
          <p:nvPr/>
        </p:nvSpPr>
        <p:spPr>
          <a:xfrm>
            <a:off x="130175" y="247650"/>
            <a:ext cx="10457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、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关键项目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：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CMCU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自动化审核脚本化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5120640" cy="3413760"/>
          </a:xfrm>
          <a:prstGeom prst="roundRect">
            <a:avLst>
              <a:gd name="adj" fmla="val 3571"/>
            </a:avLst>
          </a:prstGeom>
          <a:solidFill>
            <a:srgbClr val="FFF5F5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1463040"/>
            <a:ext cx="5120640" cy="548640"/>
          </a:xfrm>
          <a:prstGeom prst="roundRect">
            <a:avLst>
              <a:gd name="adj" fmla="val 22222"/>
            </a:avLst>
          </a:prstGeom>
          <a:solidFill>
            <a:srgbClr val="F96167"/>
          </a:solidFill>
        </p:spPr>
      </p:sp>
      <p:sp>
        <p:nvSpPr>
          <p:cNvPr id="6" name="Text 4"/>
          <p:cNvSpPr/>
          <p:nvPr/>
        </p:nvSpPr>
        <p:spPr>
          <a:xfrm>
            <a:off x="609600" y="1463040"/>
            <a:ext cx="512064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FFFFFF"/>
                </a:solidFill>
                <a:latin typeface="DengXian" charset="-122"/>
                <a:ea typeface="DengXian" charset="-122"/>
                <a:cs typeface="DengXian" charset="-122"/>
              </a:rPr>
              <a:t>❌  原流程（人工操作）</a:t>
            </a:r>
            <a:endParaRPr lang="en-US" sz="1865" dirty="0"/>
          </a:p>
        </p:txBody>
      </p:sp>
      <p:sp>
        <p:nvSpPr>
          <p:cNvPr id="7" name="Text 5"/>
          <p:cNvSpPr/>
          <p:nvPr/>
        </p:nvSpPr>
        <p:spPr>
          <a:xfrm>
            <a:off x="975360" y="2133600"/>
            <a:ext cx="4389120" cy="3901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65" dirty="0">
                <a:solidFill>
                  <a:srgbClr val="1E2761"/>
                </a:solidFill>
                <a:latin typeface="DengXian" charset="-122"/>
                <a:ea typeface="DengXian" charset="-122"/>
                <a:cs typeface="DengXian" charset="-122"/>
              </a:rPr>
              <a:t>① 登录 Jira 搜索工单</a:t>
            </a:r>
            <a:endParaRPr lang="en-US" sz="1465" dirty="0"/>
          </a:p>
        </p:txBody>
      </p:sp>
      <p:sp>
        <p:nvSpPr>
          <p:cNvPr id="8" name="Text 6"/>
          <p:cNvSpPr/>
          <p:nvPr/>
        </p:nvSpPr>
        <p:spPr>
          <a:xfrm>
            <a:off x="975360" y="2560320"/>
            <a:ext cx="4389120" cy="3901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65" dirty="0">
                <a:solidFill>
                  <a:srgbClr val="1E2761"/>
                </a:solidFill>
                <a:latin typeface="DengXian" charset="-122"/>
                <a:ea typeface="DengXian" charset="-122"/>
                <a:cs typeface="DengXian" charset="-122"/>
              </a:rPr>
              <a:t>② 导出工单明细到 Excel</a:t>
            </a:r>
            <a:endParaRPr lang="en-US" sz="1465" dirty="0"/>
          </a:p>
        </p:txBody>
      </p:sp>
      <p:sp>
        <p:nvSpPr>
          <p:cNvPr id="9" name="Text 7"/>
          <p:cNvSpPr/>
          <p:nvPr/>
        </p:nvSpPr>
        <p:spPr>
          <a:xfrm>
            <a:off x="975360" y="2987040"/>
            <a:ext cx="4389120" cy="3901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65" dirty="0">
                <a:solidFill>
                  <a:srgbClr val="1E2761"/>
                </a:solidFill>
                <a:latin typeface="DengXian" charset="-122"/>
                <a:ea typeface="DengXian" charset="-122"/>
                <a:cs typeface="DengXian" charset="-122"/>
              </a:rPr>
              <a:t>③ 逐个打开工单查看评论</a:t>
            </a:r>
            <a:endParaRPr lang="en-US" sz="1465" dirty="0"/>
          </a:p>
        </p:txBody>
      </p:sp>
      <p:sp>
        <p:nvSpPr>
          <p:cNvPr id="10" name="Text 8"/>
          <p:cNvSpPr/>
          <p:nvPr/>
        </p:nvSpPr>
        <p:spPr>
          <a:xfrm>
            <a:off x="975360" y="3413760"/>
            <a:ext cx="4389120" cy="3901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65" dirty="0">
                <a:solidFill>
                  <a:srgbClr val="1E2761"/>
                </a:solidFill>
                <a:latin typeface="DengXian" charset="-122"/>
                <a:ea typeface="DengXian" charset="-122"/>
                <a:cs typeface="DengXian" charset="-122"/>
              </a:rPr>
              <a:t>④ </a:t>
            </a:r>
            <a:r>
              <a:rPr lang="zh-CN" altLang="en-US" sz="1465" dirty="0">
                <a:solidFill>
                  <a:srgbClr val="1E2761"/>
                </a:solidFill>
                <a:latin typeface="DengXian" charset="-122"/>
                <a:ea typeface="DengXian" charset="-122"/>
                <a:cs typeface="DengXian" charset="-122"/>
              </a:rPr>
              <a:t>人工</a:t>
            </a:r>
            <a:r>
              <a:rPr lang="en-US" sz="1465" dirty="0">
                <a:solidFill>
                  <a:srgbClr val="1E2761"/>
                </a:solidFill>
                <a:latin typeface="DengXian" charset="-122"/>
                <a:ea typeface="DengXian" charset="-122"/>
                <a:cs typeface="DengXian" charset="-122"/>
              </a:rPr>
              <a:t>判断是否已备注</a:t>
            </a:r>
            <a:endParaRPr lang="en-US" sz="1465" dirty="0"/>
          </a:p>
        </p:txBody>
      </p:sp>
      <p:sp>
        <p:nvSpPr>
          <p:cNvPr id="11" name="Text 9"/>
          <p:cNvSpPr/>
          <p:nvPr/>
        </p:nvSpPr>
        <p:spPr>
          <a:xfrm>
            <a:off x="975360" y="3840480"/>
            <a:ext cx="4389120" cy="3901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65" dirty="0">
                <a:solidFill>
                  <a:srgbClr val="1E2761"/>
                </a:solidFill>
                <a:latin typeface="DengXian" charset="-122"/>
                <a:ea typeface="DengXian" charset="-122"/>
                <a:cs typeface="DengXian" charset="-122"/>
              </a:rPr>
              <a:t>⑤ 汇总未备注工单清单</a:t>
            </a:r>
            <a:endParaRPr lang="en-US" sz="1465" dirty="0"/>
          </a:p>
        </p:txBody>
      </p:sp>
      <p:sp>
        <p:nvSpPr>
          <p:cNvPr id="12" name="Text 10"/>
          <p:cNvSpPr/>
          <p:nvPr/>
        </p:nvSpPr>
        <p:spPr>
          <a:xfrm>
            <a:off x="975360" y="4267200"/>
            <a:ext cx="4389120" cy="3901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65" dirty="0">
                <a:solidFill>
                  <a:srgbClr val="1E2761"/>
                </a:solidFill>
                <a:latin typeface="DengXian" charset="-122"/>
                <a:ea typeface="DengXian" charset="-122"/>
                <a:cs typeface="DengXian" charset="-122"/>
              </a:rPr>
              <a:t>⑥ 手动制作数据看板统计</a:t>
            </a:r>
            <a:endParaRPr lang="en-US" sz="1465" dirty="0"/>
          </a:p>
        </p:txBody>
      </p:sp>
      <p:sp>
        <p:nvSpPr>
          <p:cNvPr id="13" name="Shape 11"/>
          <p:cNvSpPr/>
          <p:nvPr/>
        </p:nvSpPr>
        <p:spPr>
          <a:xfrm>
            <a:off x="6461760" y="1463040"/>
            <a:ext cx="5120640" cy="3413760"/>
          </a:xfrm>
          <a:prstGeom prst="roundRect">
            <a:avLst>
              <a:gd name="adj" fmla="val 3571"/>
            </a:avLst>
          </a:prstGeom>
          <a:solidFill>
            <a:srgbClr val="F0FFF4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1760" y="1463040"/>
            <a:ext cx="5120640" cy="548640"/>
          </a:xfrm>
          <a:prstGeom prst="roundRect">
            <a:avLst>
              <a:gd name="adj" fmla="val 22222"/>
            </a:avLst>
          </a:prstGeom>
          <a:solidFill>
            <a:srgbClr val="2ECC71"/>
          </a:solidFill>
        </p:spPr>
      </p:sp>
      <p:sp>
        <p:nvSpPr>
          <p:cNvPr id="15" name="Text 13"/>
          <p:cNvSpPr/>
          <p:nvPr/>
        </p:nvSpPr>
        <p:spPr>
          <a:xfrm>
            <a:off x="6461760" y="1463040"/>
            <a:ext cx="512064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FFFFFF"/>
                </a:solidFill>
                <a:latin typeface="DengXian" charset="-122"/>
                <a:ea typeface="DengXian" charset="-122"/>
                <a:cs typeface="DengXian" charset="-122"/>
              </a:rPr>
              <a:t>✅  新流程（脚本自动化）</a:t>
            </a:r>
            <a:endParaRPr lang="en-US" sz="1865" dirty="0"/>
          </a:p>
        </p:txBody>
      </p:sp>
      <p:sp>
        <p:nvSpPr>
          <p:cNvPr id="16" name="Text 14"/>
          <p:cNvSpPr/>
          <p:nvPr/>
        </p:nvSpPr>
        <p:spPr>
          <a:xfrm>
            <a:off x="6827520" y="2133600"/>
            <a:ext cx="4389120" cy="3901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65" dirty="0">
                <a:solidFill>
                  <a:srgbClr val="1E2761"/>
                </a:solidFill>
                <a:latin typeface="DengXian" charset="-122"/>
                <a:ea typeface="DengXian" charset="-122"/>
                <a:cs typeface="DengXian" charset="-122"/>
              </a:rPr>
              <a:t>① 配置好人员名单和关键词</a:t>
            </a:r>
            <a:endParaRPr lang="en-US" sz="1465" dirty="0"/>
          </a:p>
        </p:txBody>
      </p:sp>
      <p:sp>
        <p:nvSpPr>
          <p:cNvPr id="2" name="Text 15"/>
          <p:cNvSpPr/>
          <p:nvPr/>
        </p:nvSpPr>
        <p:spPr>
          <a:xfrm>
            <a:off x="6827520" y="2560320"/>
            <a:ext cx="4389120" cy="3901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65" dirty="0">
                <a:solidFill>
                  <a:srgbClr val="1E2761"/>
                </a:solidFill>
                <a:latin typeface="DengXian" charset="-122"/>
                <a:ea typeface="DengXian" charset="-122"/>
                <a:cs typeface="DengXian" charset="-122"/>
              </a:rPr>
              <a:t>② 一键运行 Python 脚本</a:t>
            </a:r>
            <a:endParaRPr lang="en-US" sz="1465" dirty="0"/>
          </a:p>
        </p:txBody>
      </p:sp>
      <p:sp>
        <p:nvSpPr>
          <p:cNvPr id="3" name="Text 16"/>
          <p:cNvSpPr/>
          <p:nvPr/>
        </p:nvSpPr>
        <p:spPr>
          <a:xfrm>
            <a:off x="6827520" y="2987040"/>
            <a:ext cx="4389120" cy="3901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65" dirty="0">
                <a:solidFill>
                  <a:srgbClr val="1E2761"/>
                </a:solidFill>
                <a:latin typeface="DengXian" charset="-122"/>
                <a:ea typeface="DengXian" charset="-122"/>
                <a:cs typeface="DengXian" charset="-122"/>
              </a:rPr>
              <a:t>③ 自动查询 Jira 工单</a:t>
            </a:r>
            <a:endParaRPr lang="en-US" sz="1465" dirty="0"/>
          </a:p>
        </p:txBody>
      </p:sp>
      <p:sp>
        <p:nvSpPr>
          <p:cNvPr id="19" name="Text 17"/>
          <p:cNvSpPr/>
          <p:nvPr/>
        </p:nvSpPr>
        <p:spPr>
          <a:xfrm>
            <a:off x="6827520" y="3413760"/>
            <a:ext cx="4389120" cy="3901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65" dirty="0">
                <a:solidFill>
                  <a:srgbClr val="1E2761"/>
                </a:solidFill>
                <a:latin typeface="DengXian" charset="-122"/>
                <a:ea typeface="DengXian" charset="-122"/>
                <a:cs typeface="DengXian" charset="-122"/>
              </a:rPr>
              <a:t>④ 自动检查评论和关键词</a:t>
            </a:r>
            <a:endParaRPr lang="en-US" sz="1465" dirty="0"/>
          </a:p>
        </p:txBody>
      </p:sp>
      <p:sp>
        <p:nvSpPr>
          <p:cNvPr id="21" name="Text 18"/>
          <p:cNvSpPr/>
          <p:nvPr/>
        </p:nvSpPr>
        <p:spPr>
          <a:xfrm>
            <a:off x="6827520" y="3840480"/>
            <a:ext cx="4389120" cy="3901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65" dirty="0">
                <a:solidFill>
                  <a:srgbClr val="1E2761"/>
                </a:solidFill>
                <a:latin typeface="DengXian" charset="-122"/>
                <a:ea typeface="DengXian" charset="-122"/>
                <a:cs typeface="DengXian" charset="-122"/>
              </a:rPr>
              <a:t>⑤ 自动生成 Excel 报表</a:t>
            </a:r>
            <a:endParaRPr lang="en-US" sz="1465" dirty="0"/>
          </a:p>
        </p:txBody>
      </p:sp>
      <p:sp>
        <p:nvSpPr>
          <p:cNvPr id="22" name="Text 19"/>
          <p:cNvSpPr/>
          <p:nvPr/>
        </p:nvSpPr>
        <p:spPr>
          <a:xfrm>
            <a:off x="6827520" y="4267200"/>
            <a:ext cx="4389120" cy="3901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65" dirty="0">
                <a:solidFill>
                  <a:srgbClr val="1E2761"/>
                </a:solidFill>
                <a:latin typeface="DengXian" charset="-122"/>
                <a:ea typeface="DengXian" charset="-122"/>
                <a:cs typeface="DengXian" charset="-122"/>
              </a:rPr>
              <a:t>⑥ 自动发送邮件通知</a:t>
            </a:r>
            <a:endParaRPr lang="en-US" sz="1465" dirty="0"/>
          </a:p>
        </p:txBody>
      </p:sp>
      <p:sp>
        <p:nvSpPr>
          <p:cNvPr id="23" name="Text 20"/>
          <p:cNvSpPr/>
          <p:nvPr/>
        </p:nvSpPr>
        <p:spPr>
          <a:xfrm>
            <a:off x="5486400" y="2682240"/>
            <a:ext cx="1219200" cy="975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276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4800" dirty="0"/>
          </a:p>
        </p:txBody>
      </p:sp>
      <p:sp>
        <p:nvSpPr>
          <p:cNvPr id="24" name="Shape 21"/>
          <p:cNvSpPr/>
          <p:nvPr/>
        </p:nvSpPr>
        <p:spPr>
          <a:xfrm>
            <a:off x="609600" y="5120640"/>
            <a:ext cx="3048000" cy="1341120"/>
          </a:xfrm>
          <a:prstGeom prst="roundRect">
            <a:avLst>
              <a:gd name="adj" fmla="val 7273"/>
            </a:avLst>
          </a:prstGeom>
          <a:solidFill>
            <a:srgbClr val="FFF5F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9600" y="5181600"/>
            <a:ext cx="30480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65" dirty="0">
                <a:solidFill>
                  <a:srgbClr val="6B7280"/>
                </a:solidFill>
                <a:latin typeface="DengXian" charset="-122"/>
                <a:ea typeface="DengXian" charset="-122"/>
                <a:cs typeface="DengXian" charset="-122"/>
              </a:rPr>
              <a:t>原流程耗时</a:t>
            </a:r>
            <a:endParaRPr lang="en-US" sz="1465" dirty="0"/>
          </a:p>
        </p:txBody>
      </p:sp>
      <p:sp>
        <p:nvSpPr>
          <p:cNvPr id="26" name="Text 23"/>
          <p:cNvSpPr/>
          <p:nvPr/>
        </p:nvSpPr>
        <p:spPr>
          <a:xfrm>
            <a:off x="609600" y="5547360"/>
            <a:ext cx="3048000" cy="6705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735" b="1" dirty="0">
                <a:solidFill>
                  <a:srgbClr val="F9616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 </a:t>
            </a:r>
            <a:r>
              <a:rPr lang="en-US" sz="3735" b="1" dirty="0">
                <a:solidFill>
                  <a:srgbClr val="F96167"/>
                </a:solidFill>
                <a:latin typeface="DengXian" charset="-122"/>
                <a:ea typeface="DengXian" charset="-122"/>
                <a:cs typeface="Arial" panose="020B0604020202090204" pitchFamily="34" charset="-120"/>
              </a:rPr>
              <a:t>小时</a:t>
            </a:r>
            <a:endParaRPr lang="en-US" sz="3735" b="1" dirty="0">
              <a:solidFill>
                <a:srgbClr val="F96167"/>
              </a:solidFill>
              <a:latin typeface="DengXian" charset="-122"/>
              <a:ea typeface="DengXian" charset="-122"/>
              <a:cs typeface="Arial" panose="020B0604020202090204" pitchFamily="34" charset="-12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901440" y="5242560"/>
            <a:ext cx="975360" cy="975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735" b="1" dirty="0">
                <a:solidFill>
                  <a:srgbClr val="1E276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➜</a:t>
            </a:r>
            <a:endParaRPr lang="en-US" sz="3735" dirty="0"/>
          </a:p>
        </p:txBody>
      </p:sp>
      <p:sp>
        <p:nvSpPr>
          <p:cNvPr id="28" name="Shape 25"/>
          <p:cNvSpPr/>
          <p:nvPr/>
        </p:nvSpPr>
        <p:spPr>
          <a:xfrm>
            <a:off x="4998720" y="5120640"/>
            <a:ext cx="3048000" cy="1341120"/>
          </a:xfrm>
          <a:prstGeom prst="roundRect">
            <a:avLst>
              <a:gd name="adj" fmla="val 7273"/>
            </a:avLst>
          </a:prstGeom>
          <a:solidFill>
            <a:srgbClr val="F0FFF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4998720" y="5181600"/>
            <a:ext cx="30480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65" dirty="0">
                <a:solidFill>
                  <a:srgbClr val="6B7280"/>
                </a:solidFill>
                <a:latin typeface="DengXian" charset="-122"/>
                <a:ea typeface="DengXian" charset="-122"/>
                <a:cs typeface="DengXian" charset="-122"/>
              </a:rPr>
              <a:t>新流程耗时</a:t>
            </a:r>
            <a:endParaRPr lang="en-US" sz="1465" dirty="0"/>
          </a:p>
        </p:txBody>
      </p:sp>
      <p:sp>
        <p:nvSpPr>
          <p:cNvPr id="41" name="Text 27"/>
          <p:cNvSpPr/>
          <p:nvPr/>
        </p:nvSpPr>
        <p:spPr>
          <a:xfrm>
            <a:off x="4998720" y="5547360"/>
            <a:ext cx="3048000" cy="6705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735" b="1" dirty="0">
                <a:solidFill>
                  <a:srgbClr val="2ECC7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15 </a:t>
            </a:r>
            <a:r>
              <a:rPr lang="en-US" sz="3735" b="1" dirty="0">
                <a:solidFill>
                  <a:srgbClr val="2ECC71"/>
                </a:solidFill>
                <a:latin typeface="DengXian" charset="-122"/>
                <a:ea typeface="DengXian" charset="-122"/>
                <a:cs typeface="Arial" panose="020B0604020202090204" pitchFamily="34" charset="-120"/>
              </a:rPr>
              <a:t>分钟</a:t>
            </a:r>
            <a:endParaRPr lang="en-US" sz="3735" b="1" dirty="0">
              <a:solidFill>
                <a:srgbClr val="2ECC71"/>
              </a:solidFill>
              <a:latin typeface="DengXian" charset="-122"/>
              <a:ea typeface="DengXian" charset="-122"/>
              <a:cs typeface="Arial" panose="020B0604020202090204" pitchFamily="34" charset="-120"/>
            </a:endParaRPr>
          </a:p>
        </p:txBody>
      </p:sp>
      <p:sp>
        <p:nvSpPr>
          <p:cNvPr id="42" name="Shape 28"/>
          <p:cNvSpPr/>
          <p:nvPr/>
        </p:nvSpPr>
        <p:spPr>
          <a:xfrm>
            <a:off x="8534400" y="5120640"/>
            <a:ext cx="3048000" cy="1341120"/>
          </a:xfrm>
          <a:prstGeom prst="roundRect">
            <a:avLst>
              <a:gd name="adj" fmla="val 7273"/>
            </a:avLst>
          </a:prstGeom>
          <a:solidFill>
            <a:srgbClr val="1E2761"/>
          </a:solidFill>
        </p:spPr>
      </p:sp>
      <p:sp>
        <p:nvSpPr>
          <p:cNvPr id="43" name="Text 29"/>
          <p:cNvSpPr/>
          <p:nvPr/>
        </p:nvSpPr>
        <p:spPr>
          <a:xfrm>
            <a:off x="8534400" y="5181600"/>
            <a:ext cx="30480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65" dirty="0">
                <a:solidFill>
                  <a:srgbClr val="CADCFC"/>
                </a:solidFill>
                <a:latin typeface="DengXian" charset="-122"/>
                <a:ea typeface="DengXian" charset="-122"/>
                <a:cs typeface="DengXian" charset="-122"/>
              </a:rPr>
              <a:t>效率提升</a:t>
            </a:r>
            <a:endParaRPr lang="en-US" sz="1465" dirty="0"/>
          </a:p>
        </p:txBody>
      </p:sp>
      <p:sp>
        <p:nvSpPr>
          <p:cNvPr id="45" name="Text 30"/>
          <p:cNvSpPr/>
          <p:nvPr/>
        </p:nvSpPr>
        <p:spPr>
          <a:xfrm>
            <a:off x="8534400" y="5547360"/>
            <a:ext cx="3048000" cy="6705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735" b="1" dirty="0">
                <a:solidFill>
                  <a:srgbClr val="F39C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87.5%</a:t>
            </a:r>
            <a:endParaRPr lang="en-US" sz="3735" dirty="0"/>
          </a:p>
        </p:txBody>
      </p:sp>
      <p:sp>
        <p:nvSpPr>
          <p:cNvPr id="46" name="文本框 45"/>
          <p:cNvSpPr txBox="1"/>
          <p:nvPr>
            <p:custDataLst>
              <p:tags r:id="rId1"/>
            </p:custDataLst>
          </p:nvPr>
        </p:nvSpPr>
        <p:spPr>
          <a:xfrm>
            <a:off x="10795" y="928370"/>
            <a:ext cx="12173585" cy="4076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285750" indent="-285750" fontAlgn="base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400" b="1">
                <a:solidFill>
                  <a:sysClr val="windowText" lastClr="000000">
                    <a:lumMod val="95000"/>
                    <a:lumOff val="5000"/>
                  </a:sysClr>
                </a:solidFill>
                <a:latin typeface="DengXian" charset="-122"/>
                <a:ea typeface="DengXian" charset="-122"/>
                <a:cs typeface="DengXian" charset="-122"/>
                <a:sym typeface="字魂105号-简雅黑" charset="0"/>
              </a:rPr>
              <a:t>废弃此前</a:t>
            </a:r>
            <a:r>
              <a:rPr lang="en-US" altLang="zh-CN" sz="1400" b="1">
                <a:solidFill>
                  <a:sysClr val="windowText" lastClr="000000">
                    <a:lumMod val="95000"/>
                    <a:lumOff val="5000"/>
                  </a:sysClr>
                </a:solidFill>
                <a:latin typeface="DengXian" charset="-122"/>
                <a:ea typeface="DengXian" charset="-122"/>
                <a:cs typeface="DengXian" charset="-122"/>
                <a:sym typeface="字魂105号-简雅黑" charset="0"/>
              </a:rPr>
              <a:t>dify</a:t>
            </a:r>
            <a:r>
              <a:rPr lang="zh-CN" altLang="en-US" sz="1400" b="1">
                <a:solidFill>
                  <a:sysClr val="windowText" lastClr="000000">
                    <a:lumMod val="95000"/>
                    <a:lumOff val="5000"/>
                  </a:sysClr>
                </a:solidFill>
                <a:latin typeface="DengXian" charset="-122"/>
                <a:ea typeface="DengXian" charset="-122"/>
                <a:cs typeface="DengXian" charset="-122"/>
                <a:sym typeface="字魂105号-简雅黑" charset="0"/>
              </a:rPr>
              <a:t>流程（节点限制大，定制化节点较多，无定制权限），改用脚本自动化（代码执行，输出稳定，定制化灵活），</a:t>
            </a:r>
            <a:r>
              <a:rPr lang="en-US" sz="1400" b="1">
                <a:solidFill>
                  <a:sysClr val="windowText" lastClr="000000">
                    <a:lumMod val="95000"/>
                    <a:lumOff val="5000"/>
                  </a:sysClr>
                </a:solidFill>
                <a:latin typeface="DengXian" charset="-122"/>
                <a:ea typeface="DengXian" charset="-122"/>
                <a:cs typeface="DengXian" charset="-122"/>
                <a:sym typeface="字魂105号-简雅黑" charset="0"/>
              </a:rPr>
              <a:t>AI</a:t>
            </a:r>
            <a:r>
              <a:rPr lang="zh-CN" altLang="en-US" sz="1400" b="1">
                <a:solidFill>
                  <a:sysClr val="windowText" lastClr="000000">
                    <a:lumMod val="95000"/>
                    <a:lumOff val="5000"/>
                  </a:sysClr>
                </a:solidFill>
                <a:latin typeface="DengXian" charset="-122"/>
                <a:ea typeface="DengXian" charset="-122"/>
                <a:cs typeface="DengXian" charset="-122"/>
                <a:sym typeface="字魂105号-简雅黑" charset="0"/>
              </a:rPr>
              <a:t>提效如下：</a:t>
            </a:r>
            <a:endParaRPr lang="zh-CN" altLang="en-US" sz="1400" b="1" noProof="1">
              <a:solidFill>
                <a:sysClr val="windowText" lastClr="000000">
                  <a:lumMod val="95000"/>
                  <a:lumOff val="5000"/>
                </a:sysClr>
              </a:solidFill>
              <a:latin typeface="DengXian" charset="-122"/>
              <a:ea typeface="DengXian" charset="-122"/>
              <a:cs typeface="DengXian" charset="-122"/>
              <a:sym typeface="字魂105号-简雅黑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文本框 163"/>
          <p:cNvSpPr txBox="1"/>
          <p:nvPr/>
        </p:nvSpPr>
        <p:spPr>
          <a:xfrm>
            <a:off x="130175" y="247650"/>
            <a:ext cx="10457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、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关键项目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：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云服务中心自动开通及续期上线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4045" y="965835"/>
            <a:ext cx="10994390" cy="1550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 algn="l">
              <a:buClrTx/>
              <a:buSzTx/>
              <a:buFont typeface="Wingdings" panose="05000000000000000000" charset="0"/>
              <a:buChar char="n"/>
            </a:pP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" y="2639060"/>
            <a:ext cx="3750310" cy="30619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30175" y="965835"/>
            <a:ext cx="11668125" cy="1550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 algn="l">
              <a:buClrTx/>
              <a:buSzTx/>
              <a:buFont typeface="Wingdings" panose="05000000000000000000" charset="0"/>
              <a:buChar char="n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自动开通：小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同学对话框输入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“/”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，选择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Cloud Service Center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，按照指引提供域名、管理员姓名、管理员手机号、管理员邮箱，点击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确认执行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即可开通（第一步是创建账号，第二步是校验认证，两步都是一键执行）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indent="0" algn="l">
              <a:buClrTx/>
              <a:buSzTx/>
              <a:buFont typeface="Wingdings" panose="05000000000000000000" charset="0"/>
              <a:buNone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>
              <a:buClrTx/>
              <a:buSzTx/>
              <a:buFont typeface="Wingdings" panose="05000000000000000000" charset="0"/>
              <a:buChar char="n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自动续期：和开通逻辑一样，可以直接跳过第一步的创建账号，直接到第二步校验认证，点击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确认执行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即可续期。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015" y="2366645"/>
            <a:ext cx="3283585" cy="171831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t="16955"/>
          <a:stretch>
            <a:fillRect/>
          </a:stretch>
        </p:blipFill>
        <p:spPr>
          <a:xfrm>
            <a:off x="7353935" y="2917825"/>
            <a:ext cx="4572635" cy="253174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015" y="3938905"/>
            <a:ext cx="3279775" cy="277304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51"/>
          <p:cNvSpPr txBox="1"/>
          <p:nvPr/>
        </p:nvSpPr>
        <p:spPr>
          <a:xfrm>
            <a:off x="307975" y="269875"/>
            <a:ext cx="97866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、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重点工作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——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完成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Air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客户端问题的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SOP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及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Skill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1078992"/>
            <a:ext cx="1536192" cy="658368"/>
          </a:xfrm>
          <a:prstGeom prst="rect">
            <a:avLst/>
          </a:prstGeom>
          <a:solidFill>
            <a:srgbClr val="F7FAFF"/>
          </a:solidFill>
          <a:ln w="12700">
            <a:solidFill>
              <a:srgbClr val="B8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200"/>
              </a:spcAft>
            </a:pPr>
            <a:r>
              <a:rPr sz="1650" b="1">
                <a:solidFill>
                  <a:srgbClr val="2F6F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6630</a:t>
            </a:r>
            <a:endParaRPr sz="1650" b="1">
              <a:solidFill>
                <a:srgbClr val="2F6F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5E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输入证据</a:t>
            </a:r>
            <a:endParaRPr sz="880" b="0">
              <a:solidFill>
                <a:srgbClr val="5E6B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31720" y="1078992"/>
            <a:ext cx="1536192" cy="658368"/>
          </a:xfrm>
          <a:prstGeom prst="rect">
            <a:avLst/>
          </a:prstGeom>
          <a:solidFill>
            <a:srgbClr val="F7FAFF"/>
          </a:solidFill>
          <a:ln w="12700">
            <a:solidFill>
              <a:srgbClr val="B8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200"/>
              </a:spcAft>
            </a:pPr>
            <a:r>
              <a:rPr sz="1650" b="1">
                <a:solidFill>
                  <a:srgbClr val="2F6F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6443</a:t>
            </a:r>
            <a:endParaRPr sz="1650" b="1">
              <a:solidFill>
                <a:srgbClr val="2F6F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5E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工单增量</a:t>
            </a:r>
            <a:endParaRPr sz="880" b="0">
              <a:solidFill>
                <a:srgbClr val="5E6B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41648" y="1078992"/>
            <a:ext cx="1536192" cy="658368"/>
          </a:xfrm>
          <a:prstGeom prst="rect">
            <a:avLst/>
          </a:prstGeom>
          <a:solidFill>
            <a:srgbClr val="F7FAFF"/>
          </a:solidFill>
          <a:ln w="12700">
            <a:solidFill>
              <a:srgbClr val="B8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200"/>
              </a:spcAft>
            </a:pPr>
            <a:r>
              <a:rPr sz="1650" b="1">
                <a:solidFill>
                  <a:srgbClr val="2F6F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86/86</a:t>
            </a:r>
            <a:endParaRPr sz="1650" b="1">
              <a:solidFill>
                <a:srgbClr val="2F6F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5E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路由分批完成</a:t>
            </a:r>
            <a:endParaRPr sz="880" b="0">
              <a:solidFill>
                <a:srgbClr val="5E6B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792" y="1901952"/>
            <a:ext cx="1536192" cy="658368"/>
          </a:xfrm>
          <a:prstGeom prst="rect">
            <a:avLst/>
          </a:prstGeom>
          <a:solidFill>
            <a:srgbClr val="F7FAFF"/>
          </a:solidFill>
          <a:ln w="12700">
            <a:solidFill>
              <a:srgbClr val="B8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200"/>
              </a:spcAft>
            </a:pPr>
            <a:r>
              <a:rPr sz="1650" b="1">
                <a:solidFill>
                  <a:srgbClr val="2F6F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27</a:t>
            </a:r>
            <a:endParaRPr sz="1650" b="1">
              <a:solidFill>
                <a:srgbClr val="2F6F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5E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受影响目录</a:t>
            </a:r>
            <a:endParaRPr sz="880" b="0">
              <a:solidFill>
                <a:srgbClr val="5E6B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31720" y="1901952"/>
            <a:ext cx="1536192" cy="658368"/>
          </a:xfrm>
          <a:prstGeom prst="rect">
            <a:avLst/>
          </a:prstGeom>
          <a:solidFill>
            <a:srgbClr val="F7FAFF"/>
          </a:solidFill>
          <a:ln w="12700">
            <a:solidFill>
              <a:srgbClr val="B8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200"/>
              </a:spcAft>
            </a:pPr>
            <a:r>
              <a:rPr sz="1650" b="1">
                <a:solidFill>
                  <a:srgbClr val="2F6F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</a:t>
            </a:r>
            <a:endParaRPr sz="1650" b="1">
              <a:solidFill>
                <a:srgbClr val="2F6F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5E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二级目录</a:t>
            </a:r>
            <a:endParaRPr sz="880" b="0">
              <a:solidFill>
                <a:srgbClr val="5E6B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41648" y="1901952"/>
            <a:ext cx="1536192" cy="658368"/>
          </a:xfrm>
          <a:prstGeom prst="rect">
            <a:avLst/>
          </a:prstGeom>
          <a:solidFill>
            <a:srgbClr val="F7FAFF"/>
          </a:solidFill>
          <a:ln w="12700">
            <a:solidFill>
              <a:srgbClr val="B8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200"/>
              </a:spcAft>
            </a:pPr>
            <a:r>
              <a:rPr sz="1650" b="1">
                <a:solidFill>
                  <a:srgbClr val="2F6F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1413</a:t>
            </a:r>
            <a:endParaRPr sz="1650" b="1">
              <a:solidFill>
                <a:srgbClr val="2F6F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5E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收敛场景</a:t>
            </a:r>
            <a:endParaRPr sz="880" b="0">
              <a:solidFill>
                <a:srgbClr val="5E6B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792" y="2788920"/>
            <a:ext cx="4956048" cy="1078992"/>
          </a:xfrm>
          <a:prstGeom prst="rect">
            <a:avLst/>
          </a:prstGeom>
          <a:solidFill>
            <a:srgbClr val="F2FBF7"/>
          </a:solidFill>
          <a:ln w="12700">
            <a:solidFill>
              <a:srgbClr val="B7E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F85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跑通判断</a:t>
            </a:r>
            <a:endParaRPr sz="1000" b="1">
              <a:solidFill>
                <a:srgbClr val="2F85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 1 阶段状态为已完成，运行时间为 2026-04-30 16:20:59 至 2026-05-03 00:14:42，约 55 小时 54 分。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主目录树、候选目录树、增量目录树、目录路由结果和评审网页均已生成。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" y="4133087"/>
            <a:ext cx="4956048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3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成果含义</a:t>
            </a:r>
            <a:endParaRPr sz="1000" b="1">
              <a:solidFill>
                <a:srgbClr val="2332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二级目录树方式已经能承接大批量工单：先按目录归类，再在目录内收敛场景，最终交给人工评审确认。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这为后续扩大到一级目录全量树提供了可复用的分批、续跑和校验机制。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16752" y="1078992"/>
            <a:ext cx="1298448" cy="23774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错误分布</a:t>
            </a:r>
            <a:endParaRPr sz="9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16752" y="1444752"/>
            <a:ext cx="507492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16752" y="1444752"/>
            <a:ext cx="5074920" cy="27432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1426464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3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请求超时：586 次，占 62.4%</a:t>
            </a:r>
            <a:endParaRPr sz="880" b="1">
              <a:solidFill>
                <a:srgbClr val="2332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16752" y="1883664"/>
            <a:ext cx="507492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16752" y="1883664"/>
            <a:ext cx="174071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865376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3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结构化输出解析失败：201 次，占 21.4%</a:t>
            </a:r>
            <a:endParaRPr sz="880" b="1">
              <a:solidFill>
                <a:srgbClr val="2332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16752" y="2322576"/>
            <a:ext cx="507492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16752" y="2322576"/>
            <a:ext cx="779424" cy="27432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2304288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3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模型路由不可用：90 次，占 9.6%</a:t>
            </a:r>
            <a:endParaRPr sz="880" b="1">
              <a:solidFill>
                <a:srgbClr val="2332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16752" y="2761488"/>
            <a:ext cx="507492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16752" y="2761488"/>
            <a:ext cx="274320" cy="274320"/>
          </a:xfrm>
          <a:prstGeom prst="rect">
            <a:avLst/>
          </a:prstGeom>
          <a:solidFill>
            <a:srgbClr val="2F6FB2"/>
          </a:solidFill>
          <a:ln w="12700">
            <a:solidFill>
              <a:srgbClr val="2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8192" y="2743200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3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网络请求异常：25 次，占 2.7%</a:t>
            </a:r>
            <a:endParaRPr sz="880" b="1">
              <a:solidFill>
                <a:srgbClr val="2332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16752" y="3200400"/>
            <a:ext cx="507492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16752" y="3200400"/>
            <a:ext cx="274320" cy="2743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3182112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3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上下文长度限制：24 次，占 2.6%</a:t>
            </a:r>
            <a:endParaRPr sz="880" b="1">
              <a:solidFill>
                <a:srgbClr val="2332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16752" y="3767328"/>
            <a:ext cx="5074920" cy="1609344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原因拆解</a:t>
            </a:r>
            <a:endParaRPr sz="10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工单数量大：6443 条工单被拆成 86 个路由分批，后续还要做目录内场景收敛。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结构要求高：模型输出必须能通过结构化解析和字段校验，失败后需要重试。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上下文长：大目录合并时证据摘要过长，容易触发超时或长度限制。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1792" y="5705856"/>
            <a:ext cx="104698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9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algn="l">
              <a:spcAft>
                <a:spcPts val="200"/>
              </a:spcAft>
            </a:pPr>
            <a:r>
              <a:rPr lang="zh-CN" sz="102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试运行中</a:t>
            </a:r>
            <a:r>
              <a:rPr sz="102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z="102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Air</a:t>
            </a:r>
            <a:r>
              <a:rPr lang="zh-CN" altLang="en-US" sz="102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客户端的问题</a:t>
            </a:r>
            <a:r>
              <a:rPr lang="en-US" altLang="zh-CN" sz="102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Skill</a:t>
            </a:r>
            <a:r>
              <a:rPr lang="zh-CN" altLang="en-US" sz="102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已经成功生成，现在投入试行阶段，减少客户端问题流转到二线的同时，提升问题处理效率。</a:t>
            </a:r>
            <a:endParaRPr lang="zh-CN" altLang="en-US" sz="102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9" name="矩形 8"/>
          <p:cNvSpPr/>
          <p:nvPr/>
        </p:nvSpPr>
        <p:spPr>
          <a:xfrm>
            <a:off x="0" y="6588125"/>
            <a:ext cx="12192000" cy="284163"/>
          </a:xfrm>
          <a:prstGeom prst="rect">
            <a:avLst/>
          </a:prstGeom>
          <a:solidFill>
            <a:srgbClr val="2E75B5"/>
          </a:solidFill>
          <a:ln w="9525">
            <a:noFill/>
          </a:ln>
        </p:spPr>
        <p:txBody>
          <a:bodyPr anchor="ctr"/>
          <a:p>
            <a:pPr algn="ctr" eaLnBrk="0" hangingPunct="0"/>
            <a:endParaRPr lang="zh-CN" altLang="zh-CN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700" name="矩形 9"/>
          <p:cNvSpPr/>
          <p:nvPr/>
        </p:nvSpPr>
        <p:spPr>
          <a:xfrm>
            <a:off x="2923540" y="6606858"/>
            <a:ext cx="6451600" cy="24511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 eaLnBrk="0" hangingPunct="0"/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官网：</a:t>
            </a: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http://www.coremail.cn/             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购买咨询：</a:t>
            </a: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400-000-1631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78" name="文本框 4"/>
          <p:cNvSpPr txBox="1">
            <a:spLocks noChangeArrowheads="1"/>
          </p:cNvSpPr>
          <p:nvPr/>
        </p:nvSpPr>
        <p:spPr bwMode="auto">
          <a:xfrm>
            <a:off x="75565" y="320040"/>
            <a:ext cx="11278870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三、重点工作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——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汉仪中黑简" panose="02010600000101010101" charset="-122"/>
              </a:rPr>
              <a:t>上半年巡检进度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汉仪中黑简" panose="02010600000101010101" charset="-122"/>
            </a:endParaRPr>
          </a:p>
        </p:txBody>
      </p:sp>
      <p:sp>
        <p:nvSpPr>
          <p:cNvPr id="3" name="矩形: 圆角 58"/>
          <p:cNvSpPr/>
          <p:nvPr/>
        </p:nvSpPr>
        <p:spPr>
          <a:xfrm flipH="1">
            <a:off x="327660" y="3639820"/>
            <a:ext cx="5929630" cy="2739390"/>
          </a:xfrm>
          <a:prstGeom prst="rect">
            <a:avLst/>
          </a:prstGeom>
          <a:noFill/>
          <a:ln w="12700">
            <a:solidFill>
              <a:schemeClr val="bg2"/>
            </a:solidFill>
            <a:miter lim="4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3F5F6"/>
                </a:solidFill>
              </a14:hiddenFill>
            </a:ext>
          </a:extLst>
        </p:spPr>
        <p:txBody>
          <a:bodyPr lIns="19032" tIns="19032" rIns="19032" bIns="19032" anchor="ctr"/>
          <a:lstStyle/>
          <a:p>
            <a:pPr defTabSz="412750"/>
            <a:endParaRPr lang="zh-CN" altLang="en-US" sz="1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27660" y="1041400"/>
            <a:ext cx="11581765" cy="2058670"/>
            <a:chOff x="790" y="2122"/>
            <a:chExt cx="11318" cy="3831"/>
          </a:xfrm>
        </p:grpSpPr>
        <p:sp>
          <p:nvSpPr>
            <p:cNvPr id="13" name="Rectangle: Rounded Corners 9"/>
            <p:cNvSpPr/>
            <p:nvPr>
              <p:custDataLst>
                <p:tags r:id="rId3"/>
              </p:custDataLst>
            </p:nvPr>
          </p:nvSpPr>
          <p:spPr>
            <a:xfrm>
              <a:off x="790" y="2122"/>
              <a:ext cx="11295" cy="3831"/>
            </a:xfrm>
            <a:prstGeom prst="rect">
              <a:avLst/>
            </a:prstGeom>
            <a:ln w="6350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75000"/>
                      <a:alpha val="85000"/>
                    </a:schemeClr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graphicFrame>
          <p:nvGraphicFramePr>
            <p:cNvPr id="16" name="Chart 98"/>
            <p:cNvGraphicFramePr/>
            <p:nvPr/>
          </p:nvGraphicFramePr>
          <p:xfrm>
            <a:off x="814" y="3411"/>
            <a:ext cx="11294" cy="21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20" name="TextBox 165"/>
            <p:cNvSpPr txBox="1"/>
            <p:nvPr/>
          </p:nvSpPr>
          <p:spPr>
            <a:xfrm>
              <a:off x="2107" y="2431"/>
              <a:ext cx="8782" cy="674"/>
            </a:xfrm>
            <a:prstGeom prst="rect">
              <a:avLst/>
            </a:prstGeom>
            <a:noFill/>
            <a:effectLst/>
          </p:spPr>
          <p:txBody>
            <a:bodyPr wrap="square" lIns="85954" tIns="42977" rIns="85954" bIns="42977" rtlCol="0" anchor="b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上半年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V</a:t>
              </a:r>
              <a:r>
                <a:rPr lang="en-US" altLang="zh-CN" b="1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IP</a:t>
              </a:r>
              <a:r>
                <a:rPr lang="zh-CN" altLang="en-US" b="1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巡检完成率</a:t>
              </a:r>
              <a:r>
                <a:rPr lang="en-US" altLang="zh-CN" b="1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</a:t>
              </a:r>
              <a:r>
                <a:rPr lang="en-US" b="1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26.2</a:t>
              </a:r>
              <a:r>
                <a:rPr lang="en-US" altLang="zh-CN" b="1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%</a:t>
              </a:r>
              <a:endParaRPr lang="en-US" altLang="zh-CN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505575" y="3295015"/>
            <a:ext cx="5471160" cy="3118485"/>
          </a:xfrm>
          <a:prstGeom prst="rect">
            <a:avLst/>
          </a:prstGeom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 anchorCtr="0">
            <a:noAutofit/>
          </a:bodyPr>
          <a:p>
            <a:pPr marL="285750" indent="-285750">
              <a:lnSpc>
                <a:spcPct val="240000"/>
              </a:lnSpc>
              <a:buFont typeface="Wingdings" panose="05000000000000000000" charset="0"/>
              <a:buChar char="l"/>
            </a:pPr>
            <a:r>
              <a:rPr lang="zh-CN" altLang="en-US" sz="1200" b="1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巡检进度：</a:t>
            </a:r>
            <a:r>
              <a:rPr lang="en-US" altLang="zh-CN" sz="120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2026</a:t>
            </a:r>
            <a:r>
              <a:rPr lang="zh-CN" altLang="en-US" sz="120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年上半年邮件系统巡检名单</a:t>
            </a:r>
            <a:r>
              <a:rPr lang="zh-CN" sz="120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共计</a:t>
            </a:r>
            <a:r>
              <a:rPr lang="en-US" altLang="zh-CN" sz="1200" smtClean="0">
                <a:ln>
                  <a:noFill/>
                </a:ln>
                <a:solidFill>
                  <a:srgbClr val="00722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781</a:t>
            </a:r>
            <a:r>
              <a:rPr lang="zh-CN" altLang="en-US" sz="1200" smtClean="0">
                <a:ln>
                  <a:noFill/>
                </a:ln>
                <a:solidFill>
                  <a:srgbClr val="00722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家</a:t>
            </a:r>
            <a:r>
              <a:rPr lang="zh-CN" altLang="en-US" sz="120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，已完成首轮邮件通知，当前巡检</a:t>
            </a:r>
            <a:r>
              <a:rPr lang="zh-CN" altLang="en-US" sz="1200" smtClean="0">
                <a:ln>
                  <a:noFill/>
                </a:ln>
                <a:solidFill>
                  <a:srgbClr val="00722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完成进度</a:t>
            </a:r>
            <a:r>
              <a:rPr lang="en-US" altLang="zh-CN" sz="1200" smtClean="0">
                <a:ln>
                  <a:noFill/>
                </a:ln>
                <a:solidFill>
                  <a:srgbClr val="00722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200" smtClean="0">
                <a:ln>
                  <a:noFill/>
                </a:ln>
                <a:solidFill>
                  <a:srgbClr val="00722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26.2</a:t>
            </a:r>
            <a:r>
              <a:rPr lang="en-US" altLang="zh-CN" sz="1200" smtClean="0">
                <a:ln>
                  <a:noFill/>
                </a:ln>
                <a:solidFill>
                  <a:srgbClr val="00722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endParaRPr lang="zh-CN" altLang="en-US" sz="1200" smtClean="0">
              <a:ln>
                <a:noFill/>
              </a:ln>
              <a:solidFill>
                <a:srgbClr val="00722D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240000"/>
              </a:lnSpc>
              <a:buFont typeface="Wingdings" panose="05000000000000000000" charset="0"/>
              <a:buChar char="l"/>
            </a:pPr>
            <a:r>
              <a:rPr lang="zh-CN" altLang="en-US" sz="1200" b="1" smtClean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通知内容优化：</a:t>
            </a:r>
            <a:r>
              <a:rPr lang="zh-CN" altLang="en-US" sz="1200" smtClean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优化通知模版，内容上侧重引导客户自行巡检，弱化远程方式，结果上看与同期完成率略有降低，后需持续优化通知内容；</a:t>
            </a:r>
            <a:endParaRPr lang="zh-CN" altLang="en-US" sz="1200" smtClean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240000"/>
              </a:lnSpc>
              <a:buFont typeface="Wingdings" panose="05000000000000000000" charset="0"/>
              <a:buChar char="l"/>
            </a:pPr>
            <a:r>
              <a:rPr lang="zh-CN" altLang="en-US" sz="1200" b="1" smtClean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工具优化：</a:t>
            </a:r>
            <a:r>
              <a:rPr lang="zh-CN" sz="1200" smtClean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批量通知工具已初步用于本次巡检通知，通知前的准备工作略有降低，同时验证发现的问题已优化修复。</a:t>
            </a:r>
            <a:endParaRPr lang="en-US" altLang="zh-CN" sz="1200" smtClean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3" name="图表 22"/>
          <p:cNvGraphicFramePr/>
          <p:nvPr/>
        </p:nvGraphicFramePr>
        <p:xfrm>
          <a:off x="340360" y="3295015"/>
          <a:ext cx="6031865" cy="3083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307975" y="3321685"/>
            <a:ext cx="4385310" cy="328295"/>
          </a:xfrm>
          <a:prstGeom prst="rect">
            <a:avLst/>
          </a:prstGeom>
          <a:noFill/>
          <a:effectLst/>
        </p:spPr>
        <p:txBody>
          <a:bodyPr wrap="square" lIns="86868" tIns="43434" rIns="86868" bIns="43434" rtlCol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VIP</a:t>
            </a:r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客户巡检第一次邮件通知完成情况（近三次对比）</a:t>
            </a:r>
            <a:endParaRPr lang="zh-CN" altLang="en-US" sz="14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 bwMode="auto">
          <a:xfrm>
            <a:off x="254000" y="419100"/>
            <a:ext cx="6263640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三、重点工作：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BD项目申报与资金申请情况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448310" y="1425575"/>
          <a:ext cx="11316970" cy="5203825"/>
        </p:xfrm>
        <a:graphic>
          <a:graphicData uri="http://schemas.openxmlformats.org/drawingml/2006/table">
            <a:tbl>
              <a:tblPr firstRow="1" bandRow="1">
                <a:tableStyleId>{CD34B7C3-1B0F-0207-1DE5-22D91AFE4651}</a:tableStyleId>
              </a:tblPr>
              <a:tblGrid>
                <a:gridCol w="581025"/>
                <a:gridCol w="2395855"/>
                <a:gridCol w="1898015"/>
                <a:gridCol w="1204595"/>
                <a:gridCol w="5237480"/>
              </a:tblGrid>
              <a:tr h="366395"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等线" charset="0"/>
                          <a:ea typeface="等线" charset="0"/>
                          <a:sym typeface="+mn-ea"/>
                        </a:rPr>
                        <a:t>序号</a:t>
                      </a:r>
                      <a:endParaRPr lang="zh-CN" altLang="en-US" sz="1400" b="1" dirty="0">
                        <a:latin typeface="等线" charset="0"/>
                        <a:ea typeface="等线" charset="0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dirty="0">
                          <a:latin typeface="等线" charset="0"/>
                          <a:ea typeface="等线" charset="0"/>
                        </a:rPr>
                        <a:t>项目名称</a:t>
                      </a:r>
                      <a:endParaRPr lang="zh-CN" altLang="en-US" sz="1400" b="1" dirty="0">
                        <a:latin typeface="等线" charset="0"/>
                        <a:ea typeface="等线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dirty="0">
                          <a:latin typeface="等线" charset="0"/>
                          <a:ea typeface="等线" charset="0"/>
                        </a:rPr>
                        <a:t>预计收益</a:t>
                      </a:r>
                      <a:endParaRPr lang="zh-CN" altLang="en-US" sz="1400" b="1" dirty="0">
                        <a:latin typeface="等线" charset="0"/>
                        <a:ea typeface="等线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dirty="0">
                          <a:latin typeface="等线" charset="0"/>
                          <a:ea typeface="等线" charset="0"/>
                        </a:rPr>
                        <a:t>申报主体</a:t>
                      </a:r>
                      <a:endParaRPr lang="zh-CN" altLang="en-US" sz="1400" b="1" dirty="0">
                        <a:latin typeface="等线" charset="0"/>
                        <a:ea typeface="等线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等线" charset="0"/>
                          <a:ea typeface="等线" charset="0"/>
                        </a:rPr>
                        <a:t>工作进程</a:t>
                      </a:r>
                      <a:endParaRPr lang="zh-CN" altLang="en-US" sz="1400" b="1" dirty="0">
                        <a:solidFill>
                          <a:srgbClr val="FFFFFF"/>
                        </a:solidFill>
                        <a:latin typeface="等线" charset="0"/>
                        <a:ea typeface="等线" charset="0"/>
                      </a:endParaRPr>
                    </a:p>
                  </a:txBody>
                  <a:tcPr anchor="ctr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</a:rPr>
                        <a:t>1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+mn-ea"/>
                        </a:rPr>
                        <a:t>2025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+mn-ea"/>
                        </a:rPr>
                        <a:t>年新认定专精特新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+mn-ea"/>
                        </a:rPr>
                        <a:t>“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+mn-ea"/>
                        </a:rPr>
                        <a:t>小巨人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+mn-ea"/>
                        </a:rPr>
                        <a:t>”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+mn-ea"/>
                        </a:rPr>
                        <a:t>企业奖励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+mn-ea"/>
                        </a:rPr>
                        <a:t>申请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等线" charset="0"/>
                        <a:sym typeface="Arial" panose="020B060402020209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Arial" panose="020B0604020202090204" pitchFamily="34" charset="0"/>
                        </a:rPr>
                        <a:t>省级奖补资金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Arial" panose="020B0604020202090204" pitchFamily="34" charset="0"/>
                        </a:rPr>
                        <a:t>100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Arial" panose="020B0604020202090204" pitchFamily="34" charset="0"/>
                        </a:rPr>
                        <a:t>万元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等线" charset="0"/>
                        <a:sym typeface="Arial" panose="020B060402020209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广东盈世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285750" indent="-285750" algn="l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Font typeface="Wingdings" panose="05000000000000000000" charset="0"/>
                        <a:buChar char="§"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完成奖补资金系统填报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  <a:p>
                      <a:pPr marL="285750" indent="-285750" algn="l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Font typeface="Wingdings" panose="05000000000000000000" charset="0"/>
                        <a:buChar char="§"/>
                      </a:pPr>
                      <a:r>
                        <a:rPr lang="zh-CN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已通过区级审核，待上级部门审核及拨付</a:t>
                      </a:r>
                      <a:endParaRPr lang="zh-CN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anchor="ctr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</a:rPr>
                        <a:t>2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区科工商信局保密推荐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项目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重点项目推荐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论客科技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285750" indent="-285750" algn="l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Font typeface="Wingdings" panose="05000000000000000000" charset="0"/>
                        <a:buChar char="§"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对接财务、资质采购，收集填报相关数据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  <a:p>
                      <a:pPr marL="285750" indent="-285750" algn="l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Font typeface="Wingdings" panose="05000000000000000000" charset="0"/>
                        <a:buChar char="§"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完成纸质申报材料报送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</a:tr>
              <a:tr h="6870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</a:rPr>
                        <a:t>3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Arial" panose="020B0604020202090204" pitchFamily="34" charset="0"/>
                        </a:rPr>
                        <a:t>香港中小企业市场推广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等线" charset="0"/>
                        <a:sym typeface="Arial" panose="020B0604020202090204" pitchFamily="34" charset="0"/>
                      </a:endParaRPr>
                    </a:p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Arial" panose="020B0604020202090204" pitchFamily="34" charset="0"/>
                        </a:rPr>
                        <a:t>项目（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Arial" panose="020B0604020202090204" pitchFamily="34" charset="0"/>
                        </a:rPr>
                        <a:t>SME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Arial" panose="020B0604020202090204" pitchFamily="34" charset="0"/>
                        </a:rPr>
                        <a:t>）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等线" charset="0"/>
                        <a:sym typeface="Arial" panose="020B060402020209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配合科技部门调查工作</a:t>
                      </a:r>
                      <a:endParaRPr lang="zh-CN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论客香港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285750" indent="-285750" algn="l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Font typeface="Wingdings" panose="05000000000000000000" charset="0"/>
                        <a:buChar char="§"/>
                      </a:pPr>
                      <a:r>
                        <a:rPr lang="zh-CN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完成系统填报</a:t>
                      </a:r>
                      <a:endParaRPr lang="zh-CN" sz="1400" b="1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</a:tr>
              <a:tr h="6870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</a:rPr>
                        <a:t>4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职称认定申请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职称认定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广东盈世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285750" indent="-285750" algn="l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Font typeface="Wingdings" panose="05000000000000000000" charset="0"/>
                        <a:buChar char="§"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完成认定缴费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  <a:p>
                      <a:pPr marL="285750" indent="-285750" algn="l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Font typeface="Wingdings" panose="05000000000000000000" charset="0"/>
                        <a:buChar char="§"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跟进广东省专业技术人才职称管理系统填报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</a:tr>
              <a:tr h="6870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</a:rPr>
                        <a:t>5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广州市工信局中小企业监测调查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配合工信部门相关工作，市工信局会给予每月话费补贴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广东盈世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论客科技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285750" indent="-285750" algn="l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Font typeface="Wingdings" panose="05000000000000000000" charset="0"/>
                        <a:buChar char="§"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+mn-ea"/>
                        </a:rPr>
                        <a:t>对接财务及HR，提取相关项目数据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等线" charset="0"/>
                        <a:sym typeface="Arial" panose="020B0604020202090204" pitchFamily="34" charset="0"/>
                      </a:endParaRPr>
                    </a:p>
                    <a:p>
                      <a:pPr marL="285750" indent="-285750" algn="l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Font typeface="Wingdings" panose="05000000000000000000" charset="0"/>
                        <a:buChar char="§"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Arial" panose="020B0604020202090204" pitchFamily="34" charset="0"/>
                        </a:rPr>
                        <a:t>完成3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Arial" panose="020B0604020202090204" pitchFamily="34" charset="0"/>
                        </a:rPr>
                        <a:t>月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等线" charset="0"/>
                          <a:sym typeface="Arial" panose="020B0604020202090204" pitchFamily="34" charset="0"/>
                        </a:rPr>
                        <a:t>份系统填报，审核已通过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等线" charset="0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</a:tr>
              <a:tr h="6870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</a:rPr>
                        <a:t>6</a:t>
                      </a:r>
                      <a:endParaRPr lang="en-US" altLang="zh-CN" sz="140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填报《</a:t>
                      </a:r>
                      <a:r>
                        <a:rPr lang="en-US" sz="1400">
                          <a:solidFill>
                            <a:srgbClr val="1F2329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微软雅黑" panose="020B0503020204020204" pitchFamily="34" charset="-122"/>
                        </a:rPr>
                        <a:t>番禺区企业对涉企行政执法满意度调查问卷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》、《</a:t>
                      </a:r>
                      <a:r>
                        <a:rPr lang="en-US" sz="1400">
                          <a:solidFill>
                            <a:srgbClr val="1F2329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微软雅黑" panose="020B0503020204020204" pitchFamily="34" charset="-122"/>
                        </a:rPr>
                        <a:t>番禺区规上企业情况统计表</a:t>
                      </a:r>
                      <a:r>
                        <a:rPr lang="zh-CN" altLang="en-US" sz="1400">
                          <a:solidFill>
                            <a:srgbClr val="1F2329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微软雅黑" panose="020B0503020204020204" pitchFamily="34" charset="-122"/>
                        </a:rPr>
                        <a:t>》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等调查信息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配合科技、工信、属地政府等部门的调查工作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广东盈世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  <a:p>
                      <a:pPr marL="0"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论客科技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285750" indent="-285750" algn="l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Font typeface="Wingdings" panose="05000000000000000000" charset="0"/>
                        <a:buChar char="§"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等线" charset="0"/>
                          <a:ea typeface="等线" charset="0"/>
                          <a:cs typeface="微软雅黑" panose="020B0503020204020204" pitchFamily="34" charset="-122"/>
                          <a:sym typeface="+mn-ea"/>
                        </a:rPr>
                        <a:t>完成相关信息填报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等线" charset="0"/>
                        <a:ea typeface="等线" charset="0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 bwMode="auto">
          <a:xfrm>
            <a:off x="254000" y="419100"/>
            <a:ext cx="6263640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三、重点工作：BD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微软雅黑" panose="020B0503020204020204" pitchFamily="34" charset="-122"/>
              </a:rPr>
              <a:t>政府关系与行业交流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8312150" y="1214755"/>
            <a:ext cx="3524885" cy="2567940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8311997" y="1214719"/>
            <a:ext cx="3525033" cy="766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4326255" y="4017010"/>
            <a:ext cx="3524885" cy="2567940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4326332" y="4016918"/>
            <a:ext cx="3525033" cy="766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341630" y="4017010"/>
            <a:ext cx="3524885" cy="2567940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341342" y="4016918"/>
            <a:ext cx="3525033" cy="766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7"/>
            </p:custDataLst>
          </p:nvPr>
        </p:nvSpPr>
        <p:spPr>
          <a:xfrm>
            <a:off x="8312150" y="4017010"/>
            <a:ext cx="3524885" cy="2567940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8311997" y="4016918"/>
            <a:ext cx="3525033" cy="766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8383270" y="3334385"/>
            <a:ext cx="3392170" cy="4413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</a:t>
            </a:r>
            <a:r>
              <a:rPr lang="zh-CN" altLang="en-US" sz="16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法穗成*清朗广州2026年度活动</a:t>
            </a:r>
            <a:endParaRPr lang="zh-CN" altLang="en-US" sz="16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411480" y="6142990"/>
            <a:ext cx="3392170" cy="4413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广州市软协理事会</a:t>
            </a:r>
            <a:endParaRPr lang="zh-CN" sz="16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>
            <p:custDataLst>
              <p:tags r:id="rId11"/>
            </p:custDataLst>
          </p:nvPr>
        </p:nvSpPr>
        <p:spPr>
          <a:xfrm>
            <a:off x="4397375" y="6142990"/>
            <a:ext cx="3392170" cy="4413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番禺区“五一”国际劳动节大会</a:t>
            </a:r>
            <a:endParaRPr lang="zh-CN" altLang="en-US" sz="16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8383270" y="6151880"/>
            <a:ext cx="3392170" cy="4413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小谷围街政企同心联席会</a:t>
            </a:r>
            <a:endParaRPr lang="zh-CN" altLang="en-US" sz="16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>
            <p:custDataLst>
              <p:tags r:id="rId13"/>
            </p:custDataLst>
          </p:nvPr>
        </p:nvSpPr>
        <p:spPr>
          <a:xfrm>
            <a:off x="4331335" y="1202690"/>
            <a:ext cx="3524885" cy="2567940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8" name="矩形 27"/>
          <p:cNvSpPr/>
          <p:nvPr>
            <p:custDataLst>
              <p:tags r:id="rId14"/>
            </p:custDataLst>
          </p:nvPr>
        </p:nvSpPr>
        <p:spPr>
          <a:xfrm>
            <a:off x="4331412" y="1202598"/>
            <a:ext cx="3525033" cy="766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9" name="矩形 28"/>
          <p:cNvSpPr/>
          <p:nvPr>
            <p:custDataLst>
              <p:tags r:id="rId15"/>
            </p:custDataLst>
          </p:nvPr>
        </p:nvSpPr>
        <p:spPr>
          <a:xfrm>
            <a:off x="358775" y="1202690"/>
            <a:ext cx="3524885" cy="2580005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" name="矩形 29"/>
          <p:cNvSpPr/>
          <p:nvPr>
            <p:custDataLst>
              <p:tags r:id="rId16"/>
            </p:custDataLst>
          </p:nvPr>
        </p:nvSpPr>
        <p:spPr>
          <a:xfrm>
            <a:off x="358487" y="1202598"/>
            <a:ext cx="3525033" cy="766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1" name="矩形 30"/>
          <p:cNvSpPr/>
          <p:nvPr>
            <p:custDataLst>
              <p:tags r:id="rId17"/>
            </p:custDataLst>
          </p:nvPr>
        </p:nvSpPr>
        <p:spPr>
          <a:xfrm>
            <a:off x="428625" y="3328670"/>
            <a:ext cx="3392170" cy="4489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广东省、广州市网信办座谈会议</a:t>
            </a:r>
            <a:endParaRPr lang="zh-CN" altLang="en-US" sz="16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>
            <p:custDataLst>
              <p:tags r:id="rId18"/>
            </p:custDataLst>
          </p:nvPr>
        </p:nvSpPr>
        <p:spPr>
          <a:xfrm>
            <a:off x="4402455" y="3328670"/>
            <a:ext cx="3392170" cy="4413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广东省软协会员大会</a:t>
            </a:r>
            <a:endParaRPr lang="zh-CN" altLang="en-US" sz="16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3" name="图片 32"/>
          <p:cNvPicPr/>
          <p:nvPr/>
        </p:nvPicPr>
        <p:blipFill>
          <a:blip r:embed="rId19"/>
          <a:stretch>
            <a:fillRect/>
          </a:stretch>
        </p:blipFill>
        <p:spPr>
          <a:xfrm>
            <a:off x="4405630" y="1360805"/>
            <a:ext cx="3384000" cy="1929600"/>
          </a:xfrm>
          <a:prstGeom prst="rect">
            <a:avLst/>
          </a:prstGeom>
        </p:spPr>
      </p:pic>
      <p:pic>
        <p:nvPicPr>
          <p:cNvPr id="42" name="图片 41"/>
          <p:cNvPicPr/>
          <p:nvPr/>
        </p:nvPicPr>
        <p:blipFill>
          <a:blip r:embed="rId20"/>
          <a:stretch>
            <a:fillRect/>
          </a:stretch>
        </p:blipFill>
        <p:spPr>
          <a:xfrm>
            <a:off x="410210" y="4186555"/>
            <a:ext cx="3384000" cy="1929600"/>
          </a:xfrm>
          <a:prstGeom prst="rect">
            <a:avLst/>
          </a:prstGeom>
        </p:spPr>
      </p:pic>
      <p:pic>
        <p:nvPicPr>
          <p:cNvPr id="43" name="图片 42"/>
          <p:cNvPicPr/>
          <p:nvPr/>
        </p:nvPicPr>
        <p:blipFill>
          <a:blip r:embed="rId21"/>
          <a:stretch>
            <a:fillRect/>
          </a:stretch>
        </p:blipFill>
        <p:spPr>
          <a:xfrm>
            <a:off x="4397375" y="4186555"/>
            <a:ext cx="3384000" cy="1929600"/>
          </a:xfrm>
          <a:prstGeom prst="rect">
            <a:avLst/>
          </a:prstGeom>
        </p:spPr>
      </p:pic>
      <p:pic>
        <p:nvPicPr>
          <p:cNvPr id="46" name="图片 45"/>
          <p:cNvPicPr/>
          <p:nvPr/>
        </p:nvPicPr>
        <p:blipFill>
          <a:blip r:embed="rId22"/>
          <a:stretch>
            <a:fillRect/>
          </a:stretch>
        </p:blipFill>
        <p:spPr>
          <a:xfrm>
            <a:off x="8382000" y="1403350"/>
            <a:ext cx="3384000" cy="1929600"/>
          </a:xfrm>
          <a:prstGeom prst="rect">
            <a:avLst/>
          </a:prstGeom>
        </p:spPr>
      </p:pic>
      <p:pic>
        <p:nvPicPr>
          <p:cNvPr id="48" name="图片 47"/>
          <p:cNvPicPr/>
          <p:nvPr/>
        </p:nvPicPr>
        <p:blipFill>
          <a:blip r:embed="rId23"/>
          <a:stretch>
            <a:fillRect/>
          </a:stretch>
        </p:blipFill>
        <p:spPr>
          <a:xfrm>
            <a:off x="8384540" y="4186555"/>
            <a:ext cx="3384000" cy="1929600"/>
          </a:xfrm>
          <a:prstGeom prst="rect">
            <a:avLst/>
          </a:prstGeom>
        </p:spPr>
      </p:pic>
      <p:pic>
        <p:nvPicPr>
          <p:cNvPr id="50" name="图片 49"/>
          <p:cNvPicPr/>
          <p:nvPr/>
        </p:nvPicPr>
        <p:blipFill>
          <a:blip r:embed="rId24"/>
          <a:stretch>
            <a:fillRect/>
          </a:stretch>
        </p:blipFill>
        <p:spPr>
          <a:xfrm>
            <a:off x="421640" y="1360805"/>
            <a:ext cx="3384000" cy="1929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 bwMode="auto">
          <a:xfrm>
            <a:off x="254000" y="419100"/>
            <a:ext cx="6263640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三、重点工作：BD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业务拓展与客户跟进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" name="矩形: 圆角 24"/>
          <p:cNvSpPr/>
          <p:nvPr>
            <p:custDataLst>
              <p:tags r:id="rId1"/>
            </p:custDataLst>
          </p:nvPr>
        </p:nvSpPr>
        <p:spPr>
          <a:xfrm>
            <a:off x="953135" y="1687830"/>
            <a:ext cx="2160270" cy="4044315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1096645" y="2615565"/>
            <a:ext cx="1866900" cy="3182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171450" indent="-171450" algn="l">
              <a:lnSpc>
                <a:spcPct val="140000"/>
              </a:lnSpc>
              <a:spcBef>
                <a:spcPts val="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协助对接俄罗斯人工智能交流活动</a:t>
            </a:r>
            <a:endParaRPr lang="zh-CN" altLang="en-US" sz="1400" kern="0" dirty="0">
              <a:ln>
                <a:noFill/>
                <a:prstDash val="sysDot"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>
              <a:lnSpc>
                <a:spcPct val="140000"/>
              </a:lnSpc>
              <a:spcBef>
                <a:spcPts val="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商协会等社会组织合作评估</a:t>
            </a:r>
            <a:endParaRPr lang="zh-CN" altLang="en-US" sz="1400" kern="0" dirty="0">
              <a:ln>
                <a:noFill/>
                <a:prstDash val="sysDot"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073150" y="1877060"/>
            <a:ext cx="1889760" cy="5797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生态合作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矩形: 圆角 24"/>
          <p:cNvSpPr/>
          <p:nvPr>
            <p:custDataLst>
              <p:tags r:id="rId4"/>
            </p:custDataLst>
          </p:nvPr>
        </p:nvSpPr>
        <p:spPr>
          <a:xfrm>
            <a:off x="3644265" y="1687830"/>
            <a:ext cx="2160270" cy="4044315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3787140" y="2615565"/>
            <a:ext cx="1851025" cy="3182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>
              <a:lnSpc>
                <a:spcPct val="140000"/>
              </a:lnSpc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对接网信，沟通数据传输通报问题</a:t>
            </a:r>
            <a:endParaRPr lang="zh-CN" altLang="en-US" sz="1400" kern="0" dirty="0">
              <a:ln>
                <a:noFill/>
                <a:prstDash val="sysDot"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>
              <a:lnSpc>
                <a:spcPct val="140000"/>
              </a:lnSpc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协调取证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</a:t>
            </a:r>
            <a:endParaRPr lang="zh-CN" altLang="en-US" sz="1400" kern="0" dirty="0">
              <a:ln>
                <a:noFill/>
                <a:prstDash val="sysDot"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>
              <a:lnSpc>
                <a:spcPct val="140000"/>
              </a:lnSpc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endParaRPr lang="zh-CN" altLang="en-US" sz="140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6"/>
            </p:custDataLst>
          </p:nvPr>
        </p:nvSpPr>
        <p:spPr>
          <a:xfrm>
            <a:off x="3764280" y="1877060"/>
            <a:ext cx="1925320" cy="5797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buClr>
                <a:schemeClr val="accent1"/>
              </a:buClr>
              <a:buSzPct val="70000"/>
            </a:pP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安全事务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矩形: 圆角 24"/>
          <p:cNvSpPr/>
          <p:nvPr>
            <p:custDataLst>
              <p:tags r:id="rId7"/>
            </p:custDataLst>
          </p:nvPr>
        </p:nvSpPr>
        <p:spPr>
          <a:xfrm>
            <a:off x="6365240" y="1687830"/>
            <a:ext cx="2160270" cy="4044315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8"/>
            </p:custDataLst>
          </p:nvPr>
        </p:nvSpPr>
        <p:spPr>
          <a:xfrm>
            <a:off x="6508115" y="2615565"/>
            <a:ext cx="1856105" cy="3182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>
              <a:lnSpc>
                <a:spcPct val="140000"/>
              </a:lnSpc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招商银行：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跟进总行人天消耗问题，推动大版本升级项目</a:t>
            </a:r>
            <a:endParaRPr lang="zh-CN" altLang="en-US" sz="1400" kern="0" dirty="0">
              <a:ln>
                <a:noFill/>
                <a:prstDash val="sysDot"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indent="-171450" algn="l">
              <a:lnSpc>
                <a:spcPct val="140000"/>
              </a:lnSpc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上海微创：已完成硬件网关试用评估，完成报价</a:t>
            </a:r>
            <a:endParaRPr lang="zh-CN" altLang="en-US" sz="1400" kern="0" dirty="0">
              <a:ln>
                <a:noFill/>
                <a:prstDash val="sysDot"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</a:pPr>
            <a:endParaRPr lang="zh-CN" altLang="en-US" sz="1400" kern="0" dirty="0">
              <a:ln>
                <a:noFill/>
                <a:prstDash val="sysDot"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>
            <p:custDataLst>
              <p:tags r:id="rId9"/>
            </p:custDataLst>
          </p:nvPr>
        </p:nvSpPr>
        <p:spPr>
          <a:xfrm>
            <a:off x="6485255" y="1877060"/>
            <a:ext cx="1881505" cy="5797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buClr>
                <a:schemeClr val="accent1"/>
              </a:buClr>
              <a:buSzPct val="70000"/>
            </a:pP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销售项目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1" name="矩形: 圆角 24"/>
          <p:cNvSpPr/>
          <p:nvPr>
            <p:custDataLst>
              <p:tags r:id="rId10"/>
            </p:custDataLst>
          </p:nvPr>
        </p:nvSpPr>
        <p:spPr>
          <a:xfrm>
            <a:off x="9086215" y="1687830"/>
            <a:ext cx="2160270" cy="4044315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11"/>
            </p:custDataLst>
          </p:nvPr>
        </p:nvSpPr>
        <p:spPr>
          <a:xfrm>
            <a:off x="9230995" y="2615565"/>
            <a:ext cx="1876425" cy="3182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>
              <a:lnSpc>
                <a:spcPct val="140000"/>
              </a:lnSpc>
              <a:spcBef>
                <a:spcPts val="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跟进信投新办公楼租赁事宜</a:t>
            </a:r>
            <a:endParaRPr lang="zh-CN" altLang="en-US" sz="1400" kern="0" dirty="0">
              <a:ln>
                <a:noFill/>
                <a:prstDash val="sysDot"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>
              <a:lnSpc>
                <a:spcPct val="140000"/>
              </a:lnSpc>
              <a:spcBef>
                <a:spcPts val="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对接沟通新办公楼消防报备事宜</a:t>
            </a:r>
            <a:endParaRPr lang="zh-CN" altLang="en-US" sz="1400" kern="0" dirty="0">
              <a:ln>
                <a:noFill/>
                <a:prstDash val="sysDot"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>
              <a:lnSpc>
                <a:spcPct val="140000"/>
              </a:lnSpc>
              <a:spcBef>
                <a:spcPts val="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协调佳苑公租房核查问题</a:t>
            </a:r>
            <a:endParaRPr lang="zh-CN" altLang="en-US" sz="1400" kern="0" dirty="0">
              <a:ln>
                <a:noFill/>
                <a:prstDash val="sysDot"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</a:pPr>
            <a:endParaRPr lang="zh-CN" altLang="en-US" sz="1400">
              <a:ln>
                <a:noFill/>
                <a:prstDash val="sysDot"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3" name="矩形 52"/>
          <p:cNvSpPr/>
          <p:nvPr>
            <p:custDataLst>
              <p:tags r:id="rId12"/>
            </p:custDataLst>
          </p:nvPr>
        </p:nvSpPr>
        <p:spPr>
          <a:xfrm>
            <a:off x="9250680" y="1877060"/>
            <a:ext cx="1837055" cy="5797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buClr>
                <a:schemeClr val="accent1"/>
              </a:buClr>
              <a:buSzPct val="70000"/>
            </a:pP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物业沟通</a:t>
            </a:r>
            <a:endParaRPr lang="en-US" altLang="zh-CN" sz="20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 bwMode="auto">
          <a:xfrm>
            <a:off x="360045" y="324485"/>
            <a:ext cx="7489825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四、5月非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KA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客户业绩冲刺计划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632460" y="2102485"/>
            <a:ext cx="6675120" cy="4379595"/>
            <a:chOff x="1326" y="3311"/>
            <a:chExt cx="10512" cy="6897"/>
          </a:xfrm>
        </p:grpSpPr>
        <p:sp>
          <p:nvSpPr>
            <p:cNvPr id="31" name="矩形 30"/>
            <p:cNvSpPr/>
            <p:nvPr/>
          </p:nvSpPr>
          <p:spPr>
            <a:xfrm>
              <a:off x="1326" y="3311"/>
              <a:ext cx="10511" cy="6622"/>
            </a:xfrm>
            <a:prstGeom prst="rect">
              <a:avLst/>
            </a:prstGeom>
            <a:solidFill>
              <a:srgbClr val="F9FAFB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1336" y="4027"/>
              <a:ext cx="10502" cy="61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8" name="圆角矩形 17"/>
          <p:cNvSpPr/>
          <p:nvPr>
            <p:custDataLst>
              <p:tags r:id="rId1"/>
            </p:custDataLst>
          </p:nvPr>
        </p:nvSpPr>
        <p:spPr>
          <a:xfrm>
            <a:off x="8399780" y="974090"/>
            <a:ext cx="2950845" cy="1043940"/>
          </a:xfrm>
          <a:prstGeom prst="roundRect">
            <a:avLst/>
          </a:prstGeom>
          <a:solidFill>
            <a:srgbClr val="F3F7FA"/>
          </a:solidFill>
          <a:ln>
            <a:solidFill>
              <a:srgbClr val="F3F7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9264015" y="1090295"/>
            <a:ext cx="1676400" cy="783590"/>
          </a:xfrm>
          <a:prstGeom prst="rect">
            <a:avLst/>
          </a:prstGeom>
          <a:noFill/>
          <a:ln>
            <a:solidFill>
              <a:srgbClr val="F3F7FA"/>
            </a:solidFill>
          </a:ln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200" dirty="0">
                <a:solidFill>
                  <a:srgbClr val="27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</a:t>
            </a:r>
            <a:r>
              <a:rPr lang="en-US" altLang="zh-CN" sz="1200" dirty="0">
                <a:solidFill>
                  <a:srgbClr val="27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KA</a:t>
            </a:r>
            <a:r>
              <a:rPr lang="zh-CN" altLang="en-US" sz="1200" dirty="0">
                <a:solidFill>
                  <a:srgbClr val="27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目标总盘</a:t>
            </a:r>
            <a:endParaRPr lang="zh-CN" altLang="en-US" sz="1200" dirty="0">
              <a:solidFill>
                <a:srgbClr val="A4091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en-US" altLang="zh-CN" b="1" dirty="0">
                <a:solidFill>
                  <a:srgbClr val="1E25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1070.9</a:t>
            </a:r>
            <a:r>
              <a:rPr lang="zh-CN" altLang="en-US" sz="1200" b="1" dirty="0">
                <a:solidFill>
                  <a:srgbClr val="1E25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万元</a:t>
            </a:r>
            <a:endParaRPr lang="zh-CN" altLang="en-US" sz="1200" b="1" dirty="0">
              <a:solidFill>
                <a:srgbClr val="1E25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>
            <p:custDataLst>
              <p:tags r:id="rId3"/>
            </p:custDataLst>
          </p:nvPr>
        </p:nvSpPr>
        <p:spPr>
          <a:xfrm>
            <a:off x="4620260" y="956945"/>
            <a:ext cx="2950845" cy="1043940"/>
          </a:xfrm>
          <a:prstGeom prst="roundRect">
            <a:avLst/>
          </a:prstGeom>
          <a:solidFill>
            <a:srgbClr val="FEE6E6"/>
          </a:solidFill>
          <a:ln>
            <a:solidFill>
              <a:srgbClr val="FEE6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5484495" y="1073150"/>
            <a:ext cx="1676400" cy="783590"/>
          </a:xfrm>
          <a:prstGeom prst="rect">
            <a:avLst/>
          </a:prstGeom>
          <a:noFill/>
          <a:ln>
            <a:solidFill>
              <a:srgbClr val="FEE6E6"/>
            </a:solidFill>
          </a:ln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200" dirty="0">
                <a:solidFill>
                  <a:srgbClr val="A4091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风险回款金额</a:t>
            </a:r>
            <a:endParaRPr lang="zh-CN" altLang="en-US" sz="1200" dirty="0">
              <a:solidFill>
                <a:srgbClr val="A4091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en-US" altLang="zh-CN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535.9</a:t>
            </a:r>
            <a:r>
              <a:rPr lang="zh-CN" altLang="en-US" sz="12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万元</a:t>
            </a:r>
            <a:endParaRPr lang="zh-CN" altLang="en-US" sz="1200" b="1" dirty="0">
              <a:solidFill>
                <a:srgbClr val="DC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365" y="6237605"/>
            <a:ext cx="69576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200000"/>
              </a:lnSpc>
              <a:buClr>
                <a:srgbClr val="00B0F0"/>
              </a:buClr>
              <a:buFont typeface="Wingdings" panose="05000000000000000000" pitchFamily="2" charset="2"/>
              <a:buNone/>
            </a:pP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* 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统计时间：截至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2026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年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5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月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8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日，回款金额统计来源于销管在线表格中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“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回款计划</a:t>
            </a:r>
            <a:r>
              <a:rPr lang="en-US" altLang="zh-CN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”</a:t>
            </a:r>
            <a:r>
              <a:rPr lang="zh-CN" altLang="en-US" sz="1000" spc="100" dirty="0"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对应的款项字段。</a:t>
            </a:r>
            <a:endParaRPr lang="zh-CN" altLang="en-US" sz="1000" spc="100" dirty="0"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5"/>
            </p:custDataLst>
          </p:nvPr>
        </p:nvSpPr>
        <p:spPr>
          <a:xfrm>
            <a:off x="840740" y="974090"/>
            <a:ext cx="2950845" cy="1043940"/>
          </a:xfrm>
          <a:prstGeom prst="roundRect">
            <a:avLst/>
          </a:prstGeom>
          <a:solidFill>
            <a:srgbClr val="E2EEFE"/>
          </a:solidFill>
          <a:ln>
            <a:solidFill>
              <a:srgbClr val="E2EE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03.09-打钩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2505" y="1177290"/>
            <a:ext cx="637540" cy="637540"/>
          </a:xfrm>
          <a:prstGeom prst="rect">
            <a:avLst/>
          </a:prstGeom>
        </p:spPr>
      </p:pic>
      <p:pic>
        <p:nvPicPr>
          <p:cNvPr id="12" name="图片 11" descr="03.09-禁用提示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57750" y="1233805"/>
            <a:ext cx="417195" cy="417195"/>
          </a:xfrm>
          <a:prstGeom prst="rect">
            <a:avLst/>
          </a:prstGeom>
        </p:spPr>
      </p:pic>
      <p:pic>
        <p:nvPicPr>
          <p:cNvPr id="13" name="图片 12" descr="03.09-目标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05850" y="1259205"/>
            <a:ext cx="422910" cy="42164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5"/>
            </p:custDataLst>
          </p:nvPr>
        </p:nvSpPr>
        <p:spPr>
          <a:xfrm>
            <a:off x="1704975" y="1090295"/>
            <a:ext cx="16764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200" dirty="0">
                <a:solidFill>
                  <a:srgbClr val="2859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承诺回款金额</a:t>
            </a:r>
            <a:endParaRPr lang="zh-CN" altLang="en-US" sz="1200" dirty="0">
              <a:solidFill>
                <a:srgbClr val="2859C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en-US" altLang="zh-CN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541.0</a:t>
            </a:r>
            <a:r>
              <a:rPr lang="zh-CN" alt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万元</a:t>
            </a:r>
            <a:endParaRPr lang="zh-CN" altLang="en-US" sz="1200" b="1" dirty="0">
              <a:solidFill>
                <a:srgbClr val="1D4ED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9" name="图片 38" descr="01.13-提效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63600" y="2187575"/>
            <a:ext cx="341630" cy="341630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1401445" y="2102485"/>
            <a:ext cx="350012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400" b="1" dirty="0">
                <a:solidFill>
                  <a:srgbClr val="2526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区域</a:t>
            </a:r>
            <a:r>
              <a:rPr lang="zh-CN" altLang="en-US" sz="1400" b="1">
                <a:solidFill>
                  <a:srgbClr val="2526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非</a:t>
            </a:r>
            <a:r>
              <a:rPr lang="en-US" altLang="zh-CN" sz="1400" b="1">
                <a:solidFill>
                  <a:srgbClr val="2526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KA</a:t>
            </a:r>
            <a:r>
              <a:rPr lang="zh-CN" altLang="en-US" sz="1400" b="1">
                <a:solidFill>
                  <a:srgbClr val="2526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客户预计回款情况</a:t>
            </a:r>
            <a:r>
              <a:rPr lang="en-US" altLang="zh-CN" sz="1400" b="1">
                <a:solidFill>
                  <a:srgbClr val="2526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1200" b="1">
                <a:solidFill>
                  <a:srgbClr val="2526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单位</a:t>
            </a:r>
            <a:r>
              <a:rPr lang="en-US" altLang="zh-CN" sz="1200" b="1">
                <a:solidFill>
                  <a:srgbClr val="2526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</a:t>
            </a:r>
            <a:r>
              <a:rPr lang="zh-CN" altLang="en-US" sz="1200" b="1">
                <a:solidFill>
                  <a:srgbClr val="2526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</a:t>
            </a:r>
            <a:endParaRPr lang="zh-CN" altLang="en-US" sz="1200" b="1" dirty="0">
              <a:solidFill>
                <a:srgbClr val="2526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45" name="组合 44" descr="7b0a202020202262756c6c6574223a20227b5c2263617465676f727949645c223a5c225c222c5c2274656d706c61746549645c223a32303233313639367d220a7d0a"/>
          <p:cNvGrpSpPr/>
          <p:nvPr/>
        </p:nvGrpSpPr>
        <p:grpSpPr>
          <a:xfrm>
            <a:off x="7580630" y="2102485"/>
            <a:ext cx="3949700" cy="4380263"/>
            <a:chOff x="1326" y="3311"/>
            <a:chExt cx="10512" cy="7230"/>
          </a:xfrm>
        </p:grpSpPr>
        <p:sp>
          <p:nvSpPr>
            <p:cNvPr id="46" name="矩形 45"/>
            <p:cNvSpPr/>
            <p:nvPr/>
          </p:nvSpPr>
          <p:spPr>
            <a:xfrm>
              <a:off x="1326" y="3311"/>
              <a:ext cx="10511" cy="6622"/>
            </a:xfrm>
            <a:prstGeom prst="rect">
              <a:avLst/>
            </a:prstGeom>
            <a:solidFill>
              <a:srgbClr val="F9FAFB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1336" y="4027"/>
              <a:ext cx="10502" cy="65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285750" indent="-285750" fontAlgn="auto">
                <a:lnSpc>
                  <a:spcPct val="150000"/>
                </a:lnSpc>
                <a:buClr>
                  <a:srgbClr val="67758D"/>
                </a:buClr>
                <a:buFont typeface="Wingdings" panose="05000000000000000000" charset="0"/>
                <a:buChar char="n"/>
              </a:pPr>
              <a:r>
                <a:rPr lang="zh-CN" altLang="en-US" sz="1300" b="1" dirty="0">
                  <a:solidFill>
                    <a:srgbClr val="2526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项目回款优先：</a:t>
              </a:r>
              <a:r>
                <a:rPr lang="zh-CN" altLang="en-US" sz="1200" dirty="0">
                  <a:solidFill>
                    <a:srgbClr val="5F70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与销管、销售联动，每、双周更新同步销管回款计划中卡点问题、回款风险等影响回款的情况到项目管理系统，进行关注跟踪；交付中心每周</a:t>
              </a:r>
              <a:r>
                <a:rPr lang="en-US" altLang="zh-CN" sz="1200" dirty="0">
                  <a:solidFill>
                    <a:srgbClr val="5F70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RV</a:t>
              </a:r>
              <a:r>
                <a:rPr lang="zh-CN" altLang="en-US" sz="1200" dirty="0">
                  <a:solidFill>
                    <a:srgbClr val="5F70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项目相关项目进度及风险信息同步销管在线表格进行信息共享。</a:t>
              </a:r>
              <a:endParaRPr lang="zh-CN" altLang="en-US" sz="1400" dirty="0">
                <a:solidFill>
                  <a:srgbClr val="5F70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indent="0" fontAlgn="auto">
                <a:lnSpc>
                  <a:spcPct val="150000"/>
                </a:lnSpc>
                <a:buClr>
                  <a:srgbClr val="67758D"/>
                </a:buClr>
                <a:buFont typeface="Wingdings" panose="05000000000000000000" charset="0"/>
                <a:buNone/>
              </a:pPr>
              <a:endParaRPr lang="zh-CN" altLang="en-US" sz="1400" dirty="0">
                <a:solidFill>
                  <a:srgbClr val="5F70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marL="285750" indent="-285750" fontAlgn="auto">
                <a:lnSpc>
                  <a:spcPct val="150000"/>
                </a:lnSpc>
                <a:buClr>
                  <a:srgbClr val="67758D"/>
                </a:buClr>
                <a:buFont typeface="Wingdings" panose="05000000000000000000" charset="0"/>
                <a:buChar char="n"/>
              </a:pPr>
              <a:r>
                <a:rPr lang="zh-CN" altLang="en-US" sz="1300" b="1" dirty="0">
                  <a:solidFill>
                    <a:srgbClr val="2526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项目风险告警及未结项推进：</a:t>
              </a:r>
              <a:r>
                <a:rPr lang="zh-CN" altLang="en-US" sz="1200" dirty="0">
                  <a:solidFill>
                    <a:srgbClr val="5F70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每周按区进行项目进度对称，继续跟踪项目实施进度，及时发现项目风险及进行项目资源协调，加快项目周转；已上线项目，配合商务完成项目验收，推进项目转售后结项。</a:t>
              </a:r>
              <a:endParaRPr lang="zh-CN" altLang="en-US" sz="1200" dirty="0">
                <a:solidFill>
                  <a:srgbClr val="5F70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  <p:pic>
        <p:nvPicPr>
          <p:cNvPr id="48" name="图片 47" descr="03.09-保障措施_常规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727315" y="2129155"/>
            <a:ext cx="427990" cy="427990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8155305" y="2083435"/>
            <a:ext cx="350012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400" b="1">
                <a:solidFill>
                  <a:srgbClr val="2526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项目回款推进及保障措施</a:t>
            </a:r>
            <a:endParaRPr lang="zh-CN" altLang="en-US" sz="1400" b="1" dirty="0">
              <a:solidFill>
                <a:srgbClr val="2526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20"/>
            </p:custDataLst>
          </p:nvPr>
        </p:nvGraphicFramePr>
        <p:xfrm>
          <a:off x="716280" y="2581275"/>
          <a:ext cx="3209290" cy="3835400"/>
        </p:xfrm>
        <a:graphic>
          <a:graphicData uri="http://schemas.openxmlformats.org/drawingml/2006/table">
            <a:tbl>
              <a:tblPr firstRow="1">
                <a:tableStyleId>{3927BF4F-A770-4385-A2F9-F656E184BD16}</a:tableStyleId>
              </a:tblPr>
              <a:tblGrid>
                <a:gridCol w="778510"/>
                <a:gridCol w="810260"/>
                <a:gridCol w="810260"/>
                <a:gridCol w="810260"/>
              </a:tblGrid>
              <a:tr h="3835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区域</a:t>
                      </a:r>
                      <a:endParaRPr lang="zh-CN" altLang="en-US" sz="120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承诺回款</a:t>
                      </a:r>
                      <a:endParaRPr lang="zh-CN" altLang="en-US" sz="120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DC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风险回款</a:t>
                      </a:r>
                      <a:endParaRPr lang="zh-CN" altLang="en-US" sz="1200">
                        <a:solidFill>
                          <a:srgbClr val="DC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总笔数</a:t>
                      </a:r>
                      <a:endParaRPr lang="zh-CN" altLang="en-US" sz="120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上海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94.2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67.7 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武汉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69.9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12.1 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厦门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55.8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 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北京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45.4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78.6 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广州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43.4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24.3 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济南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36.6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104.5 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国际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27.6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重庆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58.0 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总部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23.6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28.3 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>
            <p:custDataLst>
              <p:tags r:id="rId21"/>
            </p:custDataLst>
          </p:nvPr>
        </p:nvGraphicFramePr>
        <p:xfrm>
          <a:off x="4014470" y="2581275"/>
          <a:ext cx="3209290" cy="3835400"/>
        </p:xfrm>
        <a:graphic>
          <a:graphicData uri="http://schemas.openxmlformats.org/drawingml/2006/table">
            <a:tbl>
              <a:tblPr firstRow="1">
                <a:tableStyleId>{3927BF4F-A770-4385-A2F9-F656E184BD16}</a:tableStyleId>
              </a:tblPr>
              <a:tblGrid>
                <a:gridCol w="778510"/>
                <a:gridCol w="810260"/>
                <a:gridCol w="810260"/>
                <a:gridCol w="810260"/>
              </a:tblGrid>
              <a:tr h="3835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区域</a:t>
                      </a:r>
                      <a:endParaRPr lang="zh-CN" altLang="en-US" sz="120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承诺回款</a:t>
                      </a:r>
                      <a:endParaRPr lang="zh-CN" altLang="en-US" sz="120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DC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风险回款</a:t>
                      </a:r>
                      <a:endParaRPr lang="zh-CN" altLang="en-US" sz="1200">
                        <a:solidFill>
                          <a:srgbClr val="DC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总笔数</a:t>
                      </a:r>
                      <a:endParaRPr lang="zh-CN" altLang="en-US" sz="120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太原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22.3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46.7 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深圳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19.2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9.2 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成都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17.6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西安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17.5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6.7 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杭州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16.1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23.3 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南京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14.2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8.2 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香港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8.2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49.9 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合肥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1D4ED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 </a:t>
                      </a: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1" i="0">
                          <a:solidFill>
                            <a:srgbClr val="E2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16.8 </a:t>
                      </a: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5F708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200" b="1" i="0">
                        <a:solidFill>
                          <a:srgbClr val="1D4ED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200" b="1" i="0">
                        <a:solidFill>
                          <a:srgbClr val="E2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200" b="0" i="0">
                        <a:solidFill>
                          <a:srgbClr val="5F708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 anchorCtr="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custDataLst>
      <p:tags r:id="rId2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 bwMode="auto">
          <a:xfrm>
            <a:off x="360045" y="324485"/>
            <a:ext cx="7489825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四、工作计划：售前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19" name="流程图: 可选过程 18"/>
          <p:cNvSpPr/>
          <p:nvPr/>
        </p:nvSpPr>
        <p:spPr>
          <a:xfrm>
            <a:off x="2689860" y="1449705"/>
            <a:ext cx="8639810" cy="2602865"/>
          </a:xfrm>
          <a:prstGeom prst="flowChartAlternateProcess">
            <a:avLst/>
          </a:prstGeom>
          <a:solidFill>
            <a:srgbClr val="60A5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流程图: 可选过程 19"/>
          <p:cNvSpPr/>
          <p:nvPr/>
        </p:nvSpPr>
        <p:spPr>
          <a:xfrm>
            <a:off x="2759075" y="1449705"/>
            <a:ext cx="8639810" cy="2602865"/>
          </a:xfrm>
          <a:prstGeom prst="flowChartAlternateProcess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77515" y="1502410"/>
            <a:ext cx="8202930" cy="2444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  <a:buClr>
                <a:srgbClr val="566573"/>
              </a:buClr>
              <a:buFont typeface="Wingdings" panose="05000000000000000000" charset="0"/>
              <a:buNone/>
            </a:pPr>
            <a:r>
              <a:rPr lang="zh-CN" altLang="en-US" sz="1600" b="1" dirty="0">
                <a:solidFill>
                  <a:srgbClr val="5665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高耗时任务提效</a:t>
            </a:r>
            <a:endParaRPr lang="en-US" altLang="zh-CN" sz="1600" b="1" dirty="0">
              <a:solidFill>
                <a:srgbClr val="5665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rgbClr val="566573"/>
              </a:buClr>
              <a:buFont typeface="Arial" panose="020B0604020202090204" pitchFamily="34" charset="0"/>
              <a:buChar char="•"/>
            </a:pPr>
            <a:r>
              <a:rPr lang="zh-CN" altLang="en-US" sz="1400" b="1" dirty="0">
                <a:solidFill>
                  <a:srgbClr val="5665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故障处理与支持：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论客数字人（鲁肃、徐庶）</a:t>
            </a:r>
            <a:r>
              <a:rPr lang="en-US" altLang="zh-CN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+ CMbox 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增加问题</a:t>
            </a:r>
            <a:r>
              <a:rPr 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&amp;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日志分析能力；</a:t>
            </a:r>
            <a:endParaRPr lang="zh-CN" altLang="en-US" sz="1400" b="1" dirty="0">
              <a:solidFill>
                <a:srgbClr val="5665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rgbClr val="566573"/>
              </a:buClr>
              <a:buFont typeface="Arial" panose="020B0604020202090204" pitchFamily="34" charset="0"/>
              <a:buChar char="•"/>
            </a:pPr>
            <a:r>
              <a:rPr lang="zh-CN" altLang="en-US" sz="1400" b="1" dirty="0">
                <a:solidFill>
                  <a:srgbClr val="5665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测试与验证：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自动压测工具</a:t>
            </a:r>
            <a:r>
              <a:rPr lang="en-US" altLang="zh-CN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+ CMBox 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增加配置变更能力</a:t>
            </a:r>
            <a:r>
              <a:rPr lang="en-US" altLang="zh-CN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+ OpenClaw 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自动验证功能；</a:t>
            </a:r>
            <a:endParaRPr lang="zh-CN" altLang="en-US" sz="1400" b="1" dirty="0">
              <a:solidFill>
                <a:srgbClr val="5665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rgbClr val="566573"/>
              </a:buClr>
              <a:buFont typeface="Arial" panose="020B0604020202090204" pitchFamily="34" charset="0"/>
              <a:buChar char="•"/>
            </a:pPr>
            <a:r>
              <a:rPr lang="zh-CN" altLang="en-US" sz="1400" b="1" dirty="0">
                <a:solidFill>
                  <a:srgbClr val="5665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方案与架构设计：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文档中台</a:t>
            </a:r>
            <a:r>
              <a:rPr lang="en-US" altLang="zh-CN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+ 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论客数字人（架构设计智能体）；</a:t>
            </a:r>
            <a:endParaRPr lang="zh-CN" altLang="en-US" sz="1400" b="1" dirty="0">
              <a:solidFill>
                <a:srgbClr val="5665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rgbClr val="566573"/>
              </a:buClr>
              <a:buFont typeface="Arial" panose="020B0604020202090204" pitchFamily="34" charset="0"/>
              <a:buChar char="•"/>
            </a:pPr>
            <a:r>
              <a:rPr lang="zh-CN" altLang="en-US" sz="1400" b="1" dirty="0">
                <a:solidFill>
                  <a:srgbClr val="5665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系统部署：</a:t>
            </a:r>
            <a:r>
              <a:rPr lang="en-US" altLang="zh-CN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CMBox 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增加多机</a:t>
            </a:r>
            <a:r>
              <a:rPr lang="en-US" altLang="zh-CN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&amp;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多活部署能力</a:t>
            </a:r>
            <a:r>
              <a:rPr lang="en-US" altLang="zh-CN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+ 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可视化迁移工具；</a:t>
            </a:r>
            <a:endParaRPr lang="zh-CN" altLang="en-US" sz="1400" b="1" dirty="0">
              <a:solidFill>
                <a:srgbClr val="5665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rgbClr val="566573"/>
              </a:buClr>
              <a:buFont typeface="Arial" panose="020B0604020202090204" pitchFamily="34" charset="0"/>
              <a:buChar char="•"/>
            </a:pPr>
            <a:r>
              <a:rPr lang="zh-CN" altLang="en-US" sz="1400" b="1" dirty="0">
                <a:solidFill>
                  <a:srgbClr val="5665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项目交付管理：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项目管理平台</a:t>
            </a:r>
            <a:r>
              <a:rPr lang="en-US" altLang="zh-CN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+ 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论客数字人（项目管理助手智能体）；</a:t>
            </a:r>
            <a:endParaRPr lang="zh-CN" altLang="en-US" sz="1400" b="1" dirty="0">
              <a:solidFill>
                <a:srgbClr val="5665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rgbClr val="566573"/>
              </a:buClr>
              <a:buFont typeface="Arial" panose="020B0604020202090204" pitchFamily="34" charset="0"/>
              <a:buChar char="•"/>
            </a:pPr>
            <a:r>
              <a:rPr lang="zh-CN" altLang="en-US" sz="1400" b="1" dirty="0">
                <a:solidFill>
                  <a:srgbClr val="5665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售前交流：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人工为主</a:t>
            </a:r>
            <a:r>
              <a:rPr lang="en-US" altLang="zh-CN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+ AI 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辅助工具（如自动生成会议纪要等）。</a:t>
            </a:r>
            <a:endParaRPr lang="zh-CN" altLang="en-US" sz="1400" dirty="0">
              <a:solidFill>
                <a:srgbClr val="566573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4" name="流程图: 可选过程 3"/>
          <p:cNvSpPr/>
          <p:nvPr/>
        </p:nvSpPr>
        <p:spPr>
          <a:xfrm>
            <a:off x="2689860" y="4433570"/>
            <a:ext cx="8639810" cy="1982470"/>
          </a:xfrm>
          <a:prstGeom prst="flowChartAlternateProcess">
            <a:avLst/>
          </a:prstGeom>
          <a:solidFill>
            <a:srgbClr val="34D39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流程图: 可选过程 5"/>
          <p:cNvSpPr/>
          <p:nvPr/>
        </p:nvSpPr>
        <p:spPr>
          <a:xfrm>
            <a:off x="2759075" y="4433570"/>
            <a:ext cx="8639810" cy="1982470"/>
          </a:xfrm>
          <a:prstGeom prst="flowChartAlternateProcess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876300" y="1454785"/>
            <a:ext cx="1440180" cy="2598420"/>
          </a:xfrm>
          <a:prstGeom prst="roundRect">
            <a:avLst>
              <a:gd name="adj" fmla="val 10289"/>
            </a:avLst>
          </a:prstGeom>
          <a:solidFill>
            <a:srgbClr val="60A5FA"/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 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提效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ctr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方案落地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876300" y="4439920"/>
            <a:ext cx="1440180" cy="1975485"/>
          </a:xfrm>
          <a:prstGeom prst="roundRect">
            <a:avLst>
              <a:gd name="adj" fmla="val 9701"/>
            </a:avLst>
          </a:prstGeom>
          <a:solidFill>
            <a:srgbClr val="34D399"/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 </a:t>
            </a:r>
            <a:r>
              <a:rPr 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能力</a:t>
            </a:r>
            <a:endParaRPr lang="zh-CN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ctr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持续深挖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977515" y="4514215"/>
            <a:ext cx="8202930" cy="1786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  <a:buClr>
                <a:srgbClr val="566573"/>
              </a:buClr>
              <a:buFont typeface="Wingdings" panose="05000000000000000000" charset="0"/>
              <a:buNone/>
            </a:pPr>
            <a:r>
              <a:rPr lang="zh-CN" altLang="en-US" sz="1600" b="1" dirty="0">
                <a:solidFill>
                  <a:srgbClr val="5665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能力拓展与赋能</a:t>
            </a:r>
            <a:endParaRPr lang="en-US" altLang="zh-CN" sz="1600" b="1" dirty="0">
              <a:solidFill>
                <a:srgbClr val="5665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rgbClr val="566573"/>
              </a:buClr>
              <a:buFont typeface="Arial" panose="020B0604020202090204" pitchFamily="34" charset="0"/>
              <a:buChar char="•"/>
            </a:pPr>
            <a:r>
              <a:rPr lang="zh-CN" altLang="en-US" sz="1400" b="1" dirty="0">
                <a:solidFill>
                  <a:srgbClr val="5665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项目管理平台升级：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增加项目管理助手智能体并接入论客，项目进度自动跟踪、售前工时自动填报；</a:t>
            </a:r>
            <a:endParaRPr lang="zh-CN" altLang="en-US" sz="1400" b="1" dirty="0">
              <a:solidFill>
                <a:srgbClr val="5665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rgbClr val="566573"/>
              </a:buClr>
              <a:buFont typeface="Arial" panose="020B0604020202090204" pitchFamily="34" charset="0"/>
              <a:buChar char="•"/>
            </a:pPr>
            <a:r>
              <a:rPr lang="en-US" altLang="zh-CN" sz="1400" b="1" dirty="0">
                <a:solidFill>
                  <a:srgbClr val="5665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CKIT </a:t>
            </a:r>
            <a:r>
              <a:rPr lang="zh-CN" altLang="en-US" sz="1400" b="1" dirty="0">
                <a:solidFill>
                  <a:srgbClr val="5665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生成平台：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徐庶平台接入</a:t>
            </a:r>
            <a:r>
              <a:rPr lang="en-US" altLang="zh-CN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Claude Code SDK 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实现</a:t>
            </a:r>
            <a:r>
              <a:rPr lang="en-US" altLang="zh-CN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CKIT 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需求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自动采集、建单、生成等能力；</a:t>
            </a:r>
            <a:endParaRPr lang="zh-CN" altLang="en-US" sz="1400" dirty="0">
              <a:solidFill>
                <a:srgbClr val="566573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rgbClr val="566573"/>
              </a:buClr>
              <a:buFont typeface="Arial" panose="020B0604020202090204" pitchFamily="34" charset="0"/>
              <a:buChar char="•"/>
            </a:pPr>
            <a:r>
              <a:rPr lang="zh-CN" altLang="en-US" sz="1400" b="1" dirty="0">
                <a:solidFill>
                  <a:srgbClr val="5665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文档中台升级：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增加文档导入修改场景实现；</a:t>
            </a:r>
            <a:endParaRPr lang="zh-CN" altLang="en-US" sz="1400" dirty="0">
              <a:solidFill>
                <a:srgbClr val="566573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rgbClr val="566573"/>
              </a:buClr>
              <a:buFont typeface="Arial" panose="020B0604020202090204" pitchFamily="34" charset="0"/>
              <a:buChar char="•"/>
            </a:pPr>
            <a:r>
              <a:rPr lang="zh-CN" altLang="en-US" sz="1400" b="1" dirty="0">
                <a:solidFill>
                  <a:srgbClr val="5665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交付工具箱升级：</a:t>
            </a:r>
            <a:r>
              <a:rPr lang="zh-CN" altLang="en-US" sz="1400" dirty="0">
                <a:solidFill>
                  <a:srgbClr val="56657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增加配置变更、多机、多活自动化部署能力，重构并整合压测、迁移等工具。</a:t>
            </a:r>
            <a:endParaRPr lang="zh-CN" altLang="en-US" sz="1400" dirty="0">
              <a:solidFill>
                <a:srgbClr val="566573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66445" y="9328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200">
                <a:solidFill>
                  <a:sysClr val="windowText" lastClr="00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技术交付中心</a:t>
            </a:r>
            <a:r>
              <a:rPr lang="en-US" altLang="zh-CN" sz="1200">
                <a:solidFill>
                  <a:sysClr val="windowText" lastClr="00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2026 </a:t>
            </a:r>
            <a:r>
              <a:rPr lang="zh-CN" altLang="en-US" sz="1200">
                <a:solidFill>
                  <a:sysClr val="windowText" lastClr="00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年</a:t>
            </a:r>
            <a:r>
              <a:rPr lang="en-US" altLang="zh-CN" sz="1200">
                <a:solidFill>
                  <a:sysClr val="windowText" lastClr="00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5 </a:t>
            </a:r>
            <a:r>
              <a:rPr lang="zh-CN" altLang="en-US" sz="1200">
                <a:solidFill>
                  <a:sysClr val="windowText" lastClr="00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月</a:t>
            </a:r>
            <a:r>
              <a:rPr lang="en-US" altLang="zh-CN" sz="1200">
                <a:solidFill>
                  <a:sysClr val="windowText" lastClr="00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AI </a:t>
            </a:r>
            <a:r>
              <a:rPr lang="zh-CN" altLang="en-US" sz="1200">
                <a:solidFill>
                  <a:sysClr val="windowText" lastClr="00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工作计划。</a:t>
            </a:r>
            <a:endParaRPr lang="zh-CN" altLang="en-US" sz="1200" dirty="0">
              <a:solidFill>
                <a:sysClr val="windowText" lastClr="000000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 bwMode="auto">
          <a:xfrm>
            <a:off x="360045" y="324485"/>
            <a:ext cx="7846060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四、工作计划：售后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Support——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服务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中台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2125" y="1842770"/>
            <a:ext cx="3810000" cy="1371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55930" y="3328035"/>
            <a:ext cx="3886200" cy="787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1600" b="1">
                <a:solidFill>
                  <a:srgbClr val="2727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600" b="1">
                <a:solidFill>
                  <a:srgbClr val="2727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月新增：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CRM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合同信息查询、客户档案查询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入口；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5930" y="4478020"/>
            <a:ext cx="3886200" cy="747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2727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后续</a:t>
            </a:r>
            <a:r>
              <a:rPr lang="zh-CN" altLang="en-US" sz="1600" b="1">
                <a:solidFill>
                  <a:srgbClr val="2727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计划：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售后人天查询、其他查询工具；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9280" y="1859915"/>
            <a:ext cx="3616325" cy="1232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已完成目标：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完成一线高频工具收集整合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初版服务中台上线内测使用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6455" y="1257300"/>
            <a:ext cx="6964680" cy="3743960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720" y="2562225"/>
            <a:ext cx="6962140" cy="3742690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 bwMode="auto">
          <a:xfrm>
            <a:off x="360045" y="324485"/>
            <a:ext cx="7846060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四、工作计划：售后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Support——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售后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质检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9671050" y="2061210"/>
            <a:ext cx="2206625" cy="3543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9671050" y="3261995"/>
            <a:ext cx="2206625" cy="3543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420" y="2326005"/>
            <a:ext cx="8650605" cy="4136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935" y="4150360"/>
            <a:ext cx="6922135" cy="2316480"/>
          </a:xfrm>
          <a:prstGeom prst="rect">
            <a:avLst/>
          </a:prstGeom>
          <a:ln w="12700" cmpd="sng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</p:pic>
      <p:sp>
        <p:nvSpPr>
          <p:cNvPr id="8" name="文本框 7"/>
          <p:cNvSpPr txBox="1"/>
          <p:nvPr/>
        </p:nvSpPr>
        <p:spPr>
          <a:xfrm>
            <a:off x="325755" y="985520"/>
            <a:ext cx="1084961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多渠道客服数据与质检规则，实现高效、透明、可追溯的售后服务质量管理平台</a:t>
            </a: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cxnSp>
        <p:nvCxnSpPr>
          <p:cNvPr id="11" name="曲线连接符 10"/>
          <p:cNvCxnSpPr/>
          <p:nvPr/>
        </p:nvCxnSpPr>
        <p:spPr>
          <a:xfrm rot="16200000">
            <a:off x="10051415" y="3672205"/>
            <a:ext cx="534670" cy="422275"/>
          </a:xfrm>
          <a:prstGeom prst="curvedConnector3">
            <a:avLst>
              <a:gd name="adj1" fmla="val 49941"/>
            </a:avLst>
          </a:prstGeom>
          <a:ln>
            <a:solidFill>
              <a:srgbClr val="5B9BD5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9693275" y="3181350"/>
            <a:ext cx="240982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质检规则、扣分在线编辑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cxnSp>
        <p:nvCxnSpPr>
          <p:cNvPr id="3" name="曲线连接符 2"/>
          <p:cNvCxnSpPr/>
          <p:nvPr/>
        </p:nvCxnSpPr>
        <p:spPr>
          <a:xfrm rot="16200000">
            <a:off x="8980170" y="2385695"/>
            <a:ext cx="683260" cy="444500"/>
          </a:xfrm>
          <a:prstGeom prst="curvedConnector3">
            <a:avLst>
              <a:gd name="adj1" fmla="val 49907"/>
            </a:avLst>
          </a:prstGeom>
          <a:ln>
            <a:solidFill>
              <a:srgbClr val="5B9BD5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9576435" y="1985645"/>
            <a:ext cx="228600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 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数据汇总，扣分看板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分布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0675" y="1680210"/>
            <a:ext cx="8678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已支持企微、邮件、电话全渠道全量覆盖数据质检，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后续持续完善更新质检规则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 bwMode="auto">
          <a:xfrm>
            <a:off x="360045" y="324485"/>
            <a:ext cx="7846060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四、工作计划：售后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Support——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自动邮件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通知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49910" y="4603750"/>
            <a:ext cx="4271010" cy="1434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566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功能二：批量邮件发送</a:t>
            </a:r>
            <a:r>
              <a:rPr lang="en-US" altLang="zh-CN" sz="2000" b="1" dirty="0">
                <a:solidFill>
                  <a:srgbClr val="566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566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待优化</a:t>
            </a:r>
            <a:endParaRPr lang="zh-CN" altLang="en-US" sz="2000" b="1" dirty="0">
              <a:solidFill>
                <a:srgbClr val="566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1600" b="1" dirty="0">
                <a:solidFill>
                  <a:srgbClr val="566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目前支持自定义发信模板，但需手工配置使用发信，发信成功率仍需进一步测试。</a:t>
            </a:r>
            <a:endParaRPr lang="zh-CN" altLang="en-US" sz="1600" b="1" dirty="0">
              <a:solidFill>
                <a:srgbClr val="566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62125" y="1130300"/>
            <a:ext cx="1960880" cy="691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sz="2200" b="1" dirty="0">
                <a:solidFill>
                  <a:srgbClr val="3D85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已实现功能一</a:t>
            </a:r>
            <a:endParaRPr lang="zh-CN" altLang="en-US" sz="2200" b="1" dirty="0">
              <a:solidFill>
                <a:srgbClr val="3D85C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835" y="1422400"/>
            <a:ext cx="6646545" cy="402717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4" name="文本框 13"/>
          <p:cNvSpPr txBox="1"/>
          <p:nvPr/>
        </p:nvSpPr>
        <p:spPr>
          <a:xfrm>
            <a:off x="627380" y="1974850"/>
            <a:ext cx="1644015" cy="355600"/>
          </a:xfrm>
          <a:prstGeom prst="rect">
            <a:avLst/>
          </a:prstGeom>
          <a:solidFill>
            <a:srgbClr val="5B9BD5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近一年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CS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工单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409950" y="1988185"/>
            <a:ext cx="1410970" cy="372110"/>
          </a:xfrm>
          <a:prstGeom prst="rect">
            <a:avLst/>
          </a:prstGeom>
          <a:solidFill>
            <a:srgbClr val="5B9BD5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客户名称清单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下箭头 22"/>
          <p:cNvSpPr/>
          <p:nvPr/>
        </p:nvSpPr>
        <p:spPr>
          <a:xfrm rot="19800000">
            <a:off x="1538605" y="2482215"/>
            <a:ext cx="407035" cy="9988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下箭头 23"/>
          <p:cNvSpPr/>
          <p:nvPr/>
        </p:nvSpPr>
        <p:spPr>
          <a:xfrm rot="1800000">
            <a:off x="3449320" y="2498090"/>
            <a:ext cx="407035" cy="99695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647825" y="3632835"/>
            <a:ext cx="2075180" cy="401320"/>
          </a:xfrm>
          <a:prstGeom prst="rect">
            <a:avLst/>
          </a:prstGeom>
          <a:solidFill>
            <a:srgbClr val="5B9BD5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客户最新管理员邮箱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 bwMode="auto">
          <a:xfrm>
            <a:off x="360045" y="324485"/>
            <a:ext cx="7846060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四、工作计划：售后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Support——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客户分级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模型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17905" y="1484630"/>
            <a:ext cx="3653790" cy="9658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自动计算客户价值和服务成本得分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待根据实际客户分级调整服务规则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17905" y="2643505"/>
            <a:ext cx="3653155" cy="1737360"/>
          </a:xfrm>
          <a:prstGeom prst="rect">
            <a:avLst/>
          </a:prstGeom>
          <a:ln w="6350" cap="rnd"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 anchorCtr="0">
            <a:noAutofit/>
          </a:bodyPr>
          <a:p>
            <a:pPr algn="l">
              <a:lnSpc>
                <a:spcPct val="150000"/>
              </a:lnSpc>
              <a:buClr>
                <a:srgbClr val="00B0F0"/>
              </a:buClr>
              <a:buSzTx/>
              <a:buFont typeface="Wingdings" panose="05000000000000000000" charset="0"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 l="848" r="1423"/>
          <a:stretch>
            <a:fillRect/>
          </a:stretch>
        </p:blipFill>
        <p:spPr>
          <a:xfrm>
            <a:off x="5031105" y="1031240"/>
            <a:ext cx="5786755" cy="3763645"/>
          </a:xfrm>
          <a:prstGeom prst="rect">
            <a:avLst/>
          </a:prstGeom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05" y="4984115"/>
            <a:ext cx="10427970" cy="1478280"/>
          </a:xfrm>
          <a:prstGeom prst="rect">
            <a:avLst/>
          </a:prstGeom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7" name="文本框 16"/>
          <p:cNvSpPr txBox="1"/>
          <p:nvPr/>
        </p:nvSpPr>
        <p:spPr>
          <a:xfrm>
            <a:off x="1107440" y="2740025"/>
            <a:ext cx="406400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>
                <a:srgbClr val="00B0F0"/>
              </a:buClr>
              <a:buSzTx/>
              <a:buFont typeface="Wingdings" panose="05000000000000000000" charset="0"/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功能点：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  <a:p>
            <a:pPr algn="l">
              <a:lnSpc>
                <a:spcPct val="150000"/>
              </a:lnSpc>
              <a:buClr>
                <a:srgbClr val="00B0F0"/>
              </a:buClr>
              <a:buSzTx/>
              <a:buFont typeface="Wingdings" panose="05000000000000000000" charset="0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1、可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输入客户名称进行模糊搜索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  <a:p>
            <a:pPr algn="l">
              <a:lnSpc>
                <a:spcPct val="150000"/>
              </a:lnSpc>
              <a:buClr>
                <a:srgbClr val="00B0F0"/>
              </a:buClr>
              <a:buSzTx/>
              <a:buFont typeface="Wingdings" panose="05000000000000000000" charset="0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2、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支持手动补充客户信息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  <a:p>
            <a:pPr algn="l">
              <a:lnSpc>
                <a:spcPct val="150000"/>
              </a:lnSpc>
              <a:buClr>
                <a:srgbClr val="00B0F0"/>
              </a:buClr>
              <a:buSzTx/>
              <a:buFont typeface="Wingdings" panose="05000000000000000000" charset="0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3、支持根据等级筛选显示结果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  <a:p>
            <a:pPr indent="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</a:pPr>
            <a:endParaRPr lang="zh-CN" altLang="en-US"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 bwMode="auto">
          <a:xfrm>
            <a:off x="360045" y="324485"/>
            <a:ext cx="7846060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四、工作计划：售后TS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——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完整树的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SOP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补全及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Skill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生成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1060704"/>
            <a:ext cx="1901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sz="1400" b="1">
              <a:solidFill>
                <a:srgbClr val="2F6F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3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一级目录建模</a:t>
            </a:r>
            <a:endParaRPr sz="1400" b="1">
              <a:solidFill>
                <a:srgbClr val="2332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固定目录与场景身份</a:t>
            </a:r>
            <a:endParaRPr sz="14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ight Arrow 3"/>
          <p:cNvSpPr/>
          <p:nvPr/>
        </p:nvSpPr>
        <p:spPr>
          <a:xfrm>
            <a:off x="2377440" y="1545336"/>
            <a:ext cx="301752" cy="201168"/>
          </a:xfrm>
          <a:prstGeom prst="rightArrow">
            <a:avLst/>
          </a:prstGeom>
          <a:solidFill>
            <a:srgbClr val="D7DFEA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Rectangle 4"/>
          <p:cNvSpPr/>
          <p:nvPr/>
        </p:nvSpPr>
        <p:spPr>
          <a:xfrm>
            <a:off x="2761488" y="1060704"/>
            <a:ext cx="1901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D9C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sz="1400" b="1">
              <a:solidFill>
                <a:srgbClr val="2D9CD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3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分批清洗导入</a:t>
            </a:r>
            <a:endParaRPr sz="1400" b="1">
              <a:solidFill>
                <a:srgbClr val="2332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按时间或业务域拆分</a:t>
            </a:r>
            <a:endParaRPr sz="14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ight Arrow 5"/>
          <p:cNvSpPr/>
          <p:nvPr/>
        </p:nvSpPr>
        <p:spPr>
          <a:xfrm>
            <a:off x="4517136" y="1545336"/>
            <a:ext cx="301752" cy="201168"/>
          </a:xfrm>
          <a:prstGeom prst="rightArrow">
            <a:avLst/>
          </a:prstGeom>
          <a:solidFill>
            <a:srgbClr val="D7DFEA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Rectangle 6"/>
          <p:cNvSpPr/>
          <p:nvPr/>
        </p:nvSpPr>
        <p:spPr>
          <a:xfrm>
            <a:off x="4901183" y="1060704"/>
            <a:ext cx="1901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85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sz="1400" b="1">
              <a:solidFill>
                <a:srgbClr val="2F85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3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目录场景收敛</a:t>
            </a:r>
            <a:endParaRPr sz="1400" b="1">
              <a:solidFill>
                <a:srgbClr val="2332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先路由目录再合并场景</a:t>
            </a:r>
            <a:endParaRPr sz="14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Right Arrow 7"/>
          <p:cNvSpPr/>
          <p:nvPr/>
        </p:nvSpPr>
        <p:spPr>
          <a:xfrm>
            <a:off x="6656831" y="1545336"/>
            <a:ext cx="301752" cy="201168"/>
          </a:xfrm>
          <a:prstGeom prst="rightArrow">
            <a:avLst/>
          </a:prstGeom>
          <a:solidFill>
            <a:srgbClr val="D7DFEA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Rectangle 8"/>
          <p:cNvSpPr/>
          <p:nvPr/>
        </p:nvSpPr>
        <p:spPr>
          <a:xfrm>
            <a:off x="7040879" y="1060704"/>
            <a:ext cx="1901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endParaRPr sz="14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3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作业表生成</a:t>
            </a:r>
            <a:endParaRPr sz="1400" b="1">
              <a:solidFill>
                <a:srgbClr val="2332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只处理新增和变更</a:t>
            </a:r>
            <a:endParaRPr sz="14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Right Arrow 9"/>
          <p:cNvSpPr/>
          <p:nvPr/>
        </p:nvSpPr>
        <p:spPr>
          <a:xfrm>
            <a:off x="8796528" y="1545336"/>
            <a:ext cx="301752" cy="201168"/>
          </a:xfrm>
          <a:prstGeom prst="rightArrow">
            <a:avLst/>
          </a:prstGeom>
          <a:solidFill>
            <a:srgbClr val="D7DFEA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0" name="Rectangle 10"/>
          <p:cNvSpPr/>
          <p:nvPr/>
        </p:nvSpPr>
        <p:spPr>
          <a:xfrm>
            <a:off x="9180576" y="1060704"/>
            <a:ext cx="1901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B423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endParaRPr sz="1400" b="1">
              <a:solidFill>
                <a:srgbClr val="B4231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3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增量发布</a:t>
            </a:r>
            <a:endParaRPr sz="1400" b="1">
              <a:solidFill>
                <a:srgbClr val="2332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仅写回批准内容</a:t>
            </a:r>
            <a:endParaRPr sz="14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Rectangle 11"/>
          <p:cNvSpPr/>
          <p:nvPr/>
        </p:nvSpPr>
        <p:spPr>
          <a:xfrm>
            <a:off x="621792" y="2615184"/>
            <a:ext cx="896112" cy="329184"/>
          </a:xfrm>
          <a:prstGeom prst="rect">
            <a:avLst/>
          </a:prstGeom>
          <a:solidFill>
            <a:srgbClr val="23324D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Rectangle 12"/>
          <p:cNvSpPr/>
          <p:nvPr/>
        </p:nvSpPr>
        <p:spPr>
          <a:xfrm>
            <a:off x="1517904" y="2615184"/>
            <a:ext cx="3200400" cy="329184"/>
          </a:xfrm>
          <a:prstGeom prst="rect">
            <a:avLst/>
          </a:prstGeom>
          <a:solidFill>
            <a:srgbClr val="23324D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重点动作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Rectangle 13"/>
          <p:cNvSpPr/>
          <p:nvPr/>
        </p:nvSpPr>
        <p:spPr>
          <a:xfrm>
            <a:off x="4718304" y="2615184"/>
            <a:ext cx="2834640" cy="329184"/>
          </a:xfrm>
          <a:prstGeom prst="rect">
            <a:avLst/>
          </a:prstGeom>
          <a:solidFill>
            <a:srgbClr val="23324D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主要产出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Rectangle 14"/>
          <p:cNvSpPr/>
          <p:nvPr/>
        </p:nvSpPr>
        <p:spPr>
          <a:xfrm>
            <a:off x="7552944" y="2615184"/>
            <a:ext cx="3383280" cy="329184"/>
          </a:xfrm>
          <a:prstGeom prst="rect">
            <a:avLst/>
          </a:prstGeom>
          <a:solidFill>
            <a:srgbClr val="23324D"/>
          </a:solidFill>
          <a:ln w="12700">
            <a:solidFill>
              <a:srgbClr val="23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风险控制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5" name="Rectangle 15"/>
          <p:cNvSpPr/>
          <p:nvPr/>
        </p:nvSpPr>
        <p:spPr>
          <a:xfrm>
            <a:off x="621792" y="2944368"/>
            <a:ext cx="89611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6" name="Rectangle 16"/>
          <p:cNvSpPr/>
          <p:nvPr/>
        </p:nvSpPr>
        <p:spPr>
          <a:xfrm>
            <a:off x="1517904" y="2944368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明确一级、二级和场景身份规则，减少目录漂移。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" name="Rectangle 17"/>
          <p:cNvSpPr/>
          <p:nvPr/>
        </p:nvSpPr>
        <p:spPr>
          <a:xfrm>
            <a:off x="4718304" y="2944368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一级目录分类体系和命名规则。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3" name="Rectangle 18"/>
          <p:cNvSpPr/>
          <p:nvPr/>
        </p:nvSpPr>
        <p:spPr>
          <a:xfrm>
            <a:off x="7552944" y="2944368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先人工确认分类边界，再进入批量处理。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4" name="Rectangle 19"/>
          <p:cNvSpPr/>
          <p:nvPr/>
        </p:nvSpPr>
        <p:spPr>
          <a:xfrm>
            <a:off x="621792" y="3419856"/>
            <a:ext cx="896112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5" name="Rectangle 20"/>
          <p:cNvSpPr/>
          <p:nvPr/>
        </p:nvSpPr>
        <p:spPr>
          <a:xfrm>
            <a:off x="1517904" y="3419856"/>
            <a:ext cx="32004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按时间窗口或业务域拆分全量工单，持续识别增量。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6" name="Rectangle 21"/>
          <p:cNvSpPr/>
          <p:nvPr/>
        </p:nvSpPr>
        <p:spPr>
          <a:xfrm>
            <a:off x="4718304" y="3419856"/>
            <a:ext cx="28346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清洗证据、重复证据和变更证据。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7" name="Rectangle 22"/>
          <p:cNvSpPr/>
          <p:nvPr/>
        </p:nvSpPr>
        <p:spPr>
          <a:xfrm>
            <a:off x="7552944" y="3419856"/>
            <a:ext cx="33832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沿用同一项目键和累计注册表。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8" name="Rectangle 23"/>
          <p:cNvSpPr/>
          <p:nvPr/>
        </p:nvSpPr>
        <p:spPr>
          <a:xfrm>
            <a:off x="621792" y="3895344"/>
            <a:ext cx="89611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9" name="Rectangle 24"/>
          <p:cNvSpPr/>
          <p:nvPr/>
        </p:nvSpPr>
        <p:spPr>
          <a:xfrm>
            <a:off x="1517904" y="3895344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先完成一级和二级目录路由，再合并重复场景。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0" name="Rectangle 25"/>
          <p:cNvSpPr/>
          <p:nvPr/>
        </p:nvSpPr>
        <p:spPr>
          <a:xfrm>
            <a:off x="4718304" y="3895344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候选目录树、场景树和证据映射。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1" name="Rectangle 26"/>
          <p:cNvSpPr/>
          <p:nvPr/>
        </p:nvSpPr>
        <p:spPr>
          <a:xfrm>
            <a:off x="7552944" y="3895344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每批保留评审门禁，避免误归类。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2" name="Rectangle 27"/>
          <p:cNvSpPr/>
          <p:nvPr/>
        </p:nvSpPr>
        <p:spPr>
          <a:xfrm>
            <a:off x="621792" y="4370831"/>
            <a:ext cx="896112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3" name="Rectangle 28"/>
          <p:cNvSpPr/>
          <p:nvPr/>
        </p:nvSpPr>
        <p:spPr>
          <a:xfrm>
            <a:off x="1517904" y="4370831"/>
            <a:ext cx="32004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只为新增、变更或评审修改的场景生成作业表。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5" name="Rectangle 29"/>
          <p:cNvSpPr/>
          <p:nvPr/>
        </p:nvSpPr>
        <p:spPr>
          <a:xfrm>
            <a:off x="4718304" y="4370831"/>
            <a:ext cx="28346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已批准作业表和发布包。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6" name="Rectangle 30"/>
          <p:cNvSpPr/>
          <p:nvPr/>
        </p:nvSpPr>
        <p:spPr>
          <a:xfrm>
            <a:off x="7552944" y="4370831"/>
            <a:ext cx="33832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已有页面以补强为主，不整页重写。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7" name="Rectangle 31"/>
          <p:cNvSpPr/>
          <p:nvPr/>
        </p:nvSpPr>
        <p:spPr>
          <a:xfrm>
            <a:off x="621792" y="4846320"/>
            <a:ext cx="89611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8" name="Rectangle 32"/>
          <p:cNvSpPr/>
          <p:nvPr/>
        </p:nvSpPr>
        <p:spPr>
          <a:xfrm>
            <a:off x="1517904" y="484632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只发布人工批准内容，发布前检查线上页面变化。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" name="Rectangle 33"/>
          <p:cNvSpPr/>
          <p:nvPr/>
        </p:nvSpPr>
        <p:spPr>
          <a:xfrm>
            <a:off x="4718304" y="484632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正式知识库增量页面。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1" name="Rectangle 34"/>
          <p:cNvSpPr/>
          <p:nvPr/>
        </p:nvSpPr>
        <p:spPr>
          <a:xfrm>
            <a:off x="7552944" y="4846320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页面被人工修改时阻止自动覆盖。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2" name="Rectangle 35"/>
          <p:cNvSpPr/>
          <p:nvPr/>
        </p:nvSpPr>
        <p:spPr>
          <a:xfrm>
            <a:off x="621792" y="5577840"/>
            <a:ext cx="5102352" cy="713232"/>
          </a:xfrm>
          <a:prstGeom prst="rect">
            <a:avLst/>
          </a:prstGeom>
          <a:solidFill>
            <a:srgbClr val="F7FAFF"/>
          </a:solidFill>
          <a:ln w="12700">
            <a:solidFill>
              <a:srgbClr val="B8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F6F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运行优化</a:t>
            </a:r>
            <a:endParaRPr sz="1000" b="1">
              <a:solidFill>
                <a:srgbClr val="2F6F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调小高风险批次、压缩证据摘要、保留模型兜底和超时重试，降低失败率。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3" name="Rectangle 36"/>
          <p:cNvSpPr/>
          <p:nvPr/>
        </p:nvSpPr>
        <p:spPr>
          <a:xfrm>
            <a:off x="6053328" y="5577840"/>
            <a:ext cx="5102352" cy="713232"/>
          </a:xfrm>
          <a:prstGeom prst="rect">
            <a:avLst/>
          </a:prstGeom>
          <a:solidFill>
            <a:srgbClr val="F2FBF7"/>
          </a:solidFill>
          <a:ln w="12700">
            <a:solidFill>
              <a:srgbClr val="B7E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F85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目标结果</a:t>
            </a:r>
            <a:endParaRPr sz="1000" b="1">
              <a:solidFill>
                <a:srgbClr val="2F85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把全量工单沉淀为可评审、可增量维护、可安全发布的完整标准作业树。</a:t>
            </a:r>
            <a:endParaRPr sz="1000" b="0">
              <a:solidFill>
                <a:srgbClr val="2430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 bwMode="auto">
          <a:xfrm>
            <a:off x="360045" y="324485"/>
            <a:ext cx="9401810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四、工作计划：SPD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 useBgFill="1">
        <p:nvSpPr>
          <p:cNvPr id="24" name="矩形: 圆角 24"/>
          <p:cNvSpPr/>
          <p:nvPr>
            <p:custDataLst>
              <p:tags r:id="rId1"/>
            </p:custDataLst>
          </p:nvPr>
        </p:nvSpPr>
        <p:spPr>
          <a:xfrm>
            <a:off x="696913" y="4598843"/>
            <a:ext cx="10799445" cy="1332152"/>
          </a:xfrm>
          <a:prstGeom prst="roundRect">
            <a:avLst>
              <a:gd name="adj" fmla="val 50000"/>
            </a:avLst>
          </a:prstGeom>
          <a:ln w="3175">
            <a:gradFill>
              <a:gsLst>
                <a:gs pos="0">
                  <a:schemeClr val="accent3">
                    <a:lumMod val="60000"/>
                    <a:lumOff val="40000"/>
                    <a:alpha val="35000"/>
                  </a:schemeClr>
                </a:gs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>
            <a:outerShdw blurRad="254000" dist="127000" dir="2700000" algn="tl" rotWithShape="0">
              <a:schemeClr val="accent3">
                <a:lumMod val="40000"/>
                <a:lumOff val="6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736000" tIns="100013" rIns="622301" bIns="100012" numCol="1" spcCol="0" rtlCol="0" fromWordArt="0" anchor="ctr" anchorCtr="0" forceAA="0" compatLnSpc="1">
            <a:no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zh-CN" sz="1600" dirty="0">
              <a:solidFill>
                <a:schemeClr val="dk1">
                  <a:lumMod val="100000"/>
                </a:schemeClr>
              </a:solidFill>
              <a:effectLst/>
              <a:latin typeface="等线" charset="0"/>
              <a:ea typeface="等线" charset="0"/>
              <a:cs typeface="+mn-ea"/>
              <a:sym typeface="+mn-ea"/>
            </a:endParaRPr>
          </a:p>
        </p:txBody>
      </p:sp>
      <p:sp>
        <p:nvSpPr>
          <p:cNvPr id="25" name="矩形: 圆角 18"/>
          <p:cNvSpPr/>
          <p:nvPr>
            <p:custDataLst>
              <p:tags r:id="rId2"/>
            </p:custDataLst>
          </p:nvPr>
        </p:nvSpPr>
        <p:spPr>
          <a:xfrm>
            <a:off x="696913" y="4598843"/>
            <a:ext cx="10799445" cy="1332152"/>
          </a:xfrm>
          <a:prstGeom prst="roundRect">
            <a:avLst>
              <a:gd name="adj" fmla="val 50000"/>
            </a:avLst>
          </a:prstGeom>
          <a:solidFill>
            <a:schemeClr val="lt1">
              <a:lumMod val="100000"/>
              <a:alpha val="2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628000" tIns="238580" rIns="622300" bIns="238581" numCol="1" spcCol="0" rtlCol="0" fromWordArt="0" anchor="ctr" anchorCtr="0" forceAA="0" compatLnSpc="1">
            <a:no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等线" charset="0"/>
              <a:ea typeface="等线" charset="0"/>
              <a:cs typeface="+mn-ea"/>
              <a:sym typeface="+mn-ea"/>
            </a:endParaRPr>
          </a:p>
        </p:txBody>
      </p:sp>
      <p:sp useBgFill="1">
        <p:nvSpPr>
          <p:cNvPr id="28" name="矩形: 圆角 21"/>
          <p:cNvSpPr/>
          <p:nvPr>
            <p:custDataLst>
              <p:tags r:id="rId3"/>
            </p:custDataLst>
          </p:nvPr>
        </p:nvSpPr>
        <p:spPr>
          <a:xfrm>
            <a:off x="696913" y="3044454"/>
            <a:ext cx="10799445" cy="1332152"/>
          </a:xfrm>
          <a:prstGeom prst="roundRect">
            <a:avLst>
              <a:gd name="adj" fmla="val 50000"/>
            </a:avLst>
          </a:prstGeom>
          <a:ln w="3175">
            <a:gradFill>
              <a:gsLst>
                <a:gs pos="0">
                  <a:schemeClr val="accent2">
                    <a:lumMod val="60000"/>
                    <a:lumOff val="40000"/>
                    <a:alpha val="35000"/>
                  </a:schemeClr>
                </a:gs>
                <a:gs pos="100000">
                  <a:schemeClr val="accent2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>
            <a:outerShdw blurRad="254000" dist="127000" dir="2700000" algn="tl" rotWithShape="0">
              <a:schemeClr val="accent2">
                <a:lumMod val="40000"/>
                <a:lumOff val="6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736000" tIns="100013" rIns="622301" bIns="100012" numCol="1" spcCol="0" rtlCol="0" fromWordArt="0" anchor="ctr" anchorCtr="0" forceAA="0" compatLnSpc="1">
            <a:no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zh-CN" sz="1600" dirty="0">
              <a:solidFill>
                <a:schemeClr val="dk1">
                  <a:lumMod val="100000"/>
                </a:schemeClr>
              </a:solidFill>
              <a:effectLst/>
              <a:latin typeface="等线" charset="0"/>
              <a:ea typeface="等线" charset="0"/>
              <a:cs typeface="+mn-ea"/>
              <a:sym typeface="+mn-ea"/>
            </a:endParaRPr>
          </a:p>
        </p:txBody>
      </p:sp>
      <p:sp>
        <p:nvSpPr>
          <p:cNvPr id="33" name="矩形: 圆角 18"/>
          <p:cNvSpPr/>
          <p:nvPr>
            <p:custDataLst>
              <p:tags r:id="rId4"/>
            </p:custDataLst>
          </p:nvPr>
        </p:nvSpPr>
        <p:spPr>
          <a:xfrm>
            <a:off x="696913" y="3044454"/>
            <a:ext cx="10799445" cy="1332152"/>
          </a:xfrm>
          <a:prstGeom prst="roundRect">
            <a:avLst>
              <a:gd name="adj" fmla="val 50000"/>
            </a:avLst>
          </a:prstGeom>
          <a:solidFill>
            <a:schemeClr val="lt1">
              <a:lumMod val="100000"/>
              <a:alpha val="2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628000" tIns="238580" rIns="622300" bIns="238581" numCol="1" spcCol="0" rtlCol="0" fromWordArt="0" anchor="ctr" anchorCtr="0" forceAA="0" compatLnSpc="1">
            <a:no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等线" charset="0"/>
              <a:ea typeface="等线" charset="0"/>
              <a:cs typeface="+mn-ea"/>
              <a:sym typeface="+mn-ea"/>
            </a:endParaRPr>
          </a:p>
        </p:txBody>
      </p:sp>
      <p:sp useBgFill="1">
        <p:nvSpPr>
          <p:cNvPr id="34" name="矩形: 圆角 18"/>
          <p:cNvSpPr/>
          <p:nvPr>
            <p:custDataLst>
              <p:tags r:id="rId5"/>
            </p:custDataLst>
          </p:nvPr>
        </p:nvSpPr>
        <p:spPr>
          <a:xfrm>
            <a:off x="696913" y="1490066"/>
            <a:ext cx="10799445" cy="1332152"/>
          </a:xfrm>
          <a:prstGeom prst="roundRect">
            <a:avLst>
              <a:gd name="adj" fmla="val 50000"/>
            </a:avLst>
          </a:prstGeom>
          <a:ln w="3175">
            <a:gradFill>
              <a:gsLst>
                <a:gs pos="0">
                  <a:schemeClr val="accent1">
                    <a:lumMod val="60000"/>
                    <a:lumOff val="40000"/>
                    <a:alpha val="3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>
            <a:outerShdw blurRad="254000" dist="127000" dir="2700000" algn="tl" rotWithShape="0">
              <a:schemeClr val="accent1">
                <a:lumMod val="40000"/>
                <a:lumOff val="6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736000" tIns="100013" rIns="622301" bIns="100012" numCol="1" spcCol="0" rtlCol="0" fromWordArt="0" anchor="ctr" anchorCtr="0" forceAA="0" compatLnSpc="1">
            <a:noAutofit/>
          </a:bodyPr>
          <a:p>
            <a:pPr marL="0" algn="l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zh-CN" sz="1600" dirty="0">
              <a:solidFill>
                <a:schemeClr val="dk1">
                  <a:lumMod val="100000"/>
                </a:schemeClr>
              </a:solidFill>
              <a:effectLst/>
              <a:latin typeface="等线" charset="0"/>
              <a:ea typeface="等线" charset="0"/>
              <a:cs typeface="+mn-ea"/>
              <a:sym typeface="+mn-ea"/>
            </a:endParaRPr>
          </a:p>
        </p:txBody>
      </p:sp>
      <p:sp>
        <p:nvSpPr>
          <p:cNvPr id="35" name="矩形: 圆角 18"/>
          <p:cNvSpPr/>
          <p:nvPr>
            <p:custDataLst>
              <p:tags r:id="rId6"/>
            </p:custDataLst>
          </p:nvPr>
        </p:nvSpPr>
        <p:spPr>
          <a:xfrm>
            <a:off x="696913" y="1490066"/>
            <a:ext cx="10799445" cy="1332152"/>
          </a:xfrm>
          <a:prstGeom prst="roundRect">
            <a:avLst>
              <a:gd name="adj" fmla="val 50000"/>
            </a:avLst>
          </a:prstGeom>
          <a:solidFill>
            <a:schemeClr val="lt1">
              <a:lumMod val="100000"/>
              <a:alpha val="2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628000" tIns="238580" rIns="622300" bIns="238581" numCol="1" spcCol="0" rtlCol="0" fromWordArt="0" anchor="ctr" anchorCtr="0" forceAA="0" compatLnSpc="1">
            <a:no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等线" charset="0"/>
              <a:ea typeface="等线" charset="0"/>
              <a:cs typeface="+mn-ea"/>
              <a:sym typeface="+mn-ea"/>
            </a:endParaRPr>
          </a:p>
        </p:txBody>
      </p:sp>
      <p:sp>
        <p:nvSpPr>
          <p:cNvPr id="36" name="矩形 9"/>
          <p:cNvSpPr/>
          <p:nvPr>
            <p:custDataLst>
              <p:tags r:id="rId7"/>
            </p:custDataLst>
          </p:nvPr>
        </p:nvSpPr>
        <p:spPr>
          <a:xfrm>
            <a:off x="1288063" y="1589755"/>
            <a:ext cx="2203320" cy="11327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等线" charset="0"/>
                <a:ea typeface="等线" charset="0"/>
                <a:cs typeface="等线" charset="0"/>
                <a:sym typeface="+mn-ea"/>
              </a:rPr>
              <a:t>服务管理</a:t>
            </a:r>
            <a:r>
              <a:rPr lang="en-US" altLang="zh-CN" sz="2400" b="1">
                <a:solidFill>
                  <a:schemeClr val="accent1"/>
                </a:solidFill>
                <a:latin typeface="等线" charset="0"/>
                <a:ea typeface="等线" charset="0"/>
                <a:cs typeface="等线" charset="0"/>
                <a:sym typeface="+mn-ea"/>
              </a:rPr>
              <a:t>AI</a:t>
            </a:r>
            <a:r>
              <a:rPr lang="zh-CN" altLang="en-US" sz="2400" b="1">
                <a:solidFill>
                  <a:schemeClr val="accent1"/>
                </a:solidFill>
                <a:latin typeface="等线" charset="0"/>
                <a:ea typeface="等线" charset="0"/>
                <a:cs typeface="等线" charset="0"/>
                <a:sym typeface="+mn-ea"/>
              </a:rPr>
              <a:t>化</a:t>
            </a:r>
            <a:endParaRPr lang="zh-CN" altLang="en-US" sz="2400" b="1">
              <a:solidFill>
                <a:schemeClr val="accent1"/>
              </a:solidFill>
              <a:latin typeface="等线" charset="0"/>
              <a:ea typeface="等线" charset="0"/>
              <a:cs typeface="等线" charset="0"/>
              <a:sym typeface="+mn-ea"/>
            </a:endParaRPr>
          </a:p>
        </p:txBody>
      </p:sp>
      <p:sp>
        <p:nvSpPr>
          <p:cNvPr id="37" name="矩形 36"/>
          <p:cNvSpPr/>
          <p:nvPr>
            <p:custDataLst>
              <p:tags r:id="rId8"/>
            </p:custDataLst>
          </p:nvPr>
        </p:nvSpPr>
        <p:spPr>
          <a:xfrm>
            <a:off x="1288063" y="3144143"/>
            <a:ext cx="2203320" cy="11327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2"/>
                </a:solidFill>
                <a:latin typeface="等线" charset="0"/>
                <a:ea typeface="等线" charset="0"/>
                <a:cs typeface="+mn-ea"/>
                <a:sym typeface="+mn-ea"/>
              </a:rPr>
              <a:t>服务产品管理</a:t>
            </a:r>
            <a:endParaRPr lang="zh-CN" altLang="en-US" sz="2400" b="1">
              <a:solidFill>
                <a:schemeClr val="accent2"/>
              </a:solidFill>
              <a:latin typeface="等线" charset="0"/>
              <a:ea typeface="等线" charset="0"/>
              <a:cs typeface="+mn-ea"/>
              <a:sym typeface="+mn-ea"/>
            </a:endParaRPr>
          </a:p>
        </p:txBody>
      </p:sp>
      <p:sp>
        <p:nvSpPr>
          <p:cNvPr id="38" name="矩形 11"/>
          <p:cNvSpPr/>
          <p:nvPr>
            <p:custDataLst>
              <p:tags r:id="rId9"/>
            </p:custDataLst>
          </p:nvPr>
        </p:nvSpPr>
        <p:spPr>
          <a:xfrm>
            <a:off x="1288063" y="4698532"/>
            <a:ext cx="2203320" cy="11327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3"/>
                </a:solidFill>
                <a:latin typeface="等线" charset="0"/>
                <a:ea typeface="等线" charset="0"/>
                <a:cs typeface="+mn-ea"/>
                <a:sym typeface="+mn-ea"/>
              </a:rPr>
              <a:t>其他工作</a:t>
            </a:r>
            <a:endParaRPr lang="zh-CN" altLang="en-US" sz="2400" b="1">
              <a:solidFill>
                <a:schemeClr val="accent3"/>
              </a:solidFill>
              <a:latin typeface="等线" charset="0"/>
              <a:ea typeface="等线" charset="0"/>
              <a:cs typeface="+mn-ea"/>
              <a:sym typeface="+mn-ea"/>
            </a:endParaRPr>
          </a:p>
        </p:txBody>
      </p:sp>
      <p:sp>
        <p:nvSpPr>
          <p:cNvPr id="39" name="正文"/>
          <p:cNvSpPr txBox="1"/>
          <p:nvPr>
            <p:custDataLst>
              <p:tags r:id="rId10"/>
            </p:custDataLst>
          </p:nvPr>
        </p:nvSpPr>
        <p:spPr>
          <a:xfrm>
            <a:off x="3525672" y="1625948"/>
            <a:ext cx="7113487" cy="10375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algn="l" fontAlgn="auto">
              <a:lnSpc>
                <a:spcPct val="130000"/>
              </a:lnSpc>
            </a:pP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服务流程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AI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化蓝图梳理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等线" charset="0"/>
              <a:ea typeface="等线" charset="0"/>
              <a:cs typeface="等线" charset="0"/>
              <a:sym typeface="+mn-ea"/>
            </a:endParaRPr>
          </a:p>
          <a:p>
            <a:pPr indent="0" algn="l" fontAlgn="auto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服务数据运营及管理平台搭建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等线" charset="0"/>
              <a:ea typeface="等线" charset="0"/>
              <a:cs typeface="等线" charset="0"/>
              <a:sym typeface="+mn-ea"/>
            </a:endParaRPr>
          </a:p>
          <a:p>
            <a:pPr indent="0" algn="l" fontAlgn="auto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不同服务渠道数据统一入口方案调研（七鱼数据接入、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callcenter)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等线" charset="0"/>
              <a:ea typeface="等线" charset="0"/>
              <a:cs typeface="等线" charset="0"/>
              <a:sym typeface="+mn-ea"/>
            </a:endParaRPr>
          </a:p>
        </p:txBody>
      </p:sp>
      <p:sp>
        <p:nvSpPr>
          <p:cNvPr id="40" name="正文"/>
          <p:cNvSpPr txBox="1"/>
          <p:nvPr>
            <p:custDataLst>
              <p:tags r:id="rId11"/>
            </p:custDataLst>
          </p:nvPr>
        </p:nvSpPr>
        <p:spPr>
          <a:xfrm>
            <a:off x="3527577" y="3191766"/>
            <a:ext cx="7113487" cy="10375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algn="l" fontAlgn="auto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鸿蒙客户端服务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SLA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梳理；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等线" charset="0"/>
              <a:ea typeface="等线" charset="0"/>
              <a:cs typeface="等线" charset="0"/>
              <a:sym typeface="+mn-ea"/>
            </a:endParaRPr>
          </a:p>
          <a:p>
            <a:pPr indent="0" algn="l" fontAlgn="auto">
              <a:lnSpc>
                <a:spcPct val="130000"/>
              </a:lnSpc>
            </a:pP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安全产品（特别是网关）服务价格策略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RV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；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等线" charset="0"/>
              <a:ea typeface="等线" charset="0"/>
              <a:cs typeface="等线" charset="0"/>
              <a:sym typeface="+mn-ea"/>
            </a:endParaRPr>
          </a:p>
          <a:p>
            <a:pPr indent="0" algn="l" fontAlgn="auto">
              <a:lnSpc>
                <a:spcPct val="130000"/>
              </a:lnSpc>
            </a:pPr>
            <a:r>
              <a:rPr lang="zh-CN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高净值服务调研及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AI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服务产品调研；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等线" charset="0"/>
              <a:ea typeface="等线" charset="0"/>
              <a:cs typeface="等线" charset="0"/>
              <a:sym typeface="+mn-ea"/>
            </a:endParaRPr>
          </a:p>
          <a:p>
            <a:pPr indent="0" algn="l" fontAlgn="auto">
              <a:lnSpc>
                <a:spcPct val="130000"/>
              </a:lnSpc>
            </a:pPr>
            <a:r>
              <a:rPr lang="zh-CN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驻场服务新价格策略发布及需求对接</a:t>
            </a:r>
            <a:endParaRPr lang="zh-CN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等线" charset="0"/>
              <a:ea typeface="等线" charset="0"/>
              <a:cs typeface="等线" charset="0"/>
              <a:sym typeface="+mn-ea"/>
            </a:endParaRPr>
          </a:p>
        </p:txBody>
      </p:sp>
      <p:sp>
        <p:nvSpPr>
          <p:cNvPr id="41" name="正文"/>
          <p:cNvSpPr txBox="1"/>
          <p:nvPr>
            <p:custDataLst>
              <p:tags r:id="rId12"/>
            </p:custDataLst>
          </p:nvPr>
        </p:nvSpPr>
        <p:spPr>
          <a:xfrm>
            <a:off x="3527577" y="4746154"/>
            <a:ext cx="7113487" cy="10375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algn="l" fontAlgn="auto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2026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年度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OGSM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指标梳理；</a:t>
            </a:r>
            <a:endParaRPr 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等线" charset="0"/>
              <a:ea typeface="等线" charset="0"/>
              <a:cs typeface="等线" charset="0"/>
              <a:sym typeface="+mn-ea"/>
            </a:endParaRPr>
          </a:p>
          <a:p>
            <a:pPr indent="0" algn="l" fontAlgn="auto">
              <a:lnSpc>
                <a:spcPct val="130000"/>
              </a:lnSpc>
            </a:pP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等线" charset="0"/>
                <a:ea typeface="等线" charset="0"/>
                <a:cs typeface="等线" charset="0"/>
                <a:sym typeface="+mn-ea"/>
              </a:rPr>
              <a:t>安全资质审核协助；</a:t>
            </a:r>
            <a:endParaRPr 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等线" charset="0"/>
              <a:ea typeface="等线" charset="0"/>
              <a:cs typeface="等线" charset="0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>
            <a:spLocks noChangeArrowheads="1"/>
          </p:cNvSpPr>
          <p:nvPr/>
        </p:nvSpPr>
        <p:spPr bwMode="auto">
          <a:xfrm>
            <a:off x="268923" y="256540"/>
            <a:ext cx="9424987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四、工作计划：</a:t>
            </a: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微软雅黑" panose="020B0503020204020204" pitchFamily="34" charset="-122"/>
              </a:rPr>
              <a:t>BD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3692525" y="1967230"/>
            <a:ext cx="1140460" cy="1159510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3514090" y="5321935"/>
            <a:ext cx="547370" cy="574040"/>
          </a:xfrm>
          <a:prstGeom prst="rect">
            <a:avLst/>
          </a:pr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957580" y="3884930"/>
            <a:ext cx="1697990" cy="1710055"/>
          </a:xfrm>
          <a:prstGeom prst="rect">
            <a:avLst/>
          </a:prstGeom>
          <a:solidFill>
            <a:schemeClr val="accent1">
              <a:alpha val="51000"/>
            </a:schemeClr>
          </a:solidFill>
          <a:ln w="285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1495425" y="1784985"/>
            <a:ext cx="1054735" cy="11068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2" name="任意多边形: 形状 41"/>
          <p:cNvSpPr/>
          <p:nvPr>
            <p:custDataLst>
              <p:tags r:id="rId5"/>
            </p:custDataLst>
          </p:nvPr>
        </p:nvSpPr>
        <p:spPr>
          <a:xfrm>
            <a:off x="1866900" y="2141220"/>
            <a:ext cx="311785" cy="259715"/>
          </a:xfrm>
          <a:custGeom>
            <a:avLst/>
            <a:gdLst>
              <a:gd name="connsiteX0" fmla="*/ 155528 w 311871"/>
              <a:gd name="connsiteY0" fmla="*/ 259481 h 259786"/>
              <a:gd name="connsiteX1" fmla="*/ 134694 w 311871"/>
              <a:gd name="connsiteY1" fmla="*/ 252265 h 259786"/>
              <a:gd name="connsiteX2" fmla="*/ 12424 w 311871"/>
              <a:gd name="connsiteY2" fmla="*/ 155893 h 259786"/>
              <a:gd name="connsiteX3" fmla="*/ -379 w 311871"/>
              <a:gd name="connsiteY3" fmla="*/ 129472 h 259786"/>
              <a:gd name="connsiteX4" fmla="*/ 12424 w 311871"/>
              <a:gd name="connsiteY4" fmla="*/ 103051 h 259786"/>
              <a:gd name="connsiteX5" fmla="*/ 134752 w 311871"/>
              <a:gd name="connsiteY5" fmla="*/ 6678 h 259786"/>
              <a:gd name="connsiteX6" fmla="*/ 176362 w 311871"/>
              <a:gd name="connsiteY6" fmla="*/ 6678 h 259786"/>
              <a:gd name="connsiteX7" fmla="*/ 298690 w 311871"/>
              <a:gd name="connsiteY7" fmla="*/ 103051 h 259786"/>
              <a:gd name="connsiteX8" fmla="*/ 311493 w 311871"/>
              <a:gd name="connsiteY8" fmla="*/ 129472 h 259786"/>
              <a:gd name="connsiteX9" fmla="*/ 298690 w 311871"/>
              <a:gd name="connsiteY9" fmla="*/ 155893 h 259786"/>
              <a:gd name="connsiteX10" fmla="*/ 176362 w 311871"/>
              <a:gd name="connsiteY10" fmla="*/ 252265 h 259786"/>
              <a:gd name="connsiteX11" fmla="*/ 155528 w 311871"/>
              <a:gd name="connsiteY11" fmla="*/ 259481 h 259786"/>
              <a:gd name="connsiteX12" fmla="*/ 155528 w 311871"/>
              <a:gd name="connsiteY12" fmla="*/ 21926 h 259786"/>
              <a:gd name="connsiteX13" fmla="*/ 148603 w 311871"/>
              <a:gd name="connsiteY13" fmla="*/ 24312 h 259786"/>
              <a:gd name="connsiteX14" fmla="*/ 26275 w 311871"/>
              <a:gd name="connsiteY14" fmla="*/ 120684 h 259786"/>
              <a:gd name="connsiteX15" fmla="*/ 22027 w 311871"/>
              <a:gd name="connsiteY15" fmla="*/ 129472 h 259786"/>
              <a:gd name="connsiteX16" fmla="*/ 26275 w 311871"/>
              <a:gd name="connsiteY16" fmla="*/ 138259 h 259786"/>
              <a:gd name="connsiteX17" fmla="*/ 148603 w 311871"/>
              <a:gd name="connsiteY17" fmla="*/ 234632 h 259786"/>
              <a:gd name="connsiteX18" fmla="*/ 162453 w 311871"/>
              <a:gd name="connsiteY18" fmla="*/ 234632 h 259786"/>
              <a:gd name="connsiteX19" fmla="*/ 284781 w 311871"/>
              <a:gd name="connsiteY19" fmla="*/ 138259 h 259786"/>
              <a:gd name="connsiteX20" fmla="*/ 289029 w 311871"/>
              <a:gd name="connsiteY20" fmla="*/ 129472 h 259786"/>
              <a:gd name="connsiteX21" fmla="*/ 284781 w 311871"/>
              <a:gd name="connsiteY21" fmla="*/ 120684 h 259786"/>
              <a:gd name="connsiteX22" fmla="*/ 162511 w 311871"/>
              <a:gd name="connsiteY22" fmla="*/ 24312 h 259786"/>
              <a:gd name="connsiteX23" fmla="*/ 155528 w 311871"/>
              <a:gd name="connsiteY23" fmla="*/ 21926 h 259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11871" h="259786">
                <a:moveTo>
                  <a:pt x="155528" y="259481"/>
                </a:moveTo>
                <a:cubicBezTo>
                  <a:pt x="148021" y="259481"/>
                  <a:pt x="140630" y="256921"/>
                  <a:pt x="134694" y="252265"/>
                </a:cubicBezTo>
                <a:lnTo>
                  <a:pt x="12424" y="155893"/>
                </a:lnTo>
                <a:cubicBezTo>
                  <a:pt x="4277" y="149491"/>
                  <a:pt x="-379" y="139831"/>
                  <a:pt x="-379" y="129472"/>
                </a:cubicBezTo>
                <a:cubicBezTo>
                  <a:pt x="-379" y="119113"/>
                  <a:pt x="4277" y="109452"/>
                  <a:pt x="12424" y="103051"/>
                </a:cubicBezTo>
                <a:lnTo>
                  <a:pt x="134752" y="6678"/>
                </a:lnTo>
                <a:cubicBezTo>
                  <a:pt x="146566" y="-2633"/>
                  <a:pt x="164548" y="-2633"/>
                  <a:pt x="176362" y="6678"/>
                </a:cubicBezTo>
                <a:lnTo>
                  <a:pt x="298690" y="103051"/>
                </a:lnTo>
                <a:cubicBezTo>
                  <a:pt x="306837" y="109452"/>
                  <a:pt x="311493" y="119113"/>
                  <a:pt x="311493" y="129472"/>
                </a:cubicBezTo>
                <a:cubicBezTo>
                  <a:pt x="311493" y="139831"/>
                  <a:pt x="306837" y="149491"/>
                  <a:pt x="298690" y="155893"/>
                </a:cubicBezTo>
                <a:lnTo>
                  <a:pt x="176362" y="252265"/>
                </a:lnTo>
                <a:cubicBezTo>
                  <a:pt x="170484" y="256921"/>
                  <a:pt x="163093" y="259481"/>
                  <a:pt x="155528" y="259481"/>
                </a:cubicBezTo>
                <a:moveTo>
                  <a:pt x="155528" y="21926"/>
                </a:moveTo>
                <a:cubicBezTo>
                  <a:pt x="152967" y="21926"/>
                  <a:pt x="150581" y="22740"/>
                  <a:pt x="148603" y="24312"/>
                </a:cubicBezTo>
                <a:lnTo>
                  <a:pt x="26275" y="120684"/>
                </a:lnTo>
                <a:cubicBezTo>
                  <a:pt x="23540" y="122837"/>
                  <a:pt x="22027" y="126038"/>
                  <a:pt x="22027" y="129472"/>
                </a:cubicBezTo>
                <a:cubicBezTo>
                  <a:pt x="22027" y="132905"/>
                  <a:pt x="23598" y="136164"/>
                  <a:pt x="26275" y="138259"/>
                </a:cubicBezTo>
                <a:lnTo>
                  <a:pt x="148603" y="234632"/>
                </a:lnTo>
                <a:cubicBezTo>
                  <a:pt x="152618" y="237774"/>
                  <a:pt x="158496" y="237774"/>
                  <a:pt x="162453" y="234632"/>
                </a:cubicBezTo>
                <a:lnTo>
                  <a:pt x="284781" y="138259"/>
                </a:lnTo>
                <a:cubicBezTo>
                  <a:pt x="287516" y="136106"/>
                  <a:pt x="289029" y="132905"/>
                  <a:pt x="289029" y="129472"/>
                </a:cubicBezTo>
                <a:cubicBezTo>
                  <a:pt x="289029" y="126038"/>
                  <a:pt x="287458" y="122779"/>
                  <a:pt x="284781" y="120684"/>
                </a:cubicBezTo>
                <a:lnTo>
                  <a:pt x="162511" y="24312"/>
                </a:lnTo>
                <a:cubicBezTo>
                  <a:pt x="160475" y="22740"/>
                  <a:pt x="158089" y="21926"/>
                  <a:pt x="155528" y="21926"/>
                </a:cubicBezTo>
              </a:path>
            </a:pathLst>
          </a:custGeom>
          <a:solidFill>
            <a:srgbClr val="FFFFFF"/>
          </a:solidFill>
          <a:ln w="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3" name="任意多边形: 形状 42"/>
          <p:cNvSpPr/>
          <p:nvPr>
            <p:custDataLst>
              <p:tags r:id="rId6"/>
            </p:custDataLst>
          </p:nvPr>
        </p:nvSpPr>
        <p:spPr>
          <a:xfrm>
            <a:off x="1852930" y="2327275"/>
            <a:ext cx="339725" cy="140970"/>
          </a:xfrm>
          <a:custGeom>
            <a:avLst/>
            <a:gdLst>
              <a:gd name="connsiteX0" fmla="*/ 169353 w 339580"/>
              <a:gd name="connsiteY0" fmla="*/ 140816 h 141256"/>
              <a:gd name="connsiteX1" fmla="*/ 148519 w 339580"/>
              <a:gd name="connsiteY1" fmla="*/ 133542 h 141256"/>
              <a:gd name="connsiteX2" fmla="*/ 3903 w 339580"/>
              <a:gd name="connsiteY2" fmla="*/ 19594 h 141256"/>
              <a:gd name="connsiteX3" fmla="*/ 2040 w 339580"/>
              <a:gd name="connsiteY3" fmla="*/ 3823 h 141256"/>
              <a:gd name="connsiteX4" fmla="*/ 17811 w 339580"/>
              <a:gd name="connsiteY4" fmla="*/ 1961 h 141256"/>
              <a:gd name="connsiteX5" fmla="*/ 162486 w 339580"/>
              <a:gd name="connsiteY5" fmla="*/ 115966 h 141256"/>
              <a:gd name="connsiteX6" fmla="*/ 176337 w 339580"/>
              <a:gd name="connsiteY6" fmla="*/ 115966 h 141256"/>
              <a:gd name="connsiteX7" fmla="*/ 321012 w 339580"/>
              <a:gd name="connsiteY7" fmla="*/ 1961 h 141256"/>
              <a:gd name="connsiteX8" fmla="*/ 336783 w 339580"/>
              <a:gd name="connsiteY8" fmla="*/ 3823 h 141256"/>
              <a:gd name="connsiteX9" fmla="*/ 334921 w 339580"/>
              <a:gd name="connsiteY9" fmla="*/ 19594 h 141256"/>
              <a:gd name="connsiteX10" fmla="*/ 190188 w 339580"/>
              <a:gd name="connsiteY10" fmla="*/ 133542 h 141256"/>
              <a:gd name="connsiteX11" fmla="*/ 169353 w 339580"/>
              <a:gd name="connsiteY11" fmla="*/ 140816 h 141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39580" h="141256">
                <a:moveTo>
                  <a:pt x="169353" y="140816"/>
                </a:moveTo>
                <a:cubicBezTo>
                  <a:pt x="162021" y="140816"/>
                  <a:pt x="154688" y="138372"/>
                  <a:pt x="148519" y="133542"/>
                </a:cubicBezTo>
                <a:lnTo>
                  <a:pt x="3903" y="19594"/>
                </a:lnTo>
                <a:cubicBezTo>
                  <a:pt x="-986" y="15753"/>
                  <a:pt x="-1801" y="8711"/>
                  <a:pt x="2040" y="3823"/>
                </a:cubicBezTo>
                <a:cubicBezTo>
                  <a:pt x="5881" y="-1007"/>
                  <a:pt x="12923" y="-1880"/>
                  <a:pt x="17811" y="1961"/>
                </a:cubicBezTo>
                <a:lnTo>
                  <a:pt x="162486" y="115966"/>
                </a:lnTo>
                <a:cubicBezTo>
                  <a:pt x="166560" y="119167"/>
                  <a:pt x="172263" y="119167"/>
                  <a:pt x="176337" y="115966"/>
                </a:cubicBezTo>
                <a:lnTo>
                  <a:pt x="321012" y="1961"/>
                </a:lnTo>
                <a:cubicBezTo>
                  <a:pt x="325900" y="-1880"/>
                  <a:pt x="332942" y="-1007"/>
                  <a:pt x="336783" y="3823"/>
                </a:cubicBezTo>
                <a:cubicBezTo>
                  <a:pt x="340624" y="8711"/>
                  <a:pt x="339809" y="15753"/>
                  <a:pt x="334921" y="19594"/>
                </a:cubicBezTo>
                <a:lnTo>
                  <a:pt x="190188" y="133542"/>
                </a:lnTo>
                <a:cubicBezTo>
                  <a:pt x="184077" y="138372"/>
                  <a:pt x="176744" y="140816"/>
                  <a:pt x="169353" y="140816"/>
                </a:cubicBezTo>
                <a:close/>
              </a:path>
            </a:pathLst>
          </a:custGeom>
          <a:solidFill>
            <a:srgbClr val="FFFFFF"/>
          </a:solidFill>
          <a:ln w="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4" name="任意多边形: 形状 43"/>
          <p:cNvSpPr/>
          <p:nvPr>
            <p:custDataLst>
              <p:tags r:id="rId7"/>
            </p:custDataLst>
          </p:nvPr>
        </p:nvSpPr>
        <p:spPr>
          <a:xfrm>
            <a:off x="1852930" y="2394585"/>
            <a:ext cx="339725" cy="140970"/>
          </a:xfrm>
          <a:custGeom>
            <a:avLst/>
            <a:gdLst>
              <a:gd name="connsiteX0" fmla="*/ 169353 w 339580"/>
              <a:gd name="connsiteY0" fmla="*/ 140744 h 141256"/>
              <a:gd name="connsiteX1" fmla="*/ 148519 w 339580"/>
              <a:gd name="connsiteY1" fmla="*/ 133470 h 141256"/>
              <a:gd name="connsiteX2" fmla="*/ 3903 w 339580"/>
              <a:gd name="connsiteY2" fmla="*/ 19522 h 141256"/>
              <a:gd name="connsiteX3" fmla="*/ 2040 w 339580"/>
              <a:gd name="connsiteY3" fmla="*/ 3751 h 141256"/>
              <a:gd name="connsiteX4" fmla="*/ 17811 w 339580"/>
              <a:gd name="connsiteY4" fmla="*/ 1889 h 141256"/>
              <a:gd name="connsiteX5" fmla="*/ 162486 w 339580"/>
              <a:gd name="connsiteY5" fmla="*/ 115894 h 141256"/>
              <a:gd name="connsiteX6" fmla="*/ 176337 w 339580"/>
              <a:gd name="connsiteY6" fmla="*/ 115894 h 141256"/>
              <a:gd name="connsiteX7" fmla="*/ 321012 w 339580"/>
              <a:gd name="connsiteY7" fmla="*/ 1889 h 141256"/>
              <a:gd name="connsiteX8" fmla="*/ 336783 w 339580"/>
              <a:gd name="connsiteY8" fmla="*/ 3751 h 141256"/>
              <a:gd name="connsiteX9" fmla="*/ 334921 w 339580"/>
              <a:gd name="connsiteY9" fmla="*/ 19522 h 141256"/>
              <a:gd name="connsiteX10" fmla="*/ 190188 w 339580"/>
              <a:gd name="connsiteY10" fmla="*/ 133470 h 141256"/>
              <a:gd name="connsiteX11" fmla="*/ 169353 w 339580"/>
              <a:gd name="connsiteY11" fmla="*/ 140744 h 141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39580" h="141256">
                <a:moveTo>
                  <a:pt x="169353" y="140744"/>
                </a:moveTo>
                <a:cubicBezTo>
                  <a:pt x="162021" y="140744"/>
                  <a:pt x="154688" y="138300"/>
                  <a:pt x="148519" y="133470"/>
                </a:cubicBezTo>
                <a:lnTo>
                  <a:pt x="3903" y="19522"/>
                </a:lnTo>
                <a:cubicBezTo>
                  <a:pt x="-986" y="15681"/>
                  <a:pt x="-1801" y="8640"/>
                  <a:pt x="2040" y="3751"/>
                </a:cubicBezTo>
                <a:cubicBezTo>
                  <a:pt x="5881" y="-1079"/>
                  <a:pt x="12923" y="-1952"/>
                  <a:pt x="17811" y="1889"/>
                </a:cubicBezTo>
                <a:lnTo>
                  <a:pt x="162486" y="115894"/>
                </a:lnTo>
                <a:cubicBezTo>
                  <a:pt x="166560" y="119095"/>
                  <a:pt x="172263" y="119095"/>
                  <a:pt x="176337" y="115894"/>
                </a:cubicBezTo>
                <a:lnTo>
                  <a:pt x="321012" y="1889"/>
                </a:lnTo>
                <a:cubicBezTo>
                  <a:pt x="325900" y="-1952"/>
                  <a:pt x="332942" y="-1079"/>
                  <a:pt x="336783" y="3751"/>
                </a:cubicBezTo>
                <a:cubicBezTo>
                  <a:pt x="340624" y="8640"/>
                  <a:pt x="339809" y="15681"/>
                  <a:pt x="334921" y="19522"/>
                </a:cubicBezTo>
                <a:lnTo>
                  <a:pt x="190188" y="133470"/>
                </a:lnTo>
                <a:cubicBezTo>
                  <a:pt x="184077" y="138300"/>
                  <a:pt x="176744" y="140744"/>
                  <a:pt x="169353" y="140744"/>
                </a:cubicBezTo>
                <a:close/>
              </a:path>
            </a:pathLst>
          </a:custGeom>
          <a:solidFill>
            <a:srgbClr val="FFFFFF"/>
          </a:solidFill>
          <a:ln w="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1" name="任意多边形: 形状 50"/>
          <p:cNvSpPr/>
          <p:nvPr>
            <p:custDataLst>
              <p:tags r:id="rId8"/>
            </p:custDataLst>
          </p:nvPr>
        </p:nvSpPr>
        <p:spPr>
          <a:xfrm>
            <a:off x="3979545" y="2263775"/>
            <a:ext cx="470535" cy="567055"/>
          </a:xfrm>
          <a:custGeom>
            <a:avLst/>
            <a:gdLst>
              <a:gd name="connsiteX0" fmla="*/ 423113 w 470771"/>
              <a:gd name="connsiteY0" fmla="*/ 566633 h 567022"/>
              <a:gd name="connsiteX1" fmla="*/ 46860 w 470771"/>
              <a:gd name="connsiteY1" fmla="*/ 566633 h 567022"/>
              <a:gd name="connsiteX2" fmla="*/ -356 w 470771"/>
              <a:gd name="connsiteY2" fmla="*/ 522363 h 567022"/>
              <a:gd name="connsiteX3" fmla="*/ -356 w 470771"/>
              <a:gd name="connsiteY3" fmla="*/ 43880 h 567022"/>
              <a:gd name="connsiteX4" fmla="*/ 46860 w 470771"/>
              <a:gd name="connsiteY4" fmla="*/ -390 h 567022"/>
              <a:gd name="connsiteX5" fmla="*/ 423113 w 470771"/>
              <a:gd name="connsiteY5" fmla="*/ -390 h 567022"/>
              <a:gd name="connsiteX6" fmla="*/ 470329 w 470771"/>
              <a:gd name="connsiteY6" fmla="*/ 43880 h 567022"/>
              <a:gd name="connsiteX7" fmla="*/ 470329 w 470771"/>
              <a:gd name="connsiteY7" fmla="*/ 131555 h 567022"/>
              <a:gd name="connsiteX8" fmla="*/ 452569 w 470771"/>
              <a:gd name="connsiteY8" fmla="*/ 149315 h 567022"/>
              <a:gd name="connsiteX9" fmla="*/ 434809 w 470771"/>
              <a:gd name="connsiteY9" fmla="*/ 131555 h 567022"/>
              <a:gd name="connsiteX10" fmla="*/ 434809 w 470771"/>
              <a:gd name="connsiteY10" fmla="*/ 43880 h 567022"/>
              <a:gd name="connsiteX11" fmla="*/ 423027 w 470771"/>
              <a:gd name="connsiteY11" fmla="*/ 35044 h 567022"/>
              <a:gd name="connsiteX12" fmla="*/ 46860 w 470771"/>
              <a:gd name="connsiteY12" fmla="*/ 35044 h 567022"/>
              <a:gd name="connsiteX13" fmla="*/ 35078 w 470771"/>
              <a:gd name="connsiteY13" fmla="*/ 43880 h 567022"/>
              <a:gd name="connsiteX14" fmla="*/ 35078 w 470771"/>
              <a:gd name="connsiteY14" fmla="*/ 522363 h 567022"/>
              <a:gd name="connsiteX15" fmla="*/ 46860 w 470771"/>
              <a:gd name="connsiteY15" fmla="*/ 531199 h 567022"/>
              <a:gd name="connsiteX16" fmla="*/ 423113 w 470771"/>
              <a:gd name="connsiteY16" fmla="*/ 531199 h 567022"/>
              <a:gd name="connsiteX17" fmla="*/ 434896 w 470771"/>
              <a:gd name="connsiteY17" fmla="*/ 522363 h 567022"/>
              <a:gd name="connsiteX18" fmla="*/ 434896 w 470771"/>
              <a:gd name="connsiteY18" fmla="*/ 494120 h 567022"/>
              <a:gd name="connsiteX19" fmla="*/ 452656 w 470771"/>
              <a:gd name="connsiteY19" fmla="*/ 476360 h 567022"/>
              <a:gd name="connsiteX20" fmla="*/ 470416 w 470771"/>
              <a:gd name="connsiteY20" fmla="*/ 494120 h 567022"/>
              <a:gd name="connsiteX21" fmla="*/ 470416 w 470771"/>
              <a:gd name="connsiteY21" fmla="*/ 522363 h 567022"/>
              <a:gd name="connsiteX22" fmla="*/ 423113 w 470771"/>
              <a:gd name="connsiteY22" fmla="*/ 566633 h 567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70771" h="567022">
                <a:moveTo>
                  <a:pt x="423113" y="566633"/>
                </a:moveTo>
                <a:lnTo>
                  <a:pt x="46860" y="566633"/>
                </a:lnTo>
                <a:cubicBezTo>
                  <a:pt x="20783" y="566633"/>
                  <a:pt x="-356" y="546794"/>
                  <a:pt x="-356" y="522363"/>
                </a:cubicBezTo>
                <a:lnTo>
                  <a:pt x="-356" y="43880"/>
                </a:lnTo>
                <a:cubicBezTo>
                  <a:pt x="-356" y="19450"/>
                  <a:pt x="20870" y="-390"/>
                  <a:pt x="46860" y="-390"/>
                </a:cubicBezTo>
                <a:lnTo>
                  <a:pt x="423113" y="-390"/>
                </a:lnTo>
                <a:cubicBezTo>
                  <a:pt x="449190" y="-390"/>
                  <a:pt x="470329" y="19450"/>
                  <a:pt x="470329" y="43880"/>
                </a:cubicBezTo>
                <a:lnTo>
                  <a:pt x="470329" y="131555"/>
                </a:lnTo>
                <a:cubicBezTo>
                  <a:pt x="470329" y="141344"/>
                  <a:pt x="462446" y="149315"/>
                  <a:pt x="452569" y="149315"/>
                </a:cubicBezTo>
                <a:cubicBezTo>
                  <a:pt x="442693" y="149315"/>
                  <a:pt x="434809" y="141344"/>
                  <a:pt x="434809" y="131555"/>
                </a:cubicBezTo>
                <a:lnTo>
                  <a:pt x="434809" y="43880"/>
                </a:lnTo>
                <a:cubicBezTo>
                  <a:pt x="434809" y="39116"/>
                  <a:pt x="429438" y="35044"/>
                  <a:pt x="423027" y="35044"/>
                </a:cubicBezTo>
                <a:lnTo>
                  <a:pt x="46860" y="35044"/>
                </a:lnTo>
                <a:cubicBezTo>
                  <a:pt x="40449" y="35044"/>
                  <a:pt x="35078" y="39116"/>
                  <a:pt x="35078" y="43880"/>
                </a:cubicBezTo>
                <a:lnTo>
                  <a:pt x="35078" y="522363"/>
                </a:lnTo>
                <a:cubicBezTo>
                  <a:pt x="35078" y="527214"/>
                  <a:pt x="40449" y="531199"/>
                  <a:pt x="46860" y="531199"/>
                </a:cubicBezTo>
                <a:lnTo>
                  <a:pt x="423113" y="531199"/>
                </a:lnTo>
                <a:cubicBezTo>
                  <a:pt x="429524" y="531199"/>
                  <a:pt x="434896" y="527128"/>
                  <a:pt x="434896" y="522363"/>
                </a:cubicBezTo>
                <a:lnTo>
                  <a:pt x="434896" y="494120"/>
                </a:lnTo>
                <a:cubicBezTo>
                  <a:pt x="434896" y="484330"/>
                  <a:pt x="442779" y="476360"/>
                  <a:pt x="452656" y="476360"/>
                </a:cubicBezTo>
                <a:cubicBezTo>
                  <a:pt x="462532" y="476360"/>
                  <a:pt x="470416" y="484244"/>
                  <a:pt x="470416" y="494120"/>
                </a:cubicBezTo>
                <a:lnTo>
                  <a:pt x="470416" y="522363"/>
                </a:lnTo>
                <a:cubicBezTo>
                  <a:pt x="470416" y="546794"/>
                  <a:pt x="449190" y="566633"/>
                  <a:pt x="423113" y="566633"/>
                </a:cubicBezTo>
                <a:close/>
              </a:path>
            </a:pathLst>
          </a:custGeom>
          <a:solidFill>
            <a:srgbClr val="FFFFFF"/>
          </a:solidFill>
          <a:ln w="85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3" name="任意多边形: 形状 52"/>
          <p:cNvSpPr/>
          <p:nvPr>
            <p:custDataLst>
              <p:tags r:id="rId9"/>
            </p:custDataLst>
          </p:nvPr>
        </p:nvSpPr>
        <p:spPr>
          <a:xfrm>
            <a:off x="4071620" y="2410460"/>
            <a:ext cx="283845" cy="35560"/>
          </a:xfrm>
          <a:custGeom>
            <a:avLst/>
            <a:gdLst>
              <a:gd name="connsiteX0" fmla="*/ 265439 w 283641"/>
              <a:gd name="connsiteY0" fmla="*/ 35214 h 35520"/>
              <a:gd name="connsiteX1" fmla="*/ 17405 w 283641"/>
              <a:gd name="connsiteY1" fmla="*/ 35214 h 35520"/>
              <a:gd name="connsiteX2" fmla="*/ -355 w 283641"/>
              <a:gd name="connsiteY2" fmla="*/ 17454 h 35520"/>
              <a:gd name="connsiteX3" fmla="*/ 17405 w 283641"/>
              <a:gd name="connsiteY3" fmla="*/ -306 h 35520"/>
              <a:gd name="connsiteX4" fmla="*/ 265526 w 283641"/>
              <a:gd name="connsiteY4" fmla="*/ -306 h 35520"/>
              <a:gd name="connsiteX5" fmla="*/ 283286 w 283641"/>
              <a:gd name="connsiteY5" fmla="*/ 17454 h 35520"/>
              <a:gd name="connsiteX6" fmla="*/ 265439 w 283641"/>
              <a:gd name="connsiteY6" fmla="*/ 35214 h 35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3641" h="35520">
                <a:moveTo>
                  <a:pt x="265439" y="35214"/>
                </a:moveTo>
                <a:lnTo>
                  <a:pt x="17405" y="35214"/>
                </a:lnTo>
                <a:cubicBezTo>
                  <a:pt x="7615" y="35214"/>
                  <a:pt x="-355" y="27244"/>
                  <a:pt x="-355" y="17454"/>
                </a:cubicBezTo>
                <a:cubicBezTo>
                  <a:pt x="-355" y="7664"/>
                  <a:pt x="7615" y="-306"/>
                  <a:pt x="17405" y="-306"/>
                </a:cubicBezTo>
                <a:lnTo>
                  <a:pt x="265526" y="-306"/>
                </a:lnTo>
                <a:cubicBezTo>
                  <a:pt x="275316" y="-306"/>
                  <a:pt x="283286" y="7664"/>
                  <a:pt x="283286" y="17454"/>
                </a:cubicBezTo>
                <a:cubicBezTo>
                  <a:pt x="283286" y="27244"/>
                  <a:pt x="275316" y="35214"/>
                  <a:pt x="265439" y="35214"/>
                </a:cubicBezTo>
                <a:close/>
              </a:path>
            </a:pathLst>
          </a:custGeom>
          <a:solidFill>
            <a:srgbClr val="FFFFFF"/>
          </a:solidFill>
          <a:ln w="85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4" name="任意多边形: 形状 53"/>
          <p:cNvSpPr/>
          <p:nvPr>
            <p:custDataLst>
              <p:tags r:id="rId10"/>
            </p:custDataLst>
          </p:nvPr>
        </p:nvSpPr>
        <p:spPr>
          <a:xfrm>
            <a:off x="4071620" y="2534285"/>
            <a:ext cx="194945" cy="35560"/>
          </a:xfrm>
          <a:custGeom>
            <a:avLst/>
            <a:gdLst>
              <a:gd name="connsiteX0" fmla="*/ 176930 w 195014"/>
              <a:gd name="connsiteY0" fmla="*/ 35127 h 35520"/>
              <a:gd name="connsiteX1" fmla="*/ 17436 w 195014"/>
              <a:gd name="connsiteY1" fmla="*/ 35127 h 35520"/>
              <a:gd name="connsiteX2" fmla="*/ -324 w 195014"/>
              <a:gd name="connsiteY2" fmla="*/ 17367 h 35520"/>
              <a:gd name="connsiteX3" fmla="*/ 17436 w 195014"/>
              <a:gd name="connsiteY3" fmla="*/ -393 h 35520"/>
              <a:gd name="connsiteX4" fmla="*/ 176930 w 195014"/>
              <a:gd name="connsiteY4" fmla="*/ -393 h 35520"/>
              <a:gd name="connsiteX5" fmla="*/ 194690 w 195014"/>
              <a:gd name="connsiteY5" fmla="*/ 17367 h 35520"/>
              <a:gd name="connsiteX6" fmla="*/ 176930 w 195014"/>
              <a:gd name="connsiteY6" fmla="*/ 35127 h 35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014" h="35520">
                <a:moveTo>
                  <a:pt x="176930" y="35127"/>
                </a:moveTo>
                <a:lnTo>
                  <a:pt x="17436" y="35127"/>
                </a:lnTo>
                <a:cubicBezTo>
                  <a:pt x="7646" y="35127"/>
                  <a:pt x="-324" y="27157"/>
                  <a:pt x="-324" y="17367"/>
                </a:cubicBezTo>
                <a:cubicBezTo>
                  <a:pt x="-324" y="7577"/>
                  <a:pt x="7646" y="-393"/>
                  <a:pt x="17436" y="-393"/>
                </a:cubicBezTo>
                <a:lnTo>
                  <a:pt x="176930" y="-393"/>
                </a:lnTo>
                <a:cubicBezTo>
                  <a:pt x="186720" y="-393"/>
                  <a:pt x="194690" y="7577"/>
                  <a:pt x="194690" y="17367"/>
                </a:cubicBezTo>
                <a:cubicBezTo>
                  <a:pt x="194690" y="27157"/>
                  <a:pt x="186720" y="35127"/>
                  <a:pt x="176930" y="35127"/>
                </a:cubicBezTo>
                <a:close/>
              </a:path>
            </a:pathLst>
          </a:custGeom>
          <a:solidFill>
            <a:srgbClr val="FFFFFF"/>
          </a:solidFill>
          <a:ln w="85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5" name="任意多边形: 形状 54"/>
          <p:cNvSpPr/>
          <p:nvPr>
            <p:custDataLst>
              <p:tags r:id="rId11"/>
            </p:custDataLst>
          </p:nvPr>
        </p:nvSpPr>
        <p:spPr>
          <a:xfrm>
            <a:off x="4071620" y="2658110"/>
            <a:ext cx="194945" cy="35560"/>
          </a:xfrm>
          <a:custGeom>
            <a:avLst/>
            <a:gdLst>
              <a:gd name="connsiteX0" fmla="*/ 176930 w 195014"/>
              <a:gd name="connsiteY0" fmla="*/ 35040 h 35520"/>
              <a:gd name="connsiteX1" fmla="*/ 17436 w 195014"/>
              <a:gd name="connsiteY1" fmla="*/ 35040 h 35520"/>
              <a:gd name="connsiteX2" fmla="*/ -324 w 195014"/>
              <a:gd name="connsiteY2" fmla="*/ 17280 h 35520"/>
              <a:gd name="connsiteX3" fmla="*/ 17436 w 195014"/>
              <a:gd name="connsiteY3" fmla="*/ -480 h 35520"/>
              <a:gd name="connsiteX4" fmla="*/ 176930 w 195014"/>
              <a:gd name="connsiteY4" fmla="*/ -480 h 35520"/>
              <a:gd name="connsiteX5" fmla="*/ 194690 w 195014"/>
              <a:gd name="connsiteY5" fmla="*/ 17280 h 35520"/>
              <a:gd name="connsiteX6" fmla="*/ 176930 w 195014"/>
              <a:gd name="connsiteY6" fmla="*/ 35040 h 35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014" h="35520">
                <a:moveTo>
                  <a:pt x="176930" y="35040"/>
                </a:moveTo>
                <a:lnTo>
                  <a:pt x="17436" y="35040"/>
                </a:lnTo>
                <a:cubicBezTo>
                  <a:pt x="7646" y="35040"/>
                  <a:pt x="-324" y="27069"/>
                  <a:pt x="-324" y="17280"/>
                </a:cubicBezTo>
                <a:cubicBezTo>
                  <a:pt x="-324" y="7490"/>
                  <a:pt x="7646" y="-480"/>
                  <a:pt x="17436" y="-480"/>
                </a:cubicBezTo>
                <a:lnTo>
                  <a:pt x="176930" y="-480"/>
                </a:lnTo>
                <a:cubicBezTo>
                  <a:pt x="186720" y="-480"/>
                  <a:pt x="194690" y="7490"/>
                  <a:pt x="194690" y="17280"/>
                </a:cubicBezTo>
                <a:cubicBezTo>
                  <a:pt x="194690" y="27069"/>
                  <a:pt x="186720" y="35040"/>
                  <a:pt x="176930" y="35040"/>
                </a:cubicBezTo>
                <a:close/>
              </a:path>
            </a:pathLst>
          </a:custGeom>
          <a:solidFill>
            <a:srgbClr val="FFFFFF"/>
          </a:solidFill>
          <a:ln w="85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7" name="任意多边形: 形状 56"/>
          <p:cNvSpPr/>
          <p:nvPr>
            <p:custDataLst>
              <p:tags r:id="rId12"/>
            </p:custDataLst>
          </p:nvPr>
        </p:nvSpPr>
        <p:spPr>
          <a:xfrm>
            <a:off x="4310380" y="2510790"/>
            <a:ext cx="235585" cy="168275"/>
          </a:xfrm>
          <a:custGeom>
            <a:avLst/>
            <a:gdLst>
              <a:gd name="connsiteX0" fmla="*/ 79252 w 235646"/>
              <a:gd name="connsiteY0" fmla="*/ 167854 h 168277"/>
              <a:gd name="connsiteX1" fmla="*/ 53435 w 235646"/>
              <a:gd name="connsiteY1" fmla="*/ 157024 h 168277"/>
              <a:gd name="connsiteX2" fmla="*/ 4573 w 235646"/>
              <a:gd name="connsiteY2" fmla="*/ 107296 h 168277"/>
              <a:gd name="connsiteX3" fmla="*/ 4746 w 235646"/>
              <a:gd name="connsiteY3" fmla="*/ 82259 h 168277"/>
              <a:gd name="connsiteX4" fmla="*/ 29784 w 235646"/>
              <a:gd name="connsiteY4" fmla="*/ 82432 h 168277"/>
              <a:gd name="connsiteX5" fmla="*/ 78646 w 235646"/>
              <a:gd name="connsiteY5" fmla="*/ 132160 h 168277"/>
              <a:gd name="connsiteX6" fmla="*/ 204785 w 235646"/>
              <a:gd name="connsiteY6" fmla="*/ 4894 h 168277"/>
              <a:gd name="connsiteX7" fmla="*/ 229823 w 235646"/>
              <a:gd name="connsiteY7" fmla="*/ 4721 h 168277"/>
              <a:gd name="connsiteX8" fmla="*/ 229996 w 235646"/>
              <a:gd name="connsiteY8" fmla="*/ 29758 h 168277"/>
              <a:gd name="connsiteX9" fmla="*/ 104983 w 235646"/>
              <a:gd name="connsiteY9" fmla="*/ 157024 h 168277"/>
              <a:gd name="connsiteX10" fmla="*/ 79252 w 235646"/>
              <a:gd name="connsiteY10" fmla="*/ 167854 h 168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5646" h="168277">
                <a:moveTo>
                  <a:pt x="79252" y="167854"/>
                </a:moveTo>
                <a:cubicBezTo>
                  <a:pt x="69462" y="167854"/>
                  <a:pt x="60279" y="163955"/>
                  <a:pt x="53435" y="157024"/>
                </a:cubicBezTo>
                <a:lnTo>
                  <a:pt x="4573" y="107296"/>
                </a:lnTo>
                <a:cubicBezTo>
                  <a:pt x="-2271" y="100279"/>
                  <a:pt x="-2184" y="89103"/>
                  <a:pt x="4746" y="82259"/>
                </a:cubicBezTo>
                <a:cubicBezTo>
                  <a:pt x="11764" y="75415"/>
                  <a:pt x="22940" y="75415"/>
                  <a:pt x="29784" y="82432"/>
                </a:cubicBezTo>
                <a:lnTo>
                  <a:pt x="78646" y="132160"/>
                </a:lnTo>
                <a:lnTo>
                  <a:pt x="204785" y="4894"/>
                </a:lnTo>
                <a:cubicBezTo>
                  <a:pt x="211630" y="-2123"/>
                  <a:pt x="222805" y="-2210"/>
                  <a:pt x="229823" y="4721"/>
                </a:cubicBezTo>
                <a:cubicBezTo>
                  <a:pt x="236840" y="11565"/>
                  <a:pt x="236927" y="22828"/>
                  <a:pt x="229996" y="29758"/>
                </a:cubicBezTo>
                <a:lnTo>
                  <a:pt x="104983" y="157024"/>
                </a:lnTo>
                <a:cubicBezTo>
                  <a:pt x="98138" y="163955"/>
                  <a:pt x="88955" y="167854"/>
                  <a:pt x="79252" y="167854"/>
                </a:cubicBezTo>
                <a:close/>
              </a:path>
            </a:pathLst>
          </a:custGeom>
          <a:solidFill>
            <a:srgbClr val="FFFFFF"/>
          </a:solidFill>
          <a:ln w="85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6" name="任意多边形: 形状 45"/>
          <p:cNvSpPr/>
          <p:nvPr>
            <p:custDataLst>
              <p:tags r:id="rId13"/>
            </p:custDataLst>
          </p:nvPr>
        </p:nvSpPr>
        <p:spPr>
          <a:xfrm>
            <a:off x="1495425" y="4456430"/>
            <a:ext cx="622300" cy="622300"/>
          </a:xfrm>
          <a:custGeom>
            <a:avLst/>
            <a:gdLst>
              <a:gd name="connsiteX0" fmla="*/ 310773 w 622300"/>
              <a:gd name="connsiteY0" fmla="*/ 621905 h 622300"/>
              <a:gd name="connsiteX1" fmla="*/ -377 w 622300"/>
              <a:gd name="connsiteY1" fmla="*/ 310755 h 622300"/>
              <a:gd name="connsiteX2" fmla="*/ 310773 w 622300"/>
              <a:gd name="connsiteY2" fmla="*/ -395 h 622300"/>
              <a:gd name="connsiteX3" fmla="*/ 621923 w 622300"/>
              <a:gd name="connsiteY3" fmla="*/ 310755 h 622300"/>
              <a:gd name="connsiteX4" fmla="*/ 310773 w 622300"/>
              <a:gd name="connsiteY4" fmla="*/ 621905 h 622300"/>
              <a:gd name="connsiteX5" fmla="*/ 310773 w 622300"/>
              <a:gd name="connsiteY5" fmla="*/ 37179 h 622300"/>
              <a:gd name="connsiteX6" fmla="*/ 37285 w 622300"/>
              <a:gd name="connsiteY6" fmla="*/ 310667 h 622300"/>
              <a:gd name="connsiteX7" fmla="*/ 310773 w 622300"/>
              <a:gd name="connsiteY7" fmla="*/ 584155 h 622300"/>
              <a:gd name="connsiteX8" fmla="*/ 584262 w 622300"/>
              <a:gd name="connsiteY8" fmla="*/ 310667 h 622300"/>
              <a:gd name="connsiteX9" fmla="*/ 310773 w 622300"/>
              <a:gd name="connsiteY9" fmla="*/ 37179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2300" h="622300">
                <a:moveTo>
                  <a:pt x="310773" y="621905"/>
                </a:moveTo>
                <a:cubicBezTo>
                  <a:pt x="139183" y="621905"/>
                  <a:pt x="-377" y="482257"/>
                  <a:pt x="-377" y="310755"/>
                </a:cubicBezTo>
                <a:cubicBezTo>
                  <a:pt x="-377" y="139253"/>
                  <a:pt x="139183" y="-395"/>
                  <a:pt x="310773" y="-395"/>
                </a:cubicBezTo>
                <a:cubicBezTo>
                  <a:pt x="482363" y="-395"/>
                  <a:pt x="621923" y="139253"/>
                  <a:pt x="621923" y="310755"/>
                </a:cubicBezTo>
                <a:cubicBezTo>
                  <a:pt x="621923" y="482257"/>
                  <a:pt x="482363" y="621905"/>
                  <a:pt x="310773" y="621905"/>
                </a:cubicBezTo>
                <a:moveTo>
                  <a:pt x="310773" y="37179"/>
                </a:moveTo>
                <a:cubicBezTo>
                  <a:pt x="159950" y="37179"/>
                  <a:pt x="37285" y="159844"/>
                  <a:pt x="37285" y="310667"/>
                </a:cubicBezTo>
                <a:cubicBezTo>
                  <a:pt x="37285" y="461491"/>
                  <a:pt x="159950" y="584155"/>
                  <a:pt x="310773" y="584155"/>
                </a:cubicBezTo>
                <a:cubicBezTo>
                  <a:pt x="461597" y="584155"/>
                  <a:pt x="584262" y="461491"/>
                  <a:pt x="584262" y="310667"/>
                </a:cubicBezTo>
                <a:cubicBezTo>
                  <a:pt x="584262" y="159844"/>
                  <a:pt x="461509" y="37179"/>
                  <a:pt x="310773" y="37179"/>
                </a:cubicBezTo>
              </a:path>
            </a:pathLst>
          </a:custGeom>
          <a:solidFill>
            <a:srgbClr val="FFFFFF"/>
          </a:solidFill>
          <a:ln w="87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7" name="任意多边形: 形状 46"/>
          <p:cNvSpPr/>
          <p:nvPr>
            <p:custDataLst>
              <p:tags r:id="rId14"/>
            </p:custDataLst>
          </p:nvPr>
        </p:nvSpPr>
        <p:spPr>
          <a:xfrm>
            <a:off x="1716405" y="4645660"/>
            <a:ext cx="215900" cy="205105"/>
          </a:xfrm>
          <a:custGeom>
            <a:avLst/>
            <a:gdLst>
              <a:gd name="connsiteX0" fmla="*/ 18461 w 215714"/>
              <a:gd name="connsiteY0" fmla="*/ 204931 h 205311"/>
              <a:gd name="connsiteX1" fmla="*/ 4734 w 215714"/>
              <a:gd name="connsiteY1" fmla="*/ 199035 h 205311"/>
              <a:gd name="connsiteX2" fmla="*/ 5526 w 215714"/>
              <a:gd name="connsiteY2" fmla="*/ 172373 h 205311"/>
              <a:gd name="connsiteX3" fmla="*/ 183539 w 215714"/>
              <a:gd name="connsiteY3" fmla="*/ 4742 h 205311"/>
              <a:gd name="connsiteX4" fmla="*/ 210202 w 215714"/>
              <a:gd name="connsiteY4" fmla="*/ 5534 h 205311"/>
              <a:gd name="connsiteX5" fmla="*/ 209410 w 215714"/>
              <a:gd name="connsiteY5" fmla="*/ 32197 h 205311"/>
              <a:gd name="connsiteX6" fmla="*/ 31396 w 215714"/>
              <a:gd name="connsiteY6" fmla="*/ 199827 h 205311"/>
              <a:gd name="connsiteX7" fmla="*/ 18461 w 215714"/>
              <a:gd name="connsiteY7" fmla="*/ 204931 h 205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14" h="205311">
                <a:moveTo>
                  <a:pt x="18461" y="204931"/>
                </a:moveTo>
                <a:cubicBezTo>
                  <a:pt x="13445" y="204931"/>
                  <a:pt x="8430" y="202907"/>
                  <a:pt x="4734" y="199035"/>
                </a:cubicBezTo>
                <a:cubicBezTo>
                  <a:pt x="-2394" y="191467"/>
                  <a:pt x="-2042" y="179500"/>
                  <a:pt x="5526" y="172373"/>
                </a:cubicBezTo>
                <a:lnTo>
                  <a:pt x="183539" y="4742"/>
                </a:lnTo>
                <a:cubicBezTo>
                  <a:pt x="191107" y="-2385"/>
                  <a:pt x="203074" y="-2033"/>
                  <a:pt x="210202" y="5534"/>
                </a:cubicBezTo>
                <a:cubicBezTo>
                  <a:pt x="217329" y="13102"/>
                  <a:pt x="216978" y="25069"/>
                  <a:pt x="209410" y="32197"/>
                </a:cubicBezTo>
                <a:lnTo>
                  <a:pt x="31396" y="199827"/>
                </a:lnTo>
                <a:cubicBezTo>
                  <a:pt x="27788" y="203259"/>
                  <a:pt x="23125" y="204931"/>
                  <a:pt x="18461" y="204931"/>
                </a:cubicBezTo>
                <a:close/>
              </a:path>
            </a:pathLst>
          </a:custGeom>
          <a:solidFill>
            <a:srgbClr val="FFFFFF"/>
          </a:solidFill>
          <a:ln w="87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8" name="任意多边形: 形状 47"/>
          <p:cNvSpPr/>
          <p:nvPr>
            <p:custDataLst>
              <p:tags r:id="rId15"/>
            </p:custDataLst>
          </p:nvPr>
        </p:nvSpPr>
        <p:spPr>
          <a:xfrm>
            <a:off x="1645285" y="4625340"/>
            <a:ext cx="314325" cy="314325"/>
          </a:xfrm>
          <a:custGeom>
            <a:avLst/>
            <a:gdLst>
              <a:gd name="connsiteX0" fmla="*/ 175245 w 314123"/>
              <a:gd name="connsiteY0" fmla="*/ 313785 h 314191"/>
              <a:gd name="connsiteX1" fmla="*/ 148143 w 314123"/>
              <a:gd name="connsiteY1" fmla="*/ 302522 h 314191"/>
              <a:gd name="connsiteX2" fmla="*/ 122712 w 314123"/>
              <a:gd name="connsiteY2" fmla="*/ 277092 h 314191"/>
              <a:gd name="connsiteX3" fmla="*/ 122712 w 314123"/>
              <a:gd name="connsiteY3" fmla="*/ 250429 h 314191"/>
              <a:gd name="connsiteX4" fmla="*/ 149375 w 314123"/>
              <a:gd name="connsiteY4" fmla="*/ 250429 h 314191"/>
              <a:gd name="connsiteX5" fmla="*/ 174805 w 314123"/>
              <a:gd name="connsiteY5" fmla="*/ 275860 h 314191"/>
              <a:gd name="connsiteX6" fmla="*/ 276088 w 314123"/>
              <a:gd name="connsiteY6" fmla="*/ 38273 h 314191"/>
              <a:gd name="connsiteX7" fmla="*/ 37797 w 314123"/>
              <a:gd name="connsiteY7" fmla="*/ 137708 h 314191"/>
              <a:gd name="connsiteX8" fmla="*/ 62788 w 314123"/>
              <a:gd name="connsiteY8" fmla="*/ 163930 h 314191"/>
              <a:gd name="connsiteX9" fmla="*/ 62788 w 314123"/>
              <a:gd name="connsiteY9" fmla="*/ 190593 h 314191"/>
              <a:gd name="connsiteX10" fmla="*/ 36125 w 314123"/>
              <a:gd name="connsiteY10" fmla="*/ 190593 h 314191"/>
              <a:gd name="connsiteX11" fmla="*/ 10871 w 314123"/>
              <a:gd name="connsiteY11" fmla="*/ 165338 h 314191"/>
              <a:gd name="connsiteX12" fmla="*/ 311 w 314123"/>
              <a:gd name="connsiteY12" fmla="*/ 130844 h 314191"/>
              <a:gd name="connsiteX13" fmla="*/ 23014 w 314123"/>
              <a:gd name="connsiteY13" fmla="*/ 102862 h 314191"/>
              <a:gd name="connsiteX14" fmla="*/ 260424 w 314123"/>
              <a:gd name="connsiteY14" fmla="*/ 2635 h 314191"/>
              <a:gd name="connsiteX15" fmla="*/ 302486 w 314123"/>
              <a:gd name="connsiteY15" fmla="*/ 10819 h 314191"/>
              <a:gd name="connsiteX16" fmla="*/ 310670 w 314123"/>
              <a:gd name="connsiteY16" fmla="*/ 52880 h 314191"/>
              <a:gd name="connsiteX17" fmla="*/ 210619 w 314123"/>
              <a:gd name="connsiteY17" fmla="*/ 290379 h 314191"/>
              <a:gd name="connsiteX18" fmla="*/ 182637 w 314123"/>
              <a:gd name="connsiteY18" fmla="*/ 313081 h 314191"/>
              <a:gd name="connsiteX19" fmla="*/ 175245 w 314123"/>
              <a:gd name="connsiteY19" fmla="*/ 313785 h 31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14123" h="314191">
                <a:moveTo>
                  <a:pt x="175245" y="313785"/>
                </a:moveTo>
                <a:cubicBezTo>
                  <a:pt x="165214" y="313785"/>
                  <a:pt x="155447" y="309826"/>
                  <a:pt x="148143" y="302522"/>
                </a:cubicBezTo>
                <a:lnTo>
                  <a:pt x="122712" y="277092"/>
                </a:lnTo>
                <a:cubicBezTo>
                  <a:pt x="115321" y="269700"/>
                  <a:pt x="115321" y="257821"/>
                  <a:pt x="122712" y="250429"/>
                </a:cubicBezTo>
                <a:cubicBezTo>
                  <a:pt x="130104" y="243037"/>
                  <a:pt x="141983" y="243037"/>
                  <a:pt x="149375" y="250429"/>
                </a:cubicBezTo>
                <a:lnTo>
                  <a:pt x="174805" y="275860"/>
                </a:lnTo>
                <a:lnTo>
                  <a:pt x="276088" y="38273"/>
                </a:lnTo>
                <a:lnTo>
                  <a:pt x="37797" y="137708"/>
                </a:lnTo>
                <a:lnTo>
                  <a:pt x="62788" y="163930"/>
                </a:lnTo>
                <a:cubicBezTo>
                  <a:pt x="70179" y="171322"/>
                  <a:pt x="70179" y="183201"/>
                  <a:pt x="62788" y="190593"/>
                </a:cubicBezTo>
                <a:cubicBezTo>
                  <a:pt x="55396" y="197984"/>
                  <a:pt x="43517" y="197984"/>
                  <a:pt x="36125" y="190593"/>
                </a:cubicBezTo>
                <a:lnTo>
                  <a:pt x="10871" y="165338"/>
                </a:lnTo>
                <a:cubicBezTo>
                  <a:pt x="1807" y="156274"/>
                  <a:pt x="-2064" y="143427"/>
                  <a:pt x="311" y="130844"/>
                </a:cubicBezTo>
                <a:cubicBezTo>
                  <a:pt x="2775" y="118261"/>
                  <a:pt x="11223" y="107789"/>
                  <a:pt x="23014" y="102862"/>
                </a:cubicBezTo>
                <a:lnTo>
                  <a:pt x="260424" y="2635"/>
                </a:lnTo>
                <a:cubicBezTo>
                  <a:pt x="274856" y="-3436"/>
                  <a:pt x="291399" y="-269"/>
                  <a:pt x="302486" y="10819"/>
                </a:cubicBezTo>
                <a:cubicBezTo>
                  <a:pt x="313573" y="21906"/>
                  <a:pt x="316829" y="38449"/>
                  <a:pt x="310670" y="52880"/>
                </a:cubicBezTo>
                <a:lnTo>
                  <a:pt x="210619" y="290379"/>
                </a:lnTo>
                <a:cubicBezTo>
                  <a:pt x="205604" y="302170"/>
                  <a:pt x="195132" y="310618"/>
                  <a:pt x="182637" y="313081"/>
                </a:cubicBezTo>
                <a:cubicBezTo>
                  <a:pt x="180173" y="313521"/>
                  <a:pt x="177709" y="313785"/>
                  <a:pt x="175245" y="313785"/>
                </a:cubicBezTo>
                <a:close/>
              </a:path>
            </a:pathLst>
          </a:custGeom>
          <a:solidFill>
            <a:srgbClr val="FFFFFF"/>
          </a:solidFill>
          <a:ln w="87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49" name="任意多边形: 形状 48"/>
          <p:cNvSpPr/>
          <p:nvPr>
            <p:custDataLst>
              <p:tags r:id="rId16"/>
            </p:custDataLst>
          </p:nvPr>
        </p:nvSpPr>
        <p:spPr>
          <a:xfrm>
            <a:off x="1711325" y="4815205"/>
            <a:ext cx="40005" cy="90170"/>
          </a:xfrm>
          <a:custGeom>
            <a:avLst/>
            <a:gdLst>
              <a:gd name="connsiteX0" fmla="*/ 18526 w 40071"/>
              <a:gd name="connsiteY0" fmla="*/ 89592 h 90054"/>
              <a:gd name="connsiteX1" fmla="*/ 17734 w 40071"/>
              <a:gd name="connsiteY1" fmla="*/ 89592 h 90054"/>
              <a:gd name="connsiteX2" fmla="*/ -305 w 40071"/>
              <a:gd name="connsiteY2" fmla="*/ 73489 h 90054"/>
              <a:gd name="connsiteX3" fmla="*/ 2071 w 40071"/>
              <a:gd name="connsiteY3" fmla="*/ 16821 h 90054"/>
              <a:gd name="connsiteX4" fmla="*/ 21694 w 40071"/>
              <a:gd name="connsiteY4" fmla="*/ -426 h 90054"/>
              <a:gd name="connsiteX5" fmla="*/ 39732 w 40071"/>
              <a:gd name="connsiteY5" fmla="*/ 19636 h 90054"/>
              <a:gd name="connsiteX6" fmla="*/ 37357 w 40071"/>
              <a:gd name="connsiteY6" fmla="*/ 74721 h 90054"/>
              <a:gd name="connsiteX7" fmla="*/ 18526 w 40071"/>
              <a:gd name="connsiteY7" fmla="*/ 89592 h 9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71" h="90054">
                <a:moveTo>
                  <a:pt x="18526" y="89592"/>
                </a:moveTo>
                <a:cubicBezTo>
                  <a:pt x="18262" y="89592"/>
                  <a:pt x="17998" y="89592"/>
                  <a:pt x="17734" y="89592"/>
                </a:cubicBezTo>
                <a:cubicBezTo>
                  <a:pt x="7350" y="89592"/>
                  <a:pt x="-745" y="83961"/>
                  <a:pt x="-305" y="73489"/>
                </a:cubicBezTo>
                <a:lnTo>
                  <a:pt x="2071" y="16821"/>
                </a:lnTo>
                <a:cubicBezTo>
                  <a:pt x="2511" y="6437"/>
                  <a:pt x="11486" y="-1042"/>
                  <a:pt x="21694" y="-426"/>
                </a:cubicBezTo>
                <a:cubicBezTo>
                  <a:pt x="32077" y="14"/>
                  <a:pt x="40172" y="9165"/>
                  <a:pt x="39732" y="19636"/>
                </a:cubicBezTo>
                <a:lnTo>
                  <a:pt x="37357" y="74721"/>
                </a:lnTo>
                <a:cubicBezTo>
                  <a:pt x="36917" y="84929"/>
                  <a:pt x="28557" y="89592"/>
                  <a:pt x="18526" y="89592"/>
                </a:cubicBezTo>
                <a:close/>
              </a:path>
            </a:pathLst>
          </a:custGeom>
          <a:solidFill>
            <a:srgbClr val="FFFFFF"/>
          </a:solidFill>
          <a:ln w="87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9" name="矩形 8"/>
          <p:cNvSpPr/>
          <p:nvPr>
            <p:custDataLst>
              <p:tags r:id="rId17"/>
            </p:custDataLst>
          </p:nvPr>
        </p:nvSpPr>
        <p:spPr>
          <a:xfrm>
            <a:off x="2367280" y="2465070"/>
            <a:ext cx="2005330" cy="199136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9" name="任意多边形: 形状 18"/>
          <p:cNvSpPr/>
          <p:nvPr>
            <p:custDataLst>
              <p:tags r:id="rId18"/>
            </p:custDataLst>
          </p:nvPr>
        </p:nvSpPr>
        <p:spPr>
          <a:xfrm>
            <a:off x="3086735" y="3161030"/>
            <a:ext cx="505460" cy="598805"/>
          </a:xfrm>
          <a:custGeom>
            <a:avLst/>
            <a:gdLst>
              <a:gd name="connsiteX0" fmla="*/ 454411 w 505196"/>
              <a:gd name="connsiteY0" fmla="*/ 598416 h 598804"/>
              <a:gd name="connsiteX1" fmla="*/ 50092 w 505196"/>
              <a:gd name="connsiteY1" fmla="*/ 598416 h 598804"/>
              <a:gd name="connsiteX2" fmla="*/ -347 w 505196"/>
              <a:gd name="connsiteY2" fmla="*/ 551657 h 598804"/>
              <a:gd name="connsiteX3" fmla="*/ -347 w 505196"/>
              <a:gd name="connsiteY3" fmla="*/ 46370 h 598804"/>
              <a:gd name="connsiteX4" fmla="*/ 50092 w 505196"/>
              <a:gd name="connsiteY4" fmla="*/ -389 h 598804"/>
              <a:gd name="connsiteX5" fmla="*/ 454411 w 505196"/>
              <a:gd name="connsiteY5" fmla="*/ -389 h 598804"/>
              <a:gd name="connsiteX6" fmla="*/ 504849 w 505196"/>
              <a:gd name="connsiteY6" fmla="*/ 46370 h 598804"/>
              <a:gd name="connsiteX7" fmla="*/ 504849 w 505196"/>
              <a:gd name="connsiteY7" fmla="*/ 122208 h 598804"/>
              <a:gd name="connsiteX8" fmla="*/ 486182 w 505196"/>
              <a:gd name="connsiteY8" fmla="*/ 140876 h 598804"/>
              <a:gd name="connsiteX9" fmla="*/ 467514 w 505196"/>
              <a:gd name="connsiteY9" fmla="*/ 122208 h 598804"/>
              <a:gd name="connsiteX10" fmla="*/ 467514 w 505196"/>
              <a:gd name="connsiteY10" fmla="*/ 46460 h 598804"/>
              <a:gd name="connsiteX11" fmla="*/ 454500 w 505196"/>
              <a:gd name="connsiteY11" fmla="*/ 37126 h 598804"/>
              <a:gd name="connsiteX12" fmla="*/ 50092 w 505196"/>
              <a:gd name="connsiteY12" fmla="*/ 37126 h 598804"/>
              <a:gd name="connsiteX13" fmla="*/ 37078 w 505196"/>
              <a:gd name="connsiteY13" fmla="*/ 46460 h 598804"/>
              <a:gd name="connsiteX14" fmla="*/ 37078 w 505196"/>
              <a:gd name="connsiteY14" fmla="*/ 551657 h 598804"/>
              <a:gd name="connsiteX15" fmla="*/ 50092 w 505196"/>
              <a:gd name="connsiteY15" fmla="*/ 560991 h 598804"/>
              <a:gd name="connsiteX16" fmla="*/ 454411 w 505196"/>
              <a:gd name="connsiteY16" fmla="*/ 560991 h 598804"/>
              <a:gd name="connsiteX17" fmla="*/ 467424 w 505196"/>
              <a:gd name="connsiteY17" fmla="*/ 551657 h 598804"/>
              <a:gd name="connsiteX18" fmla="*/ 467424 w 505196"/>
              <a:gd name="connsiteY18" fmla="*/ 521860 h 598804"/>
              <a:gd name="connsiteX19" fmla="*/ 486092 w 505196"/>
              <a:gd name="connsiteY19" fmla="*/ 503192 h 598804"/>
              <a:gd name="connsiteX20" fmla="*/ 504760 w 505196"/>
              <a:gd name="connsiteY20" fmla="*/ 521860 h 598804"/>
              <a:gd name="connsiteX21" fmla="*/ 504760 w 505196"/>
              <a:gd name="connsiteY21" fmla="*/ 551657 h 598804"/>
              <a:gd name="connsiteX22" fmla="*/ 454411 w 505196"/>
              <a:gd name="connsiteY22" fmla="*/ 598416 h 598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05196" h="598804">
                <a:moveTo>
                  <a:pt x="454411" y="598416"/>
                </a:moveTo>
                <a:lnTo>
                  <a:pt x="50092" y="598416"/>
                </a:lnTo>
                <a:cubicBezTo>
                  <a:pt x="22269" y="598416"/>
                  <a:pt x="-347" y="577415"/>
                  <a:pt x="-347" y="551657"/>
                </a:cubicBezTo>
                <a:lnTo>
                  <a:pt x="-347" y="46370"/>
                </a:lnTo>
                <a:cubicBezTo>
                  <a:pt x="-347" y="20612"/>
                  <a:pt x="22269" y="-389"/>
                  <a:pt x="50092" y="-389"/>
                </a:cubicBezTo>
                <a:lnTo>
                  <a:pt x="454411" y="-389"/>
                </a:lnTo>
                <a:cubicBezTo>
                  <a:pt x="482233" y="-389"/>
                  <a:pt x="504849" y="20612"/>
                  <a:pt x="504849" y="46370"/>
                </a:cubicBezTo>
                <a:lnTo>
                  <a:pt x="504849" y="122208"/>
                </a:lnTo>
                <a:cubicBezTo>
                  <a:pt x="504849" y="132529"/>
                  <a:pt x="496503" y="140876"/>
                  <a:pt x="486182" y="140876"/>
                </a:cubicBezTo>
                <a:cubicBezTo>
                  <a:pt x="475861" y="140876"/>
                  <a:pt x="467514" y="132529"/>
                  <a:pt x="467514" y="122208"/>
                </a:cubicBezTo>
                <a:lnTo>
                  <a:pt x="467514" y="46460"/>
                </a:lnTo>
                <a:cubicBezTo>
                  <a:pt x="467514" y="41434"/>
                  <a:pt x="461411" y="37126"/>
                  <a:pt x="454500" y="37126"/>
                </a:cubicBezTo>
                <a:lnTo>
                  <a:pt x="50092" y="37126"/>
                </a:lnTo>
                <a:cubicBezTo>
                  <a:pt x="43181" y="37126"/>
                  <a:pt x="37078" y="41524"/>
                  <a:pt x="37078" y="46460"/>
                </a:cubicBezTo>
                <a:lnTo>
                  <a:pt x="37078" y="551657"/>
                </a:lnTo>
                <a:cubicBezTo>
                  <a:pt x="37078" y="556683"/>
                  <a:pt x="43181" y="560991"/>
                  <a:pt x="50092" y="560991"/>
                </a:cubicBezTo>
                <a:lnTo>
                  <a:pt x="454411" y="560991"/>
                </a:lnTo>
                <a:cubicBezTo>
                  <a:pt x="461321" y="560991"/>
                  <a:pt x="467424" y="556593"/>
                  <a:pt x="467424" y="551657"/>
                </a:cubicBezTo>
                <a:lnTo>
                  <a:pt x="467424" y="521860"/>
                </a:lnTo>
                <a:cubicBezTo>
                  <a:pt x="467424" y="511539"/>
                  <a:pt x="475771" y="503192"/>
                  <a:pt x="486092" y="503192"/>
                </a:cubicBezTo>
                <a:cubicBezTo>
                  <a:pt x="496413" y="503192"/>
                  <a:pt x="504760" y="511539"/>
                  <a:pt x="504760" y="521860"/>
                </a:cubicBezTo>
                <a:lnTo>
                  <a:pt x="504760" y="551657"/>
                </a:lnTo>
                <a:cubicBezTo>
                  <a:pt x="504849" y="577415"/>
                  <a:pt x="482233" y="598416"/>
                  <a:pt x="454411" y="598416"/>
                </a:cubicBezTo>
                <a:close/>
              </a:path>
            </a:pathLst>
          </a:custGeom>
          <a:solidFill>
            <a:srgbClr val="FFFFFF"/>
          </a:solidFill>
          <a:ln w="88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grpSp>
        <p:nvGrpSpPr>
          <p:cNvPr id="20" name="图片 12" descr="333438303937363b333438313039323bcfeec4bfbcc6bbae"/>
          <p:cNvGrpSpPr/>
          <p:nvPr>
            <p:custDataLst>
              <p:tags r:id="rId19"/>
            </p:custDataLst>
          </p:nvPr>
        </p:nvGrpSpPr>
        <p:grpSpPr>
          <a:xfrm>
            <a:off x="3169285" y="3310255"/>
            <a:ext cx="318135" cy="299720"/>
            <a:chOff x="3169256" y="3310551"/>
            <a:chExt cx="317980" cy="299761"/>
          </a:xfrm>
          <a:solidFill>
            <a:srgbClr val="FFFFFF"/>
          </a:solidFill>
        </p:grpSpPr>
        <p:sp>
          <p:nvSpPr>
            <p:cNvPr id="10" name="任意多边形: 形状 20"/>
            <p:cNvSpPr/>
            <p:nvPr>
              <p:custDataLst>
                <p:tags r:id="rId20"/>
              </p:custDataLst>
            </p:nvPr>
          </p:nvSpPr>
          <p:spPr>
            <a:xfrm>
              <a:off x="3169256" y="3310551"/>
              <a:ext cx="317980" cy="37694"/>
            </a:xfrm>
            <a:custGeom>
              <a:avLst/>
              <a:gdLst>
                <a:gd name="connsiteX0" fmla="*/ 299063 w 317980"/>
                <a:gd name="connsiteY0" fmla="*/ 37396 h 37694"/>
                <a:gd name="connsiteX1" fmla="*/ 18328 w 317980"/>
                <a:gd name="connsiteY1" fmla="*/ 37396 h 37694"/>
                <a:gd name="connsiteX2" fmla="*/ -340 w 317980"/>
                <a:gd name="connsiteY2" fmla="*/ 18548 h 37694"/>
                <a:gd name="connsiteX3" fmla="*/ 18328 w 317980"/>
                <a:gd name="connsiteY3" fmla="*/ -299 h 37694"/>
                <a:gd name="connsiteX4" fmla="*/ 298973 w 317980"/>
                <a:gd name="connsiteY4" fmla="*/ -299 h 37694"/>
                <a:gd name="connsiteX5" fmla="*/ 317641 w 317980"/>
                <a:gd name="connsiteY5" fmla="*/ 18548 h 37694"/>
                <a:gd name="connsiteX6" fmla="*/ 299063 w 317980"/>
                <a:gd name="connsiteY6" fmla="*/ 37396 h 37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980" h="37694">
                  <a:moveTo>
                    <a:pt x="299063" y="37396"/>
                  </a:moveTo>
                  <a:lnTo>
                    <a:pt x="18328" y="37396"/>
                  </a:lnTo>
                  <a:cubicBezTo>
                    <a:pt x="8007" y="37396"/>
                    <a:pt x="-340" y="28869"/>
                    <a:pt x="-340" y="18548"/>
                  </a:cubicBezTo>
                  <a:cubicBezTo>
                    <a:pt x="-340" y="8227"/>
                    <a:pt x="8007" y="-299"/>
                    <a:pt x="18328" y="-299"/>
                  </a:cubicBezTo>
                  <a:lnTo>
                    <a:pt x="298973" y="-299"/>
                  </a:lnTo>
                  <a:cubicBezTo>
                    <a:pt x="309294" y="-299"/>
                    <a:pt x="317641" y="8227"/>
                    <a:pt x="317641" y="18548"/>
                  </a:cubicBezTo>
                  <a:cubicBezTo>
                    <a:pt x="317641" y="28869"/>
                    <a:pt x="309384" y="37396"/>
                    <a:pt x="299063" y="37396"/>
                  </a:cubicBezTo>
                  <a:close/>
                </a:path>
              </a:pathLst>
            </a:custGeom>
            <a:solidFill>
              <a:srgbClr val="FFFFFF"/>
            </a:solidFill>
            <a:ln w="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800"/>
            </a:p>
          </p:txBody>
        </p:sp>
        <p:sp>
          <p:nvSpPr>
            <p:cNvPr id="11" name="任意多边形: 形状 21"/>
            <p:cNvSpPr/>
            <p:nvPr>
              <p:custDataLst>
                <p:tags r:id="rId21"/>
              </p:custDataLst>
            </p:nvPr>
          </p:nvSpPr>
          <p:spPr>
            <a:xfrm>
              <a:off x="3169256" y="3441585"/>
              <a:ext cx="261887" cy="37694"/>
            </a:xfrm>
            <a:custGeom>
              <a:avLst/>
              <a:gdLst>
                <a:gd name="connsiteX0" fmla="*/ 242899 w 261887"/>
                <a:gd name="connsiteY0" fmla="*/ 37306 h 37694"/>
                <a:gd name="connsiteX1" fmla="*/ 18347 w 261887"/>
                <a:gd name="connsiteY1" fmla="*/ 37306 h 37694"/>
                <a:gd name="connsiteX2" fmla="*/ -321 w 261887"/>
                <a:gd name="connsiteY2" fmla="*/ 18458 h 37694"/>
                <a:gd name="connsiteX3" fmla="*/ 18347 w 261887"/>
                <a:gd name="connsiteY3" fmla="*/ -389 h 37694"/>
                <a:gd name="connsiteX4" fmla="*/ 242899 w 261887"/>
                <a:gd name="connsiteY4" fmla="*/ -389 h 37694"/>
                <a:gd name="connsiteX5" fmla="*/ 261567 w 261887"/>
                <a:gd name="connsiteY5" fmla="*/ 18458 h 37694"/>
                <a:gd name="connsiteX6" fmla="*/ 242899 w 261887"/>
                <a:gd name="connsiteY6" fmla="*/ 37306 h 37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887" h="37694">
                  <a:moveTo>
                    <a:pt x="242899" y="37306"/>
                  </a:moveTo>
                  <a:lnTo>
                    <a:pt x="18347" y="37306"/>
                  </a:lnTo>
                  <a:cubicBezTo>
                    <a:pt x="8026" y="37306"/>
                    <a:pt x="-321" y="28779"/>
                    <a:pt x="-321" y="18458"/>
                  </a:cubicBezTo>
                  <a:cubicBezTo>
                    <a:pt x="-321" y="8137"/>
                    <a:pt x="8026" y="-389"/>
                    <a:pt x="18347" y="-389"/>
                  </a:cubicBezTo>
                  <a:lnTo>
                    <a:pt x="242899" y="-389"/>
                  </a:lnTo>
                  <a:cubicBezTo>
                    <a:pt x="253220" y="-389"/>
                    <a:pt x="261567" y="8137"/>
                    <a:pt x="261567" y="18458"/>
                  </a:cubicBezTo>
                  <a:cubicBezTo>
                    <a:pt x="261567" y="28779"/>
                    <a:pt x="253220" y="37306"/>
                    <a:pt x="242899" y="37306"/>
                  </a:cubicBezTo>
                  <a:close/>
                </a:path>
              </a:pathLst>
            </a:custGeom>
            <a:solidFill>
              <a:srgbClr val="FFFFFF"/>
            </a:solidFill>
            <a:ln w="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800"/>
            </a:p>
          </p:txBody>
        </p:sp>
        <p:sp>
          <p:nvSpPr>
            <p:cNvPr id="12" name="任意多边形: 形状 22"/>
            <p:cNvSpPr/>
            <p:nvPr>
              <p:custDataLst>
                <p:tags r:id="rId22"/>
              </p:custDataLst>
            </p:nvPr>
          </p:nvSpPr>
          <p:spPr>
            <a:xfrm>
              <a:off x="3169256" y="3572618"/>
              <a:ext cx="261887" cy="37694"/>
            </a:xfrm>
            <a:custGeom>
              <a:avLst/>
              <a:gdLst>
                <a:gd name="connsiteX0" fmla="*/ 242899 w 261887"/>
                <a:gd name="connsiteY0" fmla="*/ 37216 h 37694"/>
                <a:gd name="connsiteX1" fmla="*/ 18347 w 261887"/>
                <a:gd name="connsiteY1" fmla="*/ 37216 h 37694"/>
                <a:gd name="connsiteX2" fmla="*/ -321 w 261887"/>
                <a:gd name="connsiteY2" fmla="*/ 18368 h 37694"/>
                <a:gd name="connsiteX3" fmla="*/ 18347 w 261887"/>
                <a:gd name="connsiteY3" fmla="*/ -479 h 37694"/>
                <a:gd name="connsiteX4" fmla="*/ 242899 w 261887"/>
                <a:gd name="connsiteY4" fmla="*/ -479 h 37694"/>
                <a:gd name="connsiteX5" fmla="*/ 261567 w 261887"/>
                <a:gd name="connsiteY5" fmla="*/ 18368 h 37694"/>
                <a:gd name="connsiteX6" fmla="*/ 242899 w 261887"/>
                <a:gd name="connsiteY6" fmla="*/ 37216 h 37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887" h="37694">
                  <a:moveTo>
                    <a:pt x="242899" y="37216"/>
                  </a:moveTo>
                  <a:lnTo>
                    <a:pt x="18347" y="37216"/>
                  </a:lnTo>
                  <a:cubicBezTo>
                    <a:pt x="8026" y="37216"/>
                    <a:pt x="-321" y="28689"/>
                    <a:pt x="-321" y="18368"/>
                  </a:cubicBezTo>
                  <a:cubicBezTo>
                    <a:pt x="-321" y="8047"/>
                    <a:pt x="8026" y="-479"/>
                    <a:pt x="18347" y="-479"/>
                  </a:cubicBezTo>
                  <a:lnTo>
                    <a:pt x="242899" y="-479"/>
                  </a:lnTo>
                  <a:cubicBezTo>
                    <a:pt x="253220" y="-479"/>
                    <a:pt x="261567" y="8047"/>
                    <a:pt x="261567" y="18368"/>
                  </a:cubicBezTo>
                  <a:cubicBezTo>
                    <a:pt x="261567" y="28689"/>
                    <a:pt x="253220" y="37216"/>
                    <a:pt x="242899" y="37216"/>
                  </a:cubicBezTo>
                  <a:close/>
                </a:path>
              </a:pathLst>
            </a:custGeom>
            <a:solidFill>
              <a:srgbClr val="FFFFFF"/>
            </a:solidFill>
            <a:ln w="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800"/>
            </a:p>
          </p:txBody>
        </p:sp>
      </p:grpSp>
      <p:sp>
        <p:nvSpPr>
          <p:cNvPr id="13" name="任意多边形: 形状 23"/>
          <p:cNvSpPr/>
          <p:nvPr>
            <p:custDataLst>
              <p:tags r:id="rId23"/>
            </p:custDataLst>
          </p:nvPr>
        </p:nvSpPr>
        <p:spPr>
          <a:xfrm>
            <a:off x="3456305" y="3343275"/>
            <a:ext cx="197485" cy="314325"/>
          </a:xfrm>
          <a:custGeom>
            <a:avLst/>
            <a:gdLst>
              <a:gd name="connsiteX0" fmla="*/ 18199 w 197411"/>
              <a:gd name="connsiteY0" fmla="*/ 314001 h 314417"/>
              <a:gd name="connsiteX1" fmla="*/ 8865 w 197411"/>
              <a:gd name="connsiteY1" fmla="*/ 311488 h 314417"/>
              <a:gd name="connsiteX2" fmla="*/ 2044 w 197411"/>
              <a:gd name="connsiteY2" fmla="*/ 285909 h 314417"/>
              <a:gd name="connsiteX3" fmla="*/ 161977 w 197411"/>
              <a:gd name="connsiteY3" fmla="*/ 8944 h 314417"/>
              <a:gd name="connsiteX4" fmla="*/ 187555 w 197411"/>
              <a:gd name="connsiteY4" fmla="*/ 2123 h 314417"/>
              <a:gd name="connsiteX5" fmla="*/ 194376 w 197411"/>
              <a:gd name="connsiteY5" fmla="*/ 27702 h 314417"/>
              <a:gd name="connsiteX6" fmla="*/ 34443 w 197411"/>
              <a:gd name="connsiteY6" fmla="*/ 304667 h 314417"/>
              <a:gd name="connsiteX7" fmla="*/ 18199 w 197411"/>
              <a:gd name="connsiteY7" fmla="*/ 314001 h 314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7411" h="314417">
                <a:moveTo>
                  <a:pt x="18199" y="314001"/>
                </a:moveTo>
                <a:cubicBezTo>
                  <a:pt x="15057" y="314001"/>
                  <a:pt x="11827" y="313193"/>
                  <a:pt x="8865" y="311488"/>
                </a:cubicBezTo>
                <a:cubicBezTo>
                  <a:pt x="-110" y="306282"/>
                  <a:pt x="-3162" y="294884"/>
                  <a:pt x="2044" y="285909"/>
                </a:cubicBezTo>
                <a:lnTo>
                  <a:pt x="161977" y="8944"/>
                </a:lnTo>
                <a:cubicBezTo>
                  <a:pt x="167182" y="-31"/>
                  <a:pt x="178580" y="-3082"/>
                  <a:pt x="187555" y="2123"/>
                </a:cubicBezTo>
                <a:cubicBezTo>
                  <a:pt x="196530" y="7329"/>
                  <a:pt x="199581" y="18727"/>
                  <a:pt x="194376" y="27702"/>
                </a:cubicBezTo>
                <a:lnTo>
                  <a:pt x="34443" y="304667"/>
                </a:lnTo>
                <a:cubicBezTo>
                  <a:pt x="30943" y="310680"/>
                  <a:pt x="24661" y="314001"/>
                  <a:pt x="18199" y="314001"/>
                </a:cubicBezTo>
                <a:close/>
              </a:path>
            </a:pathLst>
          </a:custGeom>
          <a:solidFill>
            <a:srgbClr val="FFFFFF"/>
          </a:solidFill>
          <a:ln w="88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59" name="任意多边形: 形状 58"/>
          <p:cNvSpPr/>
          <p:nvPr>
            <p:custDataLst>
              <p:tags r:id="rId24"/>
            </p:custDataLst>
          </p:nvPr>
        </p:nvSpPr>
        <p:spPr>
          <a:xfrm>
            <a:off x="3747135" y="5519420"/>
            <a:ext cx="81280" cy="81280"/>
          </a:xfrm>
          <a:custGeom>
            <a:avLst/>
            <a:gdLst>
              <a:gd name="connsiteX0" fmla="*/ 40354 w 81446"/>
              <a:gd name="connsiteY0" fmla="*/ 81124 h 81446"/>
              <a:gd name="connsiteX1" fmla="*/ -369 w 81446"/>
              <a:gd name="connsiteY1" fmla="*/ 40401 h 81446"/>
              <a:gd name="connsiteX2" fmla="*/ 40354 w 81446"/>
              <a:gd name="connsiteY2" fmla="*/ -322 h 81446"/>
              <a:gd name="connsiteX3" fmla="*/ 81078 w 81446"/>
              <a:gd name="connsiteY3" fmla="*/ 40401 h 81446"/>
              <a:gd name="connsiteX4" fmla="*/ 40354 w 81446"/>
              <a:gd name="connsiteY4" fmla="*/ 81124 h 81446"/>
              <a:gd name="connsiteX5" fmla="*/ 40354 w 81446"/>
              <a:gd name="connsiteY5" fmla="*/ 17412 h 81446"/>
              <a:gd name="connsiteX6" fmla="*/ 17366 w 81446"/>
              <a:gd name="connsiteY6" fmla="*/ 40401 h 81446"/>
              <a:gd name="connsiteX7" fmla="*/ 40354 w 81446"/>
              <a:gd name="connsiteY7" fmla="*/ 63390 h 81446"/>
              <a:gd name="connsiteX8" fmla="*/ 63343 w 81446"/>
              <a:gd name="connsiteY8" fmla="*/ 40401 h 81446"/>
              <a:gd name="connsiteX9" fmla="*/ 40354 w 81446"/>
              <a:gd name="connsiteY9" fmla="*/ 17412 h 81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1446" h="81446">
                <a:moveTo>
                  <a:pt x="40354" y="81124"/>
                </a:moveTo>
                <a:cubicBezTo>
                  <a:pt x="17882" y="81124"/>
                  <a:pt x="-369" y="62827"/>
                  <a:pt x="-369" y="40401"/>
                </a:cubicBezTo>
                <a:cubicBezTo>
                  <a:pt x="-369" y="17975"/>
                  <a:pt x="17882" y="-322"/>
                  <a:pt x="40354" y="-322"/>
                </a:cubicBezTo>
                <a:cubicBezTo>
                  <a:pt x="62827" y="-322"/>
                  <a:pt x="81078" y="17975"/>
                  <a:pt x="81078" y="40401"/>
                </a:cubicBezTo>
                <a:cubicBezTo>
                  <a:pt x="81078" y="62827"/>
                  <a:pt x="62780" y="81124"/>
                  <a:pt x="40354" y="81124"/>
                </a:cubicBezTo>
                <a:moveTo>
                  <a:pt x="40354" y="17412"/>
                </a:moveTo>
                <a:cubicBezTo>
                  <a:pt x="27687" y="17412"/>
                  <a:pt x="17366" y="27734"/>
                  <a:pt x="17366" y="40401"/>
                </a:cubicBezTo>
                <a:cubicBezTo>
                  <a:pt x="17366" y="53068"/>
                  <a:pt x="27687" y="63390"/>
                  <a:pt x="40354" y="63390"/>
                </a:cubicBezTo>
                <a:cubicBezTo>
                  <a:pt x="53022" y="63390"/>
                  <a:pt x="63343" y="53068"/>
                  <a:pt x="63343" y="40401"/>
                </a:cubicBezTo>
                <a:cubicBezTo>
                  <a:pt x="63343" y="27734"/>
                  <a:pt x="53022" y="17412"/>
                  <a:pt x="40354" y="17412"/>
                </a:cubicBezTo>
              </a:path>
            </a:pathLst>
          </a:custGeom>
          <a:solidFill>
            <a:srgbClr val="FFFFFF"/>
          </a:solidFill>
          <a:ln w="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0" name="任意多边形: 形状 59"/>
          <p:cNvSpPr/>
          <p:nvPr>
            <p:custDataLst>
              <p:tags r:id="rId25"/>
            </p:custDataLst>
          </p:nvPr>
        </p:nvSpPr>
        <p:spPr>
          <a:xfrm>
            <a:off x="3683000" y="5448935"/>
            <a:ext cx="208915" cy="266065"/>
          </a:xfrm>
          <a:custGeom>
            <a:avLst/>
            <a:gdLst>
              <a:gd name="connsiteX0" fmla="*/ 104113 w 208964"/>
              <a:gd name="connsiteY0" fmla="*/ 265616 h 265967"/>
              <a:gd name="connsiteX1" fmla="*/ 87646 w 208964"/>
              <a:gd name="connsiteY1" fmla="*/ 257969 h 265967"/>
              <a:gd name="connsiteX2" fmla="*/ -369 w 208964"/>
              <a:gd name="connsiteY2" fmla="*/ 104131 h 265967"/>
              <a:gd name="connsiteX3" fmla="*/ 104113 w 208964"/>
              <a:gd name="connsiteY3" fmla="*/ -351 h 265967"/>
              <a:gd name="connsiteX4" fmla="*/ 208596 w 208964"/>
              <a:gd name="connsiteY4" fmla="*/ 104131 h 265967"/>
              <a:gd name="connsiteX5" fmla="*/ 120628 w 208964"/>
              <a:gd name="connsiteY5" fmla="*/ 257969 h 265967"/>
              <a:gd name="connsiteX6" fmla="*/ 104113 w 208964"/>
              <a:gd name="connsiteY6" fmla="*/ 265616 h 265967"/>
              <a:gd name="connsiteX7" fmla="*/ 104113 w 208964"/>
              <a:gd name="connsiteY7" fmla="*/ 17383 h 265967"/>
              <a:gd name="connsiteX8" fmla="*/ 17413 w 208964"/>
              <a:gd name="connsiteY8" fmla="*/ 104084 h 265967"/>
              <a:gd name="connsiteX9" fmla="*/ 101205 w 208964"/>
              <a:gd name="connsiteY9" fmla="*/ 246474 h 265967"/>
              <a:gd name="connsiteX10" fmla="*/ 104113 w 208964"/>
              <a:gd name="connsiteY10" fmla="*/ 247835 h 265967"/>
              <a:gd name="connsiteX11" fmla="*/ 107069 w 208964"/>
              <a:gd name="connsiteY11" fmla="*/ 246474 h 265967"/>
              <a:gd name="connsiteX12" fmla="*/ 190861 w 208964"/>
              <a:gd name="connsiteY12" fmla="*/ 104131 h 265967"/>
              <a:gd name="connsiteX13" fmla="*/ 104113 w 208964"/>
              <a:gd name="connsiteY13" fmla="*/ 17383 h 265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8964" h="265967">
                <a:moveTo>
                  <a:pt x="104113" y="265616"/>
                </a:moveTo>
                <a:cubicBezTo>
                  <a:pt x="97733" y="265616"/>
                  <a:pt x="91728" y="262848"/>
                  <a:pt x="87646" y="257969"/>
                </a:cubicBezTo>
                <a:cubicBezTo>
                  <a:pt x="54758" y="219075"/>
                  <a:pt x="-369" y="147434"/>
                  <a:pt x="-369" y="104131"/>
                </a:cubicBezTo>
                <a:cubicBezTo>
                  <a:pt x="-369" y="46518"/>
                  <a:pt x="46500" y="-351"/>
                  <a:pt x="104113" y="-351"/>
                </a:cubicBezTo>
                <a:cubicBezTo>
                  <a:pt x="161726" y="-351"/>
                  <a:pt x="208596" y="46518"/>
                  <a:pt x="208596" y="104131"/>
                </a:cubicBezTo>
                <a:cubicBezTo>
                  <a:pt x="208596" y="147481"/>
                  <a:pt x="153469" y="219122"/>
                  <a:pt x="120628" y="257969"/>
                </a:cubicBezTo>
                <a:cubicBezTo>
                  <a:pt x="116452" y="262801"/>
                  <a:pt x="110447" y="265616"/>
                  <a:pt x="104113" y="265616"/>
                </a:cubicBezTo>
                <a:moveTo>
                  <a:pt x="104113" y="17383"/>
                </a:moveTo>
                <a:cubicBezTo>
                  <a:pt x="56306" y="17383"/>
                  <a:pt x="17413" y="56276"/>
                  <a:pt x="17413" y="104084"/>
                </a:cubicBezTo>
                <a:cubicBezTo>
                  <a:pt x="17413" y="144291"/>
                  <a:pt x="81547" y="223204"/>
                  <a:pt x="101205" y="246474"/>
                </a:cubicBezTo>
                <a:cubicBezTo>
                  <a:pt x="102190" y="247647"/>
                  <a:pt x="103457" y="247835"/>
                  <a:pt x="104113" y="247835"/>
                </a:cubicBezTo>
                <a:cubicBezTo>
                  <a:pt x="104770" y="247835"/>
                  <a:pt x="106037" y="247647"/>
                  <a:pt x="107069" y="246474"/>
                </a:cubicBezTo>
                <a:cubicBezTo>
                  <a:pt x="126727" y="223251"/>
                  <a:pt x="190861" y="144291"/>
                  <a:pt x="190861" y="104131"/>
                </a:cubicBezTo>
                <a:cubicBezTo>
                  <a:pt x="190814" y="56323"/>
                  <a:pt x="151921" y="17383"/>
                  <a:pt x="104113" y="17383"/>
                </a:cubicBezTo>
              </a:path>
            </a:pathLst>
          </a:custGeom>
          <a:solidFill>
            <a:srgbClr val="FFFFFF"/>
          </a:solidFill>
          <a:ln w="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61" name="任意多边形: 形状 60"/>
          <p:cNvSpPr/>
          <p:nvPr>
            <p:custDataLst>
              <p:tags r:id="rId26"/>
            </p:custDataLst>
          </p:nvPr>
        </p:nvSpPr>
        <p:spPr>
          <a:xfrm>
            <a:off x="3719195" y="5725160"/>
            <a:ext cx="141605" cy="43180"/>
          </a:xfrm>
          <a:custGeom>
            <a:avLst/>
            <a:gdLst>
              <a:gd name="connsiteX0" fmla="*/ 121095 w 141592"/>
              <a:gd name="connsiteY0" fmla="*/ 42686 h 43256"/>
              <a:gd name="connsiteX1" fmla="*/ 19756 w 141592"/>
              <a:gd name="connsiteY1" fmla="*/ 42686 h 43256"/>
              <a:gd name="connsiteX2" fmla="*/ -371 w 141592"/>
              <a:gd name="connsiteY2" fmla="*/ 22559 h 43256"/>
              <a:gd name="connsiteX3" fmla="*/ -371 w 141592"/>
              <a:gd name="connsiteY3" fmla="*/ 19556 h 43256"/>
              <a:gd name="connsiteX4" fmla="*/ 19756 w 141592"/>
              <a:gd name="connsiteY4" fmla="*/ -571 h 43256"/>
              <a:gd name="connsiteX5" fmla="*/ 121095 w 141592"/>
              <a:gd name="connsiteY5" fmla="*/ -571 h 43256"/>
              <a:gd name="connsiteX6" fmla="*/ 141222 w 141592"/>
              <a:gd name="connsiteY6" fmla="*/ 19556 h 43256"/>
              <a:gd name="connsiteX7" fmla="*/ 141222 w 141592"/>
              <a:gd name="connsiteY7" fmla="*/ 22559 h 43256"/>
              <a:gd name="connsiteX8" fmla="*/ 121095 w 141592"/>
              <a:gd name="connsiteY8" fmla="*/ 42686 h 43256"/>
              <a:gd name="connsiteX9" fmla="*/ 19803 w 141592"/>
              <a:gd name="connsiteY9" fmla="*/ 17164 h 43256"/>
              <a:gd name="connsiteX10" fmla="*/ 17410 w 141592"/>
              <a:gd name="connsiteY10" fmla="*/ 19556 h 43256"/>
              <a:gd name="connsiteX11" fmla="*/ 17410 w 141592"/>
              <a:gd name="connsiteY11" fmla="*/ 22559 h 43256"/>
              <a:gd name="connsiteX12" fmla="*/ 19803 w 141592"/>
              <a:gd name="connsiteY12" fmla="*/ 24952 h 43256"/>
              <a:gd name="connsiteX13" fmla="*/ 121141 w 141592"/>
              <a:gd name="connsiteY13" fmla="*/ 24952 h 43256"/>
              <a:gd name="connsiteX14" fmla="*/ 123534 w 141592"/>
              <a:gd name="connsiteY14" fmla="*/ 22559 h 43256"/>
              <a:gd name="connsiteX15" fmla="*/ 123534 w 141592"/>
              <a:gd name="connsiteY15" fmla="*/ 19556 h 43256"/>
              <a:gd name="connsiteX16" fmla="*/ 121141 w 141592"/>
              <a:gd name="connsiteY16" fmla="*/ 17164 h 43256"/>
              <a:gd name="connsiteX17" fmla="*/ 19803 w 141592"/>
              <a:gd name="connsiteY17" fmla="*/ 17164 h 43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1592" h="43256">
                <a:moveTo>
                  <a:pt x="121095" y="42686"/>
                </a:moveTo>
                <a:lnTo>
                  <a:pt x="19756" y="42686"/>
                </a:lnTo>
                <a:cubicBezTo>
                  <a:pt x="8684" y="42686"/>
                  <a:pt x="-371" y="33678"/>
                  <a:pt x="-371" y="22559"/>
                </a:cubicBezTo>
                <a:lnTo>
                  <a:pt x="-371" y="19556"/>
                </a:lnTo>
                <a:cubicBezTo>
                  <a:pt x="-371" y="8484"/>
                  <a:pt x="8637" y="-571"/>
                  <a:pt x="19756" y="-571"/>
                </a:cubicBezTo>
                <a:lnTo>
                  <a:pt x="121095" y="-571"/>
                </a:lnTo>
                <a:cubicBezTo>
                  <a:pt x="132167" y="-571"/>
                  <a:pt x="141222" y="8437"/>
                  <a:pt x="141222" y="19556"/>
                </a:cubicBezTo>
                <a:lnTo>
                  <a:pt x="141222" y="22559"/>
                </a:lnTo>
                <a:cubicBezTo>
                  <a:pt x="141222" y="33631"/>
                  <a:pt x="132214" y="42686"/>
                  <a:pt x="121095" y="42686"/>
                </a:cubicBezTo>
                <a:moveTo>
                  <a:pt x="19803" y="17164"/>
                </a:moveTo>
                <a:cubicBezTo>
                  <a:pt x="18536" y="17164"/>
                  <a:pt x="17410" y="18243"/>
                  <a:pt x="17410" y="19556"/>
                </a:cubicBezTo>
                <a:lnTo>
                  <a:pt x="17410" y="22559"/>
                </a:lnTo>
                <a:cubicBezTo>
                  <a:pt x="17410" y="23873"/>
                  <a:pt x="18489" y="24952"/>
                  <a:pt x="19803" y="24952"/>
                </a:cubicBezTo>
                <a:lnTo>
                  <a:pt x="121141" y="24952"/>
                </a:lnTo>
                <a:cubicBezTo>
                  <a:pt x="122408" y="24952"/>
                  <a:pt x="123534" y="23873"/>
                  <a:pt x="123534" y="22559"/>
                </a:cubicBezTo>
                <a:lnTo>
                  <a:pt x="123534" y="19556"/>
                </a:lnTo>
                <a:cubicBezTo>
                  <a:pt x="123534" y="18243"/>
                  <a:pt x="122455" y="17164"/>
                  <a:pt x="121141" y="17164"/>
                </a:cubicBezTo>
                <a:lnTo>
                  <a:pt x="19803" y="17164"/>
                </a:lnTo>
              </a:path>
            </a:pathLst>
          </a:custGeom>
          <a:solidFill>
            <a:srgbClr val="FFFFFF"/>
          </a:solidFill>
          <a:ln w="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pic>
        <p:nvPicPr>
          <p:cNvPr id="31" name="图片 30" descr="Coremail_Logo_New-2-0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1585" y="423545"/>
            <a:ext cx="1623779" cy="352800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8"/>
            </p:custDataLst>
          </p:nvPr>
        </p:nvSpPr>
        <p:spPr>
          <a:xfrm>
            <a:off x="6482080" y="1538605"/>
            <a:ext cx="4528820" cy="5962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just">
              <a:buClr>
                <a:srgbClr val="000000"/>
              </a:buClr>
              <a:buSzPct val="70000"/>
            </a:pPr>
            <a:r>
              <a:rPr lang="en-US" altLang="zh-CN" sz="2000" b="1">
                <a:solidFill>
                  <a:srgbClr val="4CB0FC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charset="0"/>
              </a:rPr>
              <a:t>跟进沟通广州GA项目等项目合作</a:t>
            </a:r>
            <a:endParaRPr lang="en-US" altLang="zh-CN" sz="2000" b="1">
              <a:solidFill>
                <a:srgbClr val="4CB0FC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charset="0"/>
            </a:endParaRPr>
          </a:p>
        </p:txBody>
      </p:sp>
      <p:sp>
        <p:nvSpPr>
          <p:cNvPr id="6" name="矩形 5"/>
          <p:cNvSpPr/>
          <p:nvPr>
            <p:custDataLst>
              <p:tags r:id="rId29"/>
            </p:custDataLst>
          </p:nvPr>
        </p:nvSpPr>
        <p:spPr>
          <a:xfrm>
            <a:off x="5342255" y="1525032"/>
            <a:ext cx="1065640" cy="7944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4800">
                <a:solidFill>
                  <a:srgbClr val="4CB0FC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</a:t>
            </a:r>
            <a:endParaRPr lang="en-US" altLang="zh-CN" sz="4800">
              <a:solidFill>
                <a:srgbClr val="4CB0FC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30"/>
            </p:custDataLst>
          </p:nvPr>
        </p:nvSpPr>
        <p:spPr>
          <a:xfrm>
            <a:off x="5342255" y="2721496"/>
            <a:ext cx="1065640" cy="7944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4800">
                <a:solidFill>
                  <a:srgbClr val="4CB0FC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</a:t>
            </a:r>
            <a:endParaRPr lang="en-US" altLang="zh-CN" sz="4800">
              <a:solidFill>
                <a:srgbClr val="4CB0FC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>
            <p:custDataLst>
              <p:tags r:id="rId31"/>
            </p:custDataLst>
          </p:nvPr>
        </p:nvSpPr>
        <p:spPr>
          <a:xfrm>
            <a:off x="5342255" y="3917960"/>
            <a:ext cx="1065640" cy="7944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4800">
                <a:solidFill>
                  <a:srgbClr val="4CB0FC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</a:t>
            </a:r>
            <a:endParaRPr lang="en-US" altLang="zh-CN" sz="4800">
              <a:solidFill>
                <a:srgbClr val="4CB0FC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>
            <p:custDataLst>
              <p:tags r:id="rId32"/>
            </p:custDataLst>
          </p:nvPr>
        </p:nvSpPr>
        <p:spPr>
          <a:xfrm>
            <a:off x="6537325" y="3906520"/>
            <a:ext cx="4473575" cy="62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70000"/>
            </a:pPr>
            <a:r>
              <a:rPr lang="en-US" altLang="zh-CN" sz="2000" b="1">
                <a:solidFill>
                  <a:srgbClr val="4CB0FC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跟进招商银行等销售项目以及中台key申请事项</a:t>
            </a:r>
            <a:endParaRPr lang="zh-CN" altLang="en-US" sz="2000" b="1">
              <a:solidFill>
                <a:srgbClr val="4CB0FC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>
            <p:custDataLst>
              <p:tags r:id="rId33"/>
            </p:custDataLst>
          </p:nvPr>
        </p:nvSpPr>
        <p:spPr>
          <a:xfrm>
            <a:off x="6537325" y="2710180"/>
            <a:ext cx="447421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70000"/>
            </a:pPr>
            <a:r>
              <a:rPr lang="zh-CN" sz="2000" b="1">
                <a:solidFill>
                  <a:srgbClr val="4CB0FC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跟进信投办公室场地租赁、公租房续租核查等事项</a:t>
            </a:r>
            <a:endParaRPr lang="en-US" altLang="zh-CN" sz="2000" b="1">
              <a:solidFill>
                <a:srgbClr val="4CB0FC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>
            <p:custDataLst>
              <p:tags r:id="rId34"/>
            </p:custDataLst>
          </p:nvPr>
        </p:nvSpPr>
        <p:spPr>
          <a:xfrm>
            <a:off x="6537325" y="5102860"/>
            <a:ext cx="4474845" cy="604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70000"/>
            </a:pPr>
            <a:r>
              <a:rPr lang="zh-CN" altLang="en-US" sz="2000" b="1">
                <a:solidFill>
                  <a:srgbClr val="4CB0FC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charset="0"/>
              </a:rPr>
              <a:t>跟进专精特新小巨人企业、创新型中小企业年审</a:t>
            </a:r>
            <a:r>
              <a:rPr lang="en-US" altLang="zh-CN" sz="2000" b="1">
                <a:solidFill>
                  <a:srgbClr val="4CB0FC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charset="0"/>
              </a:rPr>
              <a:t>等申报工作</a:t>
            </a:r>
            <a:endParaRPr lang="en-US" altLang="zh-CN" sz="2000" b="1">
              <a:solidFill>
                <a:srgbClr val="4CB0FC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charset="0"/>
            </a:endParaRPr>
          </a:p>
        </p:txBody>
      </p:sp>
      <p:sp>
        <p:nvSpPr>
          <p:cNvPr id="22" name="矩形 21"/>
          <p:cNvSpPr/>
          <p:nvPr>
            <p:custDataLst>
              <p:tags r:id="rId35"/>
            </p:custDataLst>
          </p:nvPr>
        </p:nvSpPr>
        <p:spPr>
          <a:xfrm>
            <a:off x="5342255" y="5114424"/>
            <a:ext cx="1065640" cy="7944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4800" dirty="0">
                <a:solidFill>
                  <a:srgbClr val="4CB0FC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</a:t>
            </a:r>
            <a:endParaRPr lang="en-US" altLang="zh-CN" sz="4800" dirty="0">
              <a:solidFill>
                <a:srgbClr val="4CB0FC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3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 bwMode="auto">
          <a:xfrm>
            <a:off x="316865" y="264795"/>
            <a:ext cx="5105400" cy="460375"/>
          </a:xfrm>
          <a:prstGeom prst="rect">
            <a:avLst/>
          </a:prstGeom>
          <a:noFill/>
        </p:spPr>
        <p:txBody>
          <a:bodyPr wrap="square" bIns="45720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 Light" panose="02010600030101010101" charset="-122"/>
                <a:ea typeface="黑体" panose="02010609060101010101" charset="-122"/>
                <a:sym typeface="+mn-ea"/>
              </a:rPr>
              <a:t>四、BD项目申报工作计划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 Light" panose="0201060003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9220" name="矩形 7"/>
          <p:cNvSpPr/>
          <p:nvPr/>
        </p:nvSpPr>
        <p:spPr>
          <a:xfrm>
            <a:off x="2971165" y="6602413"/>
            <a:ext cx="6451600" cy="2298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itchFamily="2" charset="-122"/>
              </a:rPr>
              <a:t>官网：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itchFamily="2" charset="-122"/>
              </a:rPr>
              <a:t>http://www.coremail.cn/             </a:t>
            </a: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itchFamily="2" charset="-122"/>
              </a:rPr>
              <a:t>购买咨询：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itchFamily="2" charset="-122"/>
              </a:rPr>
              <a:t>400-000-1631</a:t>
            </a:r>
            <a:endParaRPr lang="en-US" altLang="zh-CN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2" name="矩形: 圆角 3"/>
          <p:cNvSpPr/>
          <p:nvPr>
            <p:custDataLst>
              <p:tags r:id="rId1"/>
            </p:custDataLst>
          </p:nvPr>
        </p:nvSpPr>
        <p:spPr>
          <a:xfrm>
            <a:off x="375332" y="1192165"/>
            <a:ext cx="11441336" cy="5187245"/>
          </a:xfrm>
          <a:prstGeom prst="roundRect">
            <a:avLst>
              <a:gd name="adj" fmla="val 4859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857249" y="1941038"/>
          <a:ext cx="10477500" cy="5586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755"/>
                <a:gridCol w="3281045"/>
                <a:gridCol w="3565525"/>
                <a:gridCol w="1490980"/>
                <a:gridCol w="1306195"/>
              </a:tblGrid>
              <a:tr h="435610">
                <a:tc>
                  <a:txBody>
                    <a:bodyPr wrap="square"/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 wrap="square"/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项目名称</a:t>
                      </a:r>
                      <a:endParaRPr lang="zh-CN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 wrap="square"/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b="1" spc="12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工作安排</a:t>
                      </a:r>
                      <a:endParaRPr lang="zh-CN" sz="1600" b="1" spc="12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 wrap="square"/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项目性质</a:t>
                      </a:r>
                      <a:endParaRPr lang="zh-CN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 wrap="square"/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申报主体</a:t>
                      </a:r>
                      <a:endParaRPr lang="zh-CN" altLang="en-US" sz="16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</a:tr>
              <a:tr h="828040">
                <a:tc>
                  <a:txBody>
                    <a:bodyPr/>
                    <a:p>
                      <a:pPr marL="0" lvl="0" algn="ctr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/>
                    <a:p>
                      <a:pPr marL="0" lvl="0" algn="ctr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GA合作项目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/>
                    <a:p>
                      <a:pPr marL="0" lvl="0" algn="ctr" fontAlgn="base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跟进项目合同签署</a:t>
                      </a:r>
                      <a:endParaRPr lang="zh-CN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/>
                    <a:p>
                      <a:pPr marL="0" lvl="0" algn="ctr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资金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竞争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/>
                    <a:p>
                      <a:pPr marL="0" lvl="0" algn="ctr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广州盈世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</a:tr>
              <a:tr h="537845">
                <a:tc>
                  <a:txBody>
                    <a:bodyPr/>
                    <a:p>
                      <a:pPr marL="0" lvl="0" indent="-228600" algn="ctr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/>
                    <a:p>
                      <a:pPr marL="0" lvl="0" algn="ctr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专精特新小巨人企业年审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/>
                    <a:p>
                      <a:pPr marL="0" lvl="0" algn="ctr" fontAlgn="base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完成系统填报</a:t>
                      </a:r>
                      <a:endParaRPr lang="zh-CN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/>
                    <a:p>
                      <a:pPr marL="0" lvl="0" algn="ctr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资质项目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/>
                    <a:p>
                      <a:pPr marL="0" lvl="0" algn="ctr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广东盈世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</a:tr>
              <a:tr h="537845">
                <a:tc>
                  <a:txBody>
                    <a:bodyPr/>
                    <a:p>
                      <a:pPr marL="0" lvl="0" algn="ctr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/>
                    <a:p>
                      <a:pPr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创新型中小企业年审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177800" marR="177800" marT="107950" marB="107950" vert="horz" anchor="ctr"/>
                </a:tc>
                <a:tc>
                  <a:txBody>
                    <a:bodyPr/>
                    <a:p>
                      <a:pPr marL="0" lvl="0" algn="ctr" fontAlgn="base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完成系统</a:t>
                      </a:r>
                      <a:r>
                        <a:rPr 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填报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marL="0" lvl="0" algn="ctr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资质项目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lvl="0" algn="ctr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论客科技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</a:tr>
              <a:tr h="537845">
                <a:tc>
                  <a:txBody>
                    <a:bodyPr/>
                    <a:p>
                      <a:pPr marL="0" lvl="0" algn="ctr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/>
                    <a:p>
                      <a:pPr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小巨人省级奖补申请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177800" marR="177800" marT="107950" marB="107950" vert="horz" anchor="ctr"/>
                </a:tc>
                <a:tc>
                  <a:txBody>
                    <a:bodyPr/>
                    <a:p>
                      <a:pPr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跟进审批及拨付进度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marL="0" lvl="0" algn="ctr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资金竞争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lvl="0" algn="ctr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广东盈世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vert="horz" anchor="ctr"/>
                </a:tc>
              </a:tr>
              <a:tr h="569595">
                <a:tc>
                  <a:txBody>
                    <a:bodyPr wrap="square"/>
                    <a:p>
                      <a:pPr marL="0" lvl="0" indent="-228600" algn="ctr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 wrap="square"/>
                    <a:p>
                      <a:pPr lvl="0" indent="-60960" algn="ctr" eaLnBrk="0" latinLnBrk="1" hangingPunct="0">
                        <a:lnSpc>
                          <a:spcPct val="110000"/>
                        </a:lnSpc>
                        <a:spcBef>
                          <a:spcPts val="1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香港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BUD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90204" pitchFamily="34" charset="0"/>
                        </a:rPr>
                        <a:t>专项基金项目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 wrap="square"/>
                    <a:p>
                      <a:pPr marL="0" lvl="0" indent="-228600" algn="ctr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跟进结题审批进度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 wrap="square"/>
                    <a:p>
                      <a:pPr marL="0" lvl="0" algn="ctr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资金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竞争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90204" pitchFamily="34" charset="0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 wrap="square"/>
                    <a:p>
                      <a:pPr marL="0" lvl="0" indent="-228600" algn="ctr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论客香港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</a:tr>
              <a:tr h="660400">
                <a:tc>
                  <a:txBody>
                    <a:bodyPr/>
                    <a:p>
                      <a:pPr marL="0" lvl="0" indent="-228600" algn="ctr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/>
                    <a:p>
                      <a:pPr marL="0" lvl="0" indent="-228600" algn="ctr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配合科技口、工信口等部门填报统计报表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/>
                    <a:p>
                      <a:pPr marL="0" lvl="0" indent="-228600" algn="ctr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完成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相关报表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填报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/>
                    <a:p>
                      <a:pPr marL="0" lvl="0" indent="-228600" algn="ctr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资质项目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  <a:tc>
                  <a:txBody>
                    <a:bodyPr/>
                    <a:p>
                      <a:pPr marL="0" lvl="0" indent="-228600" algn="ctr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广东盈世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lvl="0" indent="-228600" algn="ctr" eaLnBrk="0" fontAlgn="base" latinLnBrk="1" hangingPunct="0">
                        <a:lnSpc>
                          <a:spcPts val="24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论客科技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vert="horz" anchor="ctr"/>
                </a:tc>
              </a:tr>
            </a:tbl>
          </a:graphicData>
        </a:graphic>
      </p:graphicFrame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696595" y="1191260"/>
            <a:ext cx="8467090" cy="633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l"/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 5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月 项目申报工作计划</a:t>
            </a:r>
            <a:endParaRPr lang="zh-CN" altLang="en-US" sz="2800" b="1" kern="0" spc="0" dirty="0">
              <a:ln>
                <a:noFill/>
                <a:prstDash val="sysDot"/>
              </a:ln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15804" y="2967335"/>
            <a:ext cx="3160395" cy="9220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en-US" altLang="zh-CN" sz="5400" b="1" cap="none" spc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2.xml><?xml version="1.0" encoding="utf-8"?>
<p:tagLst xmlns:p="http://schemas.openxmlformats.org/presentationml/2006/main">
  <p:tag name="TABLE_ENDDRAG_ORIGIN_RECT" val="905*96"/>
  <p:tag name="TABLE_ENDDRAG_RECT" val="26*270*905*96"/>
</p:tagLst>
</file>

<file path=ppt/tags/tag3.xml><?xml version="1.0" encoding="utf-8"?>
<p:tagLst xmlns:p="http://schemas.openxmlformats.org/presentationml/2006/main">
  <p:tag name="TABLE_ENDDRAG_ORIGIN_RECT" val="905*96"/>
  <p:tag name="TABLE_ENDDRAG_RECT" val="26*270*905*96"/>
</p:tagLst>
</file>

<file path=ppt/tags/tag4.xml><?xml version="1.0" encoding="utf-8"?>
<p:tagLst xmlns:p="http://schemas.openxmlformats.org/presentationml/2006/main">
  <p:tag name="TABLE_ENDDRAG_ORIGIN_RECT" val="485*126"/>
  <p:tag name="TABLE_ENDDRAG_RECT" val="434*233*485*126"/>
</p:tagLst>
</file>

<file path=ppt/tags/tag5.xml><?xml version="1.0" encoding="utf-8"?>
<p:tagLst xmlns:p="http://schemas.openxmlformats.org/presentationml/2006/main">
  <p:tag name="KSO_WM_DIAGRAM_VIRTUALLY_FRAME" val="{&quot;height&quot;:412.55,&quot;left&quot;:26.6,&quot;top&quot;:102.1,&quot;width&quot;:905.7}"/>
</p:tagLst>
</file>

<file path=ppt/tags/tag6.xml><?xml version="1.0" encoding="utf-8"?>
<p:tagLst xmlns:p="http://schemas.openxmlformats.org/presentationml/2006/main">
  <p:tag name="TABLE_ENDDRAG_ORIGIN_RECT" val="896*117"/>
  <p:tag name="TABLE_ENDDRAG_RECT" val="30*273*896*117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DIAGRAM_VIRTUALLY_FRAME" val="{&quot;height&quot;:443.4,&quot;left&quot;:20.55,&quot;top&quot;:64.55,&quot;width&quot;:842.65}"/>
</p:tagLst>
</file>

<file path=ppt/tags/tag10.xml><?xml version="1.0" encoding="utf-8"?>
<p:tagLst xmlns:p="http://schemas.openxmlformats.org/presentationml/2006/main">
  <p:tag name="KSO_WM_DIAGRAM_VIRTUALLY_FRAME" val="{&quot;height&quot;:443.4,&quot;left&quot;:20.55,&quot;top&quot;:64.55,&quot;width&quot;:842.65}"/>
</p:tagLst>
</file>

<file path=ppt/tags/tag11.xml><?xml version="1.0" encoding="utf-8"?>
<p:tagLst xmlns:p="http://schemas.openxmlformats.org/presentationml/2006/main">
  <p:tag name="TABLE_ENDDRAG_ORIGIN_RECT" val="436*154"/>
  <p:tag name="TABLE_ENDDRAG_RECT" val="486*348*436*154"/>
</p:tagLst>
</file>

<file path=ppt/tags/tag12.xml><?xml version="1.0" encoding="utf-8"?>
<p:tagLst xmlns:p="http://schemas.openxmlformats.org/presentationml/2006/main">
  <p:tag name="KSO_WM_DIAGRAM_VIRTUALLY_FRAME" val="{&quot;height&quot;:443.4,&quot;left&quot;:20.55,&quot;top&quot;:64.55,&quot;width&quot;:842.65}"/>
</p:tagLst>
</file>

<file path=ppt/tags/tag13.xml><?xml version="1.0" encoding="utf-8"?>
<p:tagLst xmlns:p="http://schemas.openxmlformats.org/presentationml/2006/main">
  <p:tag name="KSO_WM_DIAGRAM_VIRTUALLY_FRAME" val="{&quot;height&quot;:443.4,&quot;left&quot;:20.55,&quot;top&quot;:64.55,&quot;width&quot;:842.65}"/>
</p:tagLst>
</file>

<file path=ppt/tags/tag14.xml><?xml version="1.0" encoding="utf-8"?>
<p:tagLst xmlns:p="http://schemas.openxmlformats.org/presentationml/2006/main">
  <p:tag name="KSO_WM_DIAGRAM_VIRTUALLY_FRAME" val="{&quot;height&quot;:443.4,&quot;left&quot;:20.55,&quot;top&quot;:64.55,&quot;width&quot;:842.65}"/>
</p:tagLst>
</file>

<file path=ppt/tags/tag15.xml><?xml version="1.0" encoding="utf-8"?>
<p:tagLst xmlns:p="http://schemas.openxmlformats.org/presentationml/2006/main">
  <p:tag name="KSO_WM_DIAGRAM_VIRTUALLY_FRAME" val="{&quot;height&quot;:443.4,&quot;left&quot;:20.55,&quot;top&quot;:64.55,&quot;width&quot;:842.65}"/>
</p:tagLst>
</file>

<file path=ppt/tags/tag16.xml><?xml version="1.0" encoding="utf-8"?>
<p:tagLst xmlns:p="http://schemas.openxmlformats.org/presentationml/2006/main">
  <p:tag name="KSO_WM_DIAGRAM_VIRTUALLY_FRAME" val="{&quot;height&quot;:443.4,&quot;left&quot;:20.55,&quot;top&quot;:64.55,&quot;width&quot;:842.65}"/>
</p:tagLst>
</file>

<file path=ppt/tags/tag17.xml><?xml version="1.0" encoding="utf-8"?>
<p:tagLst xmlns:p="http://schemas.openxmlformats.org/presentationml/2006/main">
  <p:tag name="KSO_WM_DIAGRAM_VIRTUALLY_FRAME" val="{&quot;height&quot;:443.4,&quot;left&quot;:20.55,&quot;top&quot;:64.55,&quot;width&quot;:842.65}"/>
</p:tagLst>
</file>

<file path=ppt/tags/tag18.xml><?xml version="1.0" encoding="utf-8"?>
<p:tagLst xmlns:p="http://schemas.openxmlformats.org/presentationml/2006/main">
  <p:tag name="TABLE_ENDDRAG_ORIGIN_RECT" val="905*96"/>
  <p:tag name="TABLE_ENDDRAG_RECT" val="26*270*905*96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UNIT_TABLE_BEAUTIFY" val="smartTable{2ed7fb41-8143-4dcf-b556-933dd6ad2285}"/>
  <p:tag name="TABLE_ENDDRAG_ORIGIN_RECT" val="504*408"/>
  <p:tag name="TABLE_ENDDRAG_RECT" val="409*100*504*408"/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49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50.xml><?xml version="1.0" encoding="utf-8"?>
<p:tagLst xmlns:p="http://schemas.openxmlformats.org/presentationml/2006/main">
  <p:tag name="KSO_WM_DIAGRAM_VIRTUALLY_FRAME" val="{&quot;height&quot;:295.15,&quot;left&quot;:27.9,&quot;top&quot;:103.8,&quot;width&quot;:908.9}"/>
</p:tagLst>
</file>

<file path=ppt/tags/tag51.xml><?xml version="1.0" encoding="utf-8"?>
<p:tagLst xmlns:p="http://schemas.openxmlformats.org/presentationml/2006/main">
  <p:tag name="KSO_WM_DIAGRAM_VIRTUALLY_FRAME" val="{&quot;height&quot;:295.15,&quot;left&quot;:27.9,&quot;top&quot;:103.8,&quot;width&quot;:908.9}"/>
</p:tagLst>
</file>

<file path=ppt/tags/tag52.xml><?xml version="1.0" encoding="utf-8"?>
<p:tagLst xmlns:p="http://schemas.openxmlformats.org/presentationml/2006/main">
  <p:tag name="KSO_WM_DIAGRAM_VIRTUALLY_FRAME" val="{&quot;height&quot;:295.15,&quot;left&quot;:27.9,&quot;top&quot;:103.8,&quot;width&quot;:908.9}"/>
</p:tagLst>
</file>

<file path=ppt/tags/tag53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54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55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56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57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58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59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60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61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62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63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64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65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66.xml><?xml version="1.0" encoding="utf-8"?>
<p:tagLst xmlns:p="http://schemas.openxmlformats.org/presentationml/2006/main">
  <p:tag name="KSO_WM_DIAGRAM_VIRTUALLY_FRAME" val="{&quot;height&quot;:62.85,&quot;left&quot;:23.95,&quot;top&quot;:60.25,&quot;width&quot;:907.95}"/>
</p:tagLst>
</file>

<file path=ppt/tags/tag67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68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69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70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71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72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73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74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75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76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77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78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79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80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81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82.xml><?xml version="1.0" encoding="utf-8"?>
<p:tagLst xmlns:p="http://schemas.openxmlformats.org/presentationml/2006/main">
  <p:tag name="KSO_WM_DIAGRAM_VIRTUALLY_FRAME" val="{&quot;height&quot;:133.2,&quot;left&quot;:22.35,&quot;top&quot;:83.6,&quot;width&quot;:663.12}"/>
</p:tagLst>
</file>

<file path=ppt/tags/tag83.xml><?xml version="1.0" encoding="utf-8"?>
<p:tagLst xmlns:p="http://schemas.openxmlformats.org/presentationml/2006/main">
  <p:tag name="KSO_WM_SLIDE_ITEM_CNT" val="5"/>
</p:tagLst>
</file>

<file path=ppt/tags/tag84.xml><?xml version="1.0" encoding="utf-8"?>
<p:tagLst xmlns:p="http://schemas.openxmlformats.org/presentationml/2006/main">
  <p:tag name="KSO_WM_DIAGRAM_VIRTUALLY_FRAME" val="{&quot;height&quot;:316.3,&quot;left&quot;:114,&quot;top&quot;:147.35,&quot;width&quot;:720.65}"/>
</p:tagLst>
</file>

<file path=ppt/tags/tag85.xml><?xml version="1.0" encoding="utf-8"?>
<p:tagLst xmlns:p="http://schemas.openxmlformats.org/presentationml/2006/main">
  <p:tag name="KSO_WM_DIAGRAM_VIRTUALLY_FRAME" val="{&quot;height&quot;:316.3,&quot;left&quot;:114,&quot;top&quot;:147.35,&quot;width&quot;:720.65}"/>
</p:tagLst>
</file>

<file path=ppt/tags/tag86.xml><?xml version="1.0" encoding="utf-8"?>
<p:tagLst xmlns:p="http://schemas.openxmlformats.org/presentationml/2006/main">
  <p:tag name="KSO_WM_DIAGRAM_VIRTUALLY_FRAME" val="{&quot;height&quot;:316.3,&quot;left&quot;:114,&quot;top&quot;:147.35,&quot;width&quot;:720.65}"/>
</p:tagLst>
</file>

<file path=ppt/tags/tag87.xml><?xml version="1.0" encoding="utf-8"?>
<p:tagLst xmlns:p="http://schemas.openxmlformats.org/presentationml/2006/main">
  <p:tag name="KSO_WM_DIAGRAM_VIRTUALLY_FRAME" val="{&quot;height&quot;:316.3,&quot;left&quot;:114,&quot;top&quot;:147.35,&quot;width&quot;:720.65}"/>
</p:tagLst>
</file>

<file path=ppt/tags/tag88.xml><?xml version="1.0" encoding="utf-8"?>
<p:tagLst xmlns:p="http://schemas.openxmlformats.org/presentationml/2006/main">
  <p:tag name="KSO_WM_DIAGRAM_VIRTUALLY_FRAME" val="{&quot;height&quot;:316.3,&quot;left&quot;:114,&quot;top&quot;:147.35,&quot;width&quot;:720.65}"/>
</p:tagLst>
</file>

<file path=ppt/tags/tag89.xml><?xml version="1.0" encoding="utf-8"?>
<p:tagLst xmlns:p="http://schemas.openxmlformats.org/presentationml/2006/main">
  <p:tag name="KSO_WM_DIAGRAM_VIRTUALLY_FRAME" val="{&quot;height&quot;:316.3,&quot;left&quot;:114,&quot;top&quot;:147.35,&quot;width&quot;:720.65}"/>
</p:tagLst>
</file>

<file path=ppt/tags/tag90.xml><?xml version="1.0" encoding="utf-8"?>
<p:tagLst xmlns:p="http://schemas.openxmlformats.org/presentationml/2006/main">
  <p:tag name="KSO_WM_DIAGRAM_VIRTUALLY_FRAME" val="{&quot;height&quot;:316.3,&quot;left&quot;:114,&quot;top&quot;:147.35,&quot;width&quot;:720.65}"/>
</p:tagLst>
</file>

<file path=ppt/tags/tag91.xml><?xml version="1.0" encoding="utf-8"?>
<p:tagLst xmlns:p="http://schemas.openxmlformats.org/presentationml/2006/main">
  <p:tag name="KSO_WM_DIAGRAM_VIRTUALLY_FRAME" val="{&quot;height&quot;:316.3,&quot;left&quot;:114,&quot;top&quot;:147.35,&quot;width&quot;:720.65}"/>
</p:tagLst>
</file>

<file path=ppt/tags/tag92.xml><?xml version="1.0" encoding="utf-8"?>
<p:tagLst xmlns:p="http://schemas.openxmlformats.org/presentationml/2006/main">
  <p:tag name="KSO_WM_DIAGRAM_VIRTUALLY_FRAME" val="{&quot;height&quot;:316.3,&quot;left&quot;:114,&quot;top&quot;:147.35,&quot;width&quot;:720.65}"/>
</p:tagLst>
</file>

<file path=ppt/tags/tag93.xml><?xml version="1.0" encoding="utf-8"?>
<p:tagLst xmlns:p="http://schemas.openxmlformats.org/presentationml/2006/main">
  <p:tag name="KSO_WM_DIAGRAM_VIRTUALLY_FRAME" val="{&quot;height&quot;:316.3,&quot;left&quot;:114,&quot;top&quot;:147.35,&quot;width&quot;:720.65}"/>
</p:tagLst>
</file>

<file path=ppt/tags/tag94.xml><?xml version="1.0" encoding="utf-8"?>
<p:tagLst xmlns:p="http://schemas.openxmlformats.org/presentationml/2006/main">
  <p:tag name="KSO_WM_DIAGRAM_VIRTUALLY_FRAME" val="{&quot;height&quot;:316.3,&quot;left&quot;:114,&quot;top&quot;:147.35,&quot;width&quot;:720.65}"/>
</p:tagLst>
</file>

<file path=ppt/tags/tag95.xml><?xml version="1.0" encoding="utf-8"?>
<p:tagLst xmlns:p="http://schemas.openxmlformats.org/presentationml/2006/main">
  <p:tag name="KSO_WM_DIAGRAM_VIRTUALLY_FRAME" val="{&quot;height&quot;:316.3,&quot;left&quot;:114,&quot;top&quot;:147.35,&quot;width&quot;:720.65}"/>
</p:tagLst>
</file>

<file path=ppt/tags/tag96.xml><?xml version="1.0" encoding="utf-8"?>
<p:tagLst xmlns:p="http://schemas.openxmlformats.org/presentationml/2006/main">
  <p:tag name="KSO_WM_DIAGRAM_VIRTUALLY_FRAME" val="{&quot;height&quot;:316.3,&quot;left&quot;:114,&quot;top&quot;:147.35,&quot;width&quot;:720.65}"/>
</p:tagLst>
</file>

<file path=ppt/tags/tag97.xml><?xml version="1.0" encoding="utf-8"?>
<p:tagLst xmlns:p="http://schemas.openxmlformats.org/presentationml/2006/main">
  <p:tag name="KSO_WM_DIAGRAM_VIRTUALLY_FRAME" val="{&quot;height&quot;:316.3,&quot;left&quot;:114,&quot;top&quot;:147.35,&quot;width&quot;:720.65}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ADJUSTMENTS" val="7.312968"/>
  <p:tag name="SHADOWSIZE" val="100"/>
</p:tagLst>
</file>

<file path=ppt/tags/tag100.xml><?xml version="1.0" encoding="utf-8"?>
<p:tagLst xmlns:p="http://schemas.openxmlformats.org/presentationml/2006/main">
  <p:tag name="KSO_WM_UNIT_VALUE" val="893*135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β"/>
  <p:tag name="KSO_WM_UNIT_INDEX" val="2"/>
  <p:tag name="KSO_WM_UNIT_ID" val="custom20234482_1*β*2"/>
  <p:tag name="KSO_WM_TEMPLATE_CATEGORY" val="custom"/>
  <p:tag name="KSO_WM_TEMPLATE_INDEX" val="20234482"/>
  <p:tag name="KSO_WM_UNIT_LAYERLEVEL" val="1"/>
  <p:tag name="KSO_WM_TAG_VERSION" val="3.0"/>
  <p:tag name="KSO_WM_BEAUTIFY_FLAG" val="#wm#"/>
  <p:tag name="KSO_WM_UNIT_USESOURCEFORMAT_APPLY" val="1"/>
  <p:tag name="TABLE_ENDDRAG_ORIGIN_RECT" val="891*404"/>
  <p:tag name="TABLE_ENDDRAG_RECT" val="35*112*891*404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i*1_3_2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5,5,5,5,5]}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i*1_3_3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5,5,5,5,5]}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i*1_5_2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5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5,5,5,5,5]}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i*1_5_3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5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5,5,5,5,5]}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i*1_4_2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5,5,5,5,5]}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i*1_4_3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5,5,5,5,5,5]}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i*1_6_2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6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5,5,5,5,5]}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i*1_6_3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6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5,5,5,5,5,5]}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a*1_1_1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4"/>
  <p:tag name="KSO_WM_UNIT_PRESET_TEXT" val="添加项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a*1_1_1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4"/>
  <p:tag name="KSO_WM_UNIT_PRESET_TEXT" val="添加项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a*1_1_1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4"/>
  <p:tag name="KSO_WM_UNIT_PRESET_TEXT" val="添加项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a*1_1_1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4"/>
  <p:tag name="KSO_WM_UNIT_PRESET_TEXT" val="添加项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i*1_5_2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5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5,5,5,5,5]}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i*1_5_3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5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5,5,5,5,5]}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i*1_4_2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5,5,5,5,5]}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i*1_4_3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5,5,5,5,5,5]}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a*1_1_1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4"/>
  <p:tag name="KSO_WM_UNIT_PRESET_TEXT" val="添加项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0_5*l_h_a*1_1_1"/>
  <p:tag name="KSO_WM_TEMPLATE_CATEGORY" val="diagram"/>
  <p:tag name="KSO_WM_TEMPLATE_INDEX" val="20231060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25.4646523447112,&quot;left&quot;:20.65,&quot;top&quot;:98.1853476552888,&quot;width&quot;:918.87354330708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4"/>
  <p:tag name="KSO_WM_UNIT_PRESET_TEXT" val="添加项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1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TEMPLATE_CATEGORY" val="diagram"/>
  <p:tag name="KSO_WM_TEMPLATE_INDEX" val="20233217"/>
  <p:tag name="KSO_WM_UNIT_LAYERLEVEL" val="1_1_1"/>
  <p:tag name="KSO_WM_TAG_VERSION" val="3.0"/>
  <p:tag name="KSO_WM_UNIT_FILL_FORE_SCHEMECOLOR_INDEX" val="14"/>
  <p:tag name="KSO_WM_UNIT_FILL_FORE_SCHEMECOLOR_INDEX_BRIGHTNESS" val="0"/>
  <p:tag name="KSO_WM_UNIT_LINE_FORE_SCHEMECOLOR_INDEX" val="5"/>
  <p:tag name="KSO_WM_DIAGRAM_MAX_ITEMCNT" val="6"/>
  <p:tag name="KSO_WM_DIAGRAM_MIN_ITEMCNT" val="6"/>
  <p:tag name="KSO_WM_DIAGRAM_VIRTUALLY_FRAME" val="{&quot;height&quot;:386.35,&quot;left&quot;:20.65,&quot;top&quot;:132.9,&quot;width&quot;:885.207411724901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17_1*l_h_i*1_1_2"/>
  <p:tag name="KSO_WM_UNIT_INDEX" val="1_1_2"/>
  <p:tag name="KSO_WM_DIAGRAM_GROUP_CODE" val="l1-1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3217"/>
  <p:tag name="KSO_WM_UNIT_LAYERLEVEL" val="1_1_1"/>
  <p:tag name="KSO_WM_TAG_VERSION" val="3.0"/>
  <p:tag name="KSO_WM_DIAGRAM_MAX_ITEMCNT" val="6"/>
  <p:tag name="KSO_WM_DIAGRAM_MIN_ITEMCNT" val="6"/>
  <p:tag name="KSO_WM_DIAGRAM_VIRTUALLY_FRAME" val="{&quot;height&quot;:386.35,&quot;left&quot;:20.65,&quot;top&quot;:132.9,&quot;width&quot;:885.207411724901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6"/>
  <p:tag name="KSO_WM_UNIT_TEXT_FILL_TYPE" val="1"/>
  <p:tag name="KSO_WM_UNIT_ID" val="diagram20233217_1*l_h_f*1_1_1"/>
  <p:tag name="KSO_WM_UNIT_INDEX" val="1_1_1"/>
  <p:tag name="KSO_WM_DIAGRAM_GROUP_CODE" val="l1-1"/>
  <p:tag name="KSO_WM_UNIT_PRESET_TEXT" val="单击此处添加文本具体内容，简明扼要地阐述您的内容观点。根据需要可酌情增减正文内容文字，以便观者准确地理解您传达的思想。单击此处添加你的文本内容"/>
  <p:tag name="KSO_WM_UNIT_USESOURCEFORMAT_APPLY" val="1"/>
</p:tagLst>
</file>

<file path=ppt/tags/tag12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217"/>
  <p:tag name="KSO_WM_UNIT_LAYERLEVEL" val="1_1_1"/>
  <p:tag name="KSO_WM_TAG_VERSION" val="3.0"/>
  <p:tag name="KSO_WM_DIAGRAM_MAX_ITEMCNT" val="6"/>
  <p:tag name="KSO_WM_DIAGRAM_MIN_ITEMCNT" val="6"/>
  <p:tag name="KSO_WM_DIAGRAM_VIRTUALLY_FRAME" val="{&quot;height&quot;:386.35,&quot;left&quot;:54.74998984990161,&quot;top&quot;:132.9,&quot;width&quot;:851.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TEXT_FILL_FORE_SCHEMECOLOR_INDEX" val="1"/>
  <p:tag name="KSO_WM_UNIT_TEXT_FILL_TYPE" val="1"/>
  <p:tag name="KSO_WM_UNIT_ID" val="diagram20233217_1*l_h_a*1_1_1"/>
  <p:tag name="KSO_WM_UNIT_INDEX" val="1_1_1"/>
  <p:tag name="KSO_WM_DIAGRAM_GROUP_CODE" val="l1-1"/>
  <p:tag name="KSO_WM_UNIT_PRESET_TEXT" val="此处添加项标题"/>
  <p:tag name="KSO_WM_UNIT_USESOURCEFORMAT_APPLY" val="1"/>
</p:tagLst>
</file>

<file path=ppt/tags/tag12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TEMPLATE_CATEGORY" val="diagram"/>
  <p:tag name="KSO_WM_TEMPLATE_INDEX" val="20233217"/>
  <p:tag name="KSO_WM_UNIT_LAYERLEVEL" val="1_1_1"/>
  <p:tag name="KSO_WM_TAG_VERSION" val="3.0"/>
  <p:tag name="KSO_WM_UNIT_FILL_FORE_SCHEMECOLOR_INDEX" val="14"/>
  <p:tag name="KSO_WM_UNIT_FILL_FORE_SCHEMECOLOR_INDEX_BRIGHTNESS" val="0"/>
  <p:tag name="KSO_WM_UNIT_LINE_FORE_SCHEMECOLOR_INDEX" val="5"/>
  <p:tag name="KSO_WM_DIAGRAM_MAX_ITEMCNT" val="6"/>
  <p:tag name="KSO_WM_DIAGRAM_MIN_ITEMCNT" val="6"/>
  <p:tag name="KSO_WM_DIAGRAM_VIRTUALLY_FRAME" val="{&quot;height&quot;:386.35,&quot;left&quot;:54.74998984990161,&quot;top&quot;:132.9,&quot;width&quot;:851.1074218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17_1*l_h_i*1_1_2"/>
  <p:tag name="KSO_WM_UNIT_INDEX" val="1_1_2"/>
  <p:tag name="KSO_WM_DIAGRAM_GROUP_CODE" val="l1-1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3217"/>
  <p:tag name="KSO_WM_UNIT_LAYERLEVEL" val="1_1_1"/>
  <p:tag name="KSO_WM_TAG_VERSION" val="3.0"/>
  <p:tag name="KSO_WM_DIAGRAM_MAX_ITEMCNT" val="6"/>
  <p:tag name="KSO_WM_DIAGRAM_MIN_ITEMCNT" val="6"/>
  <p:tag name="KSO_WM_DIAGRAM_VIRTUALLY_FRAME" val="{&quot;height&quot;:386.35,&quot;left&quot;:54.74998984990161,&quot;top&quot;:132.9,&quot;width&quot;:851.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6"/>
  <p:tag name="KSO_WM_UNIT_TEXT_FILL_TYPE" val="1"/>
  <p:tag name="KSO_WM_UNIT_ID" val="diagram20233217_1*l_h_f*1_1_1"/>
  <p:tag name="KSO_WM_UNIT_INDEX" val="1_1_1"/>
  <p:tag name="KSO_WM_DIAGRAM_GROUP_CODE" val="l1-1"/>
  <p:tag name="KSO_WM_UNIT_PRESET_TEXT" val="单击此处添加文本具体内容，简明扼要地阐述您的内容观点。根据需要可酌情增减正文内容文字，以便观者准确地理解您传达的思想。单击此处添加你的文本内容"/>
  <p:tag name="KSO_WM_UNIT_USESOURCEFORMAT_APPLY" val="1"/>
</p:tagLst>
</file>

<file path=ppt/tags/tag12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217"/>
  <p:tag name="KSO_WM_UNIT_LAYERLEVEL" val="1_1_1"/>
  <p:tag name="KSO_WM_TAG_VERSION" val="3.0"/>
  <p:tag name="KSO_WM_DIAGRAM_MAX_ITEMCNT" val="6"/>
  <p:tag name="KSO_WM_DIAGRAM_MIN_ITEMCNT" val="6"/>
  <p:tag name="KSO_WM_DIAGRAM_VIRTUALLY_FRAME" val="{&quot;height&quot;:386.35,&quot;left&quot;:54.74998984990161,&quot;top&quot;:132.9,&quot;width&quot;:851.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TEXT_FILL_FORE_SCHEMECOLOR_INDEX" val="1"/>
  <p:tag name="KSO_WM_UNIT_TEXT_FILL_TYPE" val="1"/>
  <p:tag name="KSO_WM_UNIT_ID" val="diagram20233217_1*l_h_a*1_1_1"/>
  <p:tag name="KSO_WM_UNIT_INDEX" val="1_1_1"/>
  <p:tag name="KSO_WM_DIAGRAM_GROUP_CODE" val="l1-1"/>
  <p:tag name="KSO_WM_UNIT_PRESET_TEXT" val="此处添加项标题"/>
  <p:tag name="KSO_WM_UNIT_USESOURCEFORMAT_APPLY" val="1"/>
</p:tagLst>
</file>

<file path=ppt/tags/tag12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TEMPLATE_CATEGORY" val="diagram"/>
  <p:tag name="KSO_WM_TEMPLATE_INDEX" val="20233217"/>
  <p:tag name="KSO_WM_UNIT_LAYERLEVEL" val="1_1_1"/>
  <p:tag name="KSO_WM_TAG_VERSION" val="3.0"/>
  <p:tag name="KSO_WM_UNIT_FILL_FORE_SCHEMECOLOR_INDEX" val="14"/>
  <p:tag name="KSO_WM_UNIT_FILL_FORE_SCHEMECOLOR_INDEX_BRIGHTNESS" val="0"/>
  <p:tag name="KSO_WM_UNIT_LINE_FORE_SCHEMECOLOR_INDEX" val="5"/>
  <p:tag name="KSO_WM_DIAGRAM_MAX_ITEMCNT" val="6"/>
  <p:tag name="KSO_WM_DIAGRAM_MIN_ITEMCNT" val="6"/>
  <p:tag name="KSO_WM_DIAGRAM_VIRTUALLY_FRAME" val="{&quot;height&quot;:386.35,&quot;left&quot;:54.74998984990161,&quot;top&quot;:132.9,&quot;width&quot;:851.1074218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17_1*l_h_i*1_1_2"/>
  <p:tag name="KSO_WM_UNIT_INDEX" val="1_1_2"/>
  <p:tag name="KSO_WM_DIAGRAM_GROUP_CODE" val="l1-1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2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3217"/>
  <p:tag name="KSO_WM_UNIT_LAYERLEVEL" val="1_1_1"/>
  <p:tag name="KSO_WM_TAG_VERSION" val="3.0"/>
  <p:tag name="KSO_WM_DIAGRAM_MAX_ITEMCNT" val="6"/>
  <p:tag name="KSO_WM_DIAGRAM_MIN_ITEMCNT" val="6"/>
  <p:tag name="KSO_WM_DIAGRAM_VIRTUALLY_FRAME" val="{&quot;height&quot;:386.35,&quot;left&quot;:54.74998984990161,&quot;top&quot;:132.9,&quot;width&quot;:851.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6"/>
  <p:tag name="KSO_WM_UNIT_TEXT_FILL_TYPE" val="1"/>
  <p:tag name="KSO_WM_UNIT_ID" val="diagram20233217_1*l_h_f*1_1_1"/>
  <p:tag name="KSO_WM_UNIT_INDEX" val="1_1_1"/>
  <p:tag name="KSO_WM_DIAGRAM_GROUP_CODE" val="l1-1"/>
  <p:tag name="KSO_WM_UNIT_PRESET_TEXT" val="单击此处添加文本具体内容，简明扼要地阐述您的内容观点。根据需要可酌情增减正文内容文字，以便观者准确地理解您传达的思想。单击此处添加你的文本内容"/>
  <p:tag name="KSO_WM_UNIT_USESOURCEFORMAT_APPLY" val="1"/>
</p:tagLst>
</file>

<file path=ppt/tags/tag12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217"/>
  <p:tag name="KSO_WM_UNIT_LAYERLEVEL" val="1_1_1"/>
  <p:tag name="KSO_WM_TAG_VERSION" val="3.0"/>
  <p:tag name="KSO_WM_DIAGRAM_MAX_ITEMCNT" val="6"/>
  <p:tag name="KSO_WM_DIAGRAM_MIN_ITEMCNT" val="6"/>
  <p:tag name="KSO_WM_DIAGRAM_VIRTUALLY_FRAME" val="{&quot;height&quot;:386.35,&quot;left&quot;:54.74998984990161,&quot;top&quot;:132.9,&quot;width&quot;:851.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TEXT_FILL_FORE_SCHEMECOLOR_INDEX" val="1"/>
  <p:tag name="KSO_WM_UNIT_TEXT_FILL_TYPE" val="1"/>
  <p:tag name="KSO_WM_UNIT_ID" val="diagram20233217_1*l_h_a*1_1_1"/>
  <p:tag name="KSO_WM_UNIT_INDEX" val="1_1_1"/>
  <p:tag name="KSO_WM_DIAGRAM_GROUP_CODE" val="l1-1"/>
  <p:tag name="KSO_WM_UNIT_PRESET_TEXT" val="此处添加项标题"/>
  <p:tag name="KSO_WM_UNIT_USESOURCEFORMAT_APPLY" val="1"/>
</p:tagLst>
</file>

<file path=ppt/tags/tag12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TEMPLATE_CATEGORY" val="diagram"/>
  <p:tag name="KSO_WM_TEMPLATE_INDEX" val="20233217"/>
  <p:tag name="KSO_WM_UNIT_LAYERLEVEL" val="1_1_1"/>
  <p:tag name="KSO_WM_TAG_VERSION" val="3.0"/>
  <p:tag name="KSO_WM_UNIT_FILL_FORE_SCHEMECOLOR_INDEX" val="14"/>
  <p:tag name="KSO_WM_UNIT_FILL_FORE_SCHEMECOLOR_INDEX_BRIGHTNESS" val="0"/>
  <p:tag name="KSO_WM_UNIT_LINE_FORE_SCHEMECOLOR_INDEX" val="5"/>
  <p:tag name="KSO_WM_DIAGRAM_MAX_ITEMCNT" val="6"/>
  <p:tag name="KSO_WM_DIAGRAM_MIN_ITEMCNT" val="6"/>
  <p:tag name="KSO_WM_DIAGRAM_VIRTUALLY_FRAME" val="{&quot;height&quot;:386.35,&quot;left&quot;:54.74998984990161,&quot;top&quot;:132.9,&quot;width&quot;:851.1074218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17_1*l_h_i*1_1_2"/>
  <p:tag name="KSO_WM_UNIT_INDEX" val="1_1_2"/>
  <p:tag name="KSO_WM_DIAGRAM_GROUP_CODE" val="l1-1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2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3217"/>
  <p:tag name="KSO_WM_UNIT_LAYERLEVEL" val="1_1_1"/>
  <p:tag name="KSO_WM_TAG_VERSION" val="3.0"/>
  <p:tag name="KSO_WM_DIAGRAM_MAX_ITEMCNT" val="6"/>
  <p:tag name="KSO_WM_DIAGRAM_MIN_ITEMCNT" val="6"/>
  <p:tag name="KSO_WM_DIAGRAM_VIRTUALLY_FRAME" val="{&quot;height&quot;:386.35,&quot;left&quot;:54.74998984990161,&quot;top&quot;:132.9,&quot;width&quot;:851.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6"/>
  <p:tag name="KSO_WM_UNIT_TEXT_FILL_TYPE" val="1"/>
  <p:tag name="KSO_WM_UNIT_ID" val="diagram20233217_1*l_h_f*1_1_1"/>
  <p:tag name="KSO_WM_UNIT_INDEX" val="1_1_1"/>
  <p:tag name="KSO_WM_DIAGRAM_GROUP_CODE" val="l1-1"/>
  <p:tag name="KSO_WM_UNIT_PRESET_TEXT" val="单击此处添加文本具体内容，简明扼要地阐述您的内容观点。根据需要可酌情增减正文内容文字，以便观者准确地理解您传达的思想。单击此处添加你的文本内容"/>
  <p:tag name="KSO_WM_UNIT_USESOURCEFORMAT_APPLY" val="1"/>
</p:tagLst>
</file>

<file path=ppt/tags/tag13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217"/>
  <p:tag name="KSO_WM_UNIT_LAYERLEVEL" val="1_1_1"/>
  <p:tag name="KSO_WM_TAG_VERSION" val="3.0"/>
  <p:tag name="KSO_WM_DIAGRAM_MAX_ITEMCNT" val="6"/>
  <p:tag name="KSO_WM_DIAGRAM_MIN_ITEMCNT" val="6"/>
  <p:tag name="KSO_WM_DIAGRAM_VIRTUALLY_FRAME" val="{&quot;height&quot;:386.35,&quot;left&quot;:54.74998984990161,&quot;top&quot;:132.9,&quot;width&quot;:851.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TEXT_FILL_FORE_SCHEMECOLOR_INDEX" val="1"/>
  <p:tag name="KSO_WM_UNIT_TEXT_FILL_TYPE" val="1"/>
  <p:tag name="KSO_WM_UNIT_ID" val="diagram20233217_1*l_h_a*1_1_1"/>
  <p:tag name="KSO_WM_UNIT_INDEX" val="1_1_1"/>
  <p:tag name="KSO_WM_DIAGRAM_GROUP_CODE" val="l1-1"/>
  <p:tag name="KSO_WM_UNIT_PRESET_TEXT" val="此处添加项标题"/>
  <p:tag name="KSO_WM_UNIT_USESOURCEFORMAT_APPLY" val="1"/>
</p:tagLst>
</file>

<file path=ppt/tags/tag131.xml><?xml version="1.0" encoding="utf-8"?>
<p:tagLst xmlns:p="http://schemas.openxmlformats.org/presentationml/2006/main">
  <p:tag name="KSO_WM_DIAGRAM_VIRTUALLY_FRAME" val="{&quot;height&quot;:83.55,&quot;left&quot;:66.2,&quot;top&quot;:69.35,&quot;width&quot;:827.55}"/>
</p:tagLst>
</file>

<file path=ppt/tags/tag132.xml><?xml version="1.0" encoding="utf-8"?>
<p:tagLst xmlns:p="http://schemas.openxmlformats.org/presentationml/2006/main">
  <p:tag name="KSO_WM_DIAGRAM_VIRTUALLY_FRAME" val="{&quot;height&quot;:83.55,&quot;left&quot;:66.2,&quot;top&quot;:69.35,&quot;width&quot;:827.55}"/>
</p:tagLst>
</file>

<file path=ppt/tags/tag133.xml><?xml version="1.0" encoding="utf-8"?>
<p:tagLst xmlns:p="http://schemas.openxmlformats.org/presentationml/2006/main">
  <p:tag name="KSO_WM_DIAGRAM_VIRTUALLY_FRAME" val="{&quot;height&quot;:83.55,&quot;left&quot;:66.2,&quot;top&quot;:69.35,&quot;width&quot;:827.55}"/>
</p:tagLst>
</file>

<file path=ppt/tags/tag134.xml><?xml version="1.0" encoding="utf-8"?>
<p:tagLst xmlns:p="http://schemas.openxmlformats.org/presentationml/2006/main">
  <p:tag name="KSO_WM_DIAGRAM_VIRTUALLY_FRAME" val="{&quot;height&quot;:83.55,&quot;left&quot;:66.2,&quot;top&quot;:69.35,&quot;width&quot;:827.55}"/>
</p:tagLst>
</file>

<file path=ppt/tags/tag135.xml><?xml version="1.0" encoding="utf-8"?>
<p:tagLst xmlns:p="http://schemas.openxmlformats.org/presentationml/2006/main">
  <p:tag name="KSO_WM_DIAGRAM_VIRTUALLY_FRAME" val="{&quot;height&quot;:83.55,&quot;left&quot;:66.2,&quot;top&quot;:69.35,&quot;width&quot;:827.55}"/>
</p:tagLst>
</file>

<file path=ppt/tags/tag136.xml><?xml version="1.0" encoding="utf-8"?>
<p:tagLst xmlns:p="http://schemas.openxmlformats.org/presentationml/2006/main">
  <p:tag name="KSO_WM_DIAGRAM_VIRTUALLY_FRAME" val="{&quot;height&quot;:83.55,&quot;left&quot;:66.2,&quot;top&quot;:69.35,&quot;width&quot;:827.55}"/>
</p:tagLst>
</file>

<file path=ppt/tags/tag137.xml><?xml version="1.0" encoding="utf-8"?>
<p:tagLst xmlns:p="http://schemas.openxmlformats.org/presentationml/2006/main">
  <p:tag name="KSO_WM_DIAGRAM_VIRTUALLY_FRAME" val="{&quot;height&quot;:83.55,&quot;left&quot;:66.2,&quot;top&quot;:69.35,&quot;width&quot;:827.55}"/>
</p:tagLst>
</file>

<file path=ppt/tags/tag138.xml><?xml version="1.0" encoding="utf-8"?>
<p:tagLst xmlns:p="http://schemas.openxmlformats.org/presentationml/2006/main">
  <p:tag name="KSO_WM_DIAGRAM_VIRTUALLY_FRAME" val="{&quot;height&quot;:83.55,&quot;left&quot;:66.2,&quot;top&quot;:69.35,&quot;width&quot;:827.55}"/>
</p:tagLst>
</file>

<file path=ppt/tags/tag139.xml><?xml version="1.0" encoding="utf-8"?>
<p:tagLst xmlns:p="http://schemas.openxmlformats.org/presentationml/2006/main">
  <p:tag name="KSO_WM_DIAGRAM_VIRTUALLY_FRAME" val="{&quot;height&quot;:83.55,&quot;left&quot;:66.2,&quot;top&quot;:69.35,&quot;width&quot;:827.55}"/>
</p:tagLst>
</file>

<file path=ppt/tags/tag140.xml><?xml version="1.0" encoding="utf-8"?>
<p:tagLst xmlns:p="http://schemas.openxmlformats.org/presentationml/2006/main">
  <p:tag name="TABLE_ENDDRAG_ORIGIN_RECT" val="255*302"/>
  <p:tag name="TABLE_ENDDRAG_RECT" val="61*202*255*302"/>
</p:tagLst>
</file>

<file path=ppt/tags/tag141.xml><?xml version="1.0" encoding="utf-8"?>
<p:tagLst xmlns:p="http://schemas.openxmlformats.org/presentationml/2006/main">
  <p:tag name="TABLE_ENDDRAG_ORIGIN_RECT" val="255*302"/>
  <p:tag name="TABLE_ENDDRAG_RECT" val="61*202*255*302"/>
</p:tagLst>
</file>

<file path=ppt/tags/tag142.xml><?xml version="1.0" encoding="utf-8"?>
<p:tagLst xmlns:p="http://schemas.openxmlformats.org/presentationml/2006/main">
  <p:tag name="KSO_WM_SLIDE_ITEM_CNT" val="5"/>
</p:tagLst>
</file>

<file path=ppt/tags/tag143.xml><?xml version="1.0" encoding="utf-8"?>
<p:tagLst xmlns:p="http://schemas.openxmlformats.org/presentationml/2006/main">
  <p:tag name="KSO_WM_SLIDE_ITEM_CNT" val="5"/>
</p:tagLst>
</file>

<file path=ppt/tags/tag144.xml><?xml version="1.0" encoding="utf-8"?>
<p:tagLst xmlns:p="http://schemas.openxmlformats.org/presentationml/2006/main">
  <p:tag name="KSO_WM_SLIDE_ITEM_CNT" val="5"/>
</p:tagLst>
</file>

<file path=ppt/tags/tag145.xml><?xml version="1.0" encoding="utf-8"?>
<p:tagLst xmlns:p="http://schemas.openxmlformats.org/presentationml/2006/main">
  <p:tag name="KSO_WM_SLIDE_ITEM_CNT" val="5"/>
</p:tagLst>
</file>

<file path=ppt/tags/tag146.xml><?xml version="1.0" encoding="utf-8"?>
<p:tagLst xmlns:p="http://schemas.openxmlformats.org/presentationml/2006/main">
  <p:tag name="KSO_WM_SLIDE_ITEM_CNT" val="5"/>
</p:tagLst>
</file>

<file path=ppt/tags/tag147.xml><?xml version="1.0" encoding="utf-8"?>
<p:tagLst xmlns:p="http://schemas.openxmlformats.org/presentationml/2006/main">
  <p:tag name="KSO_WM_SLIDE_ITEM_CNT" val="5"/>
</p:tagLst>
</file>

<file path=ppt/tags/tag148.xml><?xml version="1.0" encoding="utf-8"?>
<p:tagLst xmlns:p="http://schemas.openxmlformats.org/presentationml/2006/main">
  <p:tag name="KSO_WM_SLIDE_ITEM_CNT" val="5"/>
</p:tagLst>
</file>

<file path=ppt/tags/tag14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1977_2*l_h_i*1_3_1"/>
  <p:tag name="KSO_WM_TEMPLATE_CATEGORY" val="diagram"/>
  <p:tag name="KSO_WM_TEMPLATE_INDEX" val="2023197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,&quot;transparency&quot;:0.6499999761581421},{&quot;brightness&quot;:0.4000000059604645,&quot;colorType&quot;:1,&quot;foreColorIndex&quot;:5,&quot;pos&quot;:1,&quot;transparency&quot;:1}],&quot;type&quot;:2},&quot;shadow&quot;:{&quot;brightness&quot;:0.6000000238418579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TEXT_FILL_TYPE" val="1"/>
  <p:tag name="KSO_WM_UNIT_TEXT_TYPE" val="1"/>
  <p:tag name="KSO_WM_UNIT_TEXT_LAYER_COUNT" val="1"/>
  <p:tag name="KSO_WM_UNIT_LINE_FORE_SCHEMECOLOR_INDEX" val="7"/>
  <p:tag name="KSO_WM_UNIT_SHADOW_SCHEMECOLOR_INDEX" val="7"/>
  <p:tag name="KSO_WM_UNIT_USESOURCEFORMAT_APPLY" val="1"/>
</p:tagLst>
</file>

<file path=ppt/tags/tag15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31977_2*l_h_i*1_3_2"/>
  <p:tag name="KSO_WM_TEMPLATE_CATEGORY" val="diagram"/>
  <p:tag name="KSO_WM_TEMPLATE_INDEX" val="2023197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FILL_TYPE" val="1"/>
  <p:tag name="KSO_WM_UNIT_FILL_FORE_SCHEMECOLOR_INDEX" val="2"/>
  <p:tag name="KSO_WM_UNIT_FILL_FORE_SCHEMECOLOR_INDEX_BRIGHTNESS" val="0"/>
  <p:tag name="KSO_WM_UNIT_USESOURCEFORMAT_APPLY" val="1"/>
</p:tagLst>
</file>

<file path=ppt/tags/tag15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1977_2*l_h_i*1_2_1"/>
  <p:tag name="KSO_WM_TEMPLATE_CATEGORY" val="diagram"/>
  <p:tag name="KSO_WM_TEMPLATE_INDEX" val="2023197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,&quot;transparency&quot;:0.6499999761581421},{&quot;brightness&quot;:0.4000000059604645,&quot;colorType&quot;:1,&quot;foreColorIndex&quot;:5,&quot;pos&quot;:1,&quot;transparency&quot;:1}],&quot;type&quot;:2},&quot;shadow&quot;:{&quot;brightness&quot;:0.6000000238418579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TEXT_TYPE" val="1"/>
  <p:tag name="KSO_WM_UNIT_TEXT_FILL_FORE_SCHEMECOLOR_INDEX" val="1"/>
  <p:tag name="KSO_WM_UNIT_TEXT_FILL_TYPE" val="1"/>
  <p:tag name="KSO_WM_UNIT_TEXT_LAYER_COUNT" val="1"/>
  <p:tag name="KSO_WM_UNIT_LINE_FORE_SCHEMECOLOR_INDEX" val="6"/>
  <p:tag name="KSO_WM_UNIT_SHADOW_SCHEMECOLOR_INDEX" val="6"/>
  <p:tag name="KSO_WM_UNIT_USESOURCEFORMAT_APPLY" val="1"/>
</p:tagLst>
</file>

<file path=ppt/tags/tag15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1977_2*l_h_i*1_2_2"/>
  <p:tag name="KSO_WM_TEMPLATE_CATEGORY" val="diagram"/>
  <p:tag name="KSO_WM_TEMPLATE_INDEX" val="2023197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FILL_TYPE" val="1"/>
  <p:tag name="KSO_WM_UNIT_FILL_FORE_SCHEMECOLOR_INDEX" val="2"/>
  <p:tag name="KSO_WM_UNIT_FILL_FORE_SCHEMECOLOR_INDEX_BRIGHTNESS" val="0"/>
  <p:tag name="KSO_WM_UNIT_USESOURCEFORMAT_APPLY" val="1"/>
</p:tagLst>
</file>

<file path=ppt/tags/tag153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1977_2*l_h_i*1_1_1"/>
  <p:tag name="KSO_WM_TEMPLATE_CATEGORY" val="diagram"/>
  <p:tag name="KSO_WM_TEMPLATE_INDEX" val="2023197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,&quot;transparency&quot;:0.6499999761581421},{&quot;brightness&quot;:0.4000000059604645,&quot;colorType&quot;:1,&quot;foreColorIndex&quot;:5,&quot;pos&quot;:1,&quot;transparency&quot;:1}],&quot;type&quot;:2},&quot;shadow&quot;:{&quot;brightness&quot;:0.6000000238418579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TEXT_FILL_TYPE" val="1"/>
  <p:tag name="KSO_WM_UNIT_TEXT_TYPE" val="1"/>
  <p:tag name="KSO_WM_UNIT_TEXT_LAYER_COUNT" val="1"/>
  <p:tag name="KSO_WM_UNIT_LINE_FORE_SCHEMECOLOR_INDEX" val="5"/>
  <p:tag name="KSO_WM_UNIT_SHADOW_SCHEMECOLOR_INDEX" val="5"/>
  <p:tag name="KSO_WM_UNIT_USESOURCEFORMAT_APPLY" val="1"/>
</p:tagLst>
</file>

<file path=ppt/tags/tag15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1977_2*l_h_i*1_1_2"/>
  <p:tag name="KSO_WM_TEMPLATE_CATEGORY" val="diagram"/>
  <p:tag name="KSO_WM_TEMPLATE_INDEX" val="2023197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FILL_TYPE" val="1"/>
  <p:tag name="KSO_WM_UNIT_FILL_FORE_SCHEMECOLOR_INDEX" val="2"/>
  <p:tag name="KSO_WM_UNIT_FILL_FORE_SCHEMECOLOR_INDEX_BRIGHTNESS" val="0"/>
  <p:tag name="KSO_WM_UNIT_USESOURCEFORMAT_APPLY" val="1"/>
</p:tagLst>
</file>

<file path=ppt/tags/tag1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977_2*l_h_a*1_1_1"/>
  <p:tag name="KSO_WM_TEMPLATE_CATEGORY" val="diagram"/>
  <p:tag name="KSO_WM_TEMPLATE_INDEX" val="2023197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1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977_2*l_h_a*1_2_1"/>
  <p:tag name="KSO_WM_TEMPLATE_CATEGORY" val="diagram"/>
  <p:tag name="KSO_WM_TEMPLATE_INDEX" val="2023197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1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977_2*l_h_a*1_3_1"/>
  <p:tag name="KSO_WM_TEMPLATE_CATEGORY" val="diagram"/>
  <p:tag name="KSO_WM_TEMPLATE_INDEX" val="2023197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1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977_2*l_h_f*1_1_1"/>
  <p:tag name="KSO_WM_TEMPLATE_CATEGORY" val="diagram"/>
  <p:tag name="KSO_WM_TEMPLATE_INDEX" val="20231977"/>
  <p:tag name="KSO_WM_UNIT_LAYERLEVEL" val="1_1_1"/>
  <p:tag name="KSO_WM_TAG_VERSION" val="3.0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5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977_2*l_h_f*1_2_1"/>
  <p:tag name="KSO_WM_TEMPLATE_CATEGORY" val="diagram"/>
  <p:tag name="KSO_WM_TEMPLATE_INDEX" val="20231977"/>
  <p:tag name="KSO_WM_UNIT_LAYERLEVEL" val="1_1_1"/>
  <p:tag name="KSO_WM_TAG_VERSION" val="3.0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添加文本，简明扼要地阐述您的观点。根据需要可酌情增减文字，以便观者准确地理解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6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977_2*l_h_f*1_3_1"/>
  <p:tag name="KSO_WM_TEMPLATE_CATEGORY" val="diagram"/>
  <p:tag name="KSO_WM_TEMPLATE_INDEX" val="20231977"/>
  <p:tag name="KSO_WM_UNIT_LAYERLEVEL" val="1_1_1"/>
  <p:tag name="KSO_WM_TAG_VERSION" val="3.0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61.xml><?xml version="1.0" encoding="utf-8"?>
<p:tagLst xmlns:p="http://schemas.openxmlformats.org/presentationml/2006/main">
  <p:tag name="KSO_WM_SLIDE_ITEM_CNT" val="5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3210_1*i*1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210_1*i*2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3210_1*i*3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3210_1*i*4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3210_1*i*5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33210_1*i*6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20233210_1*i*7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custom20233210_1*i*8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custom20233210_1*i*9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custom20233210_1*i*10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custom20233210_1*i*11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custom20233210_1*i*12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custom20233210_1*i*13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custom20233210_1*i*14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custom20233210_1*i*15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custom20233210_1*i*16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custom20233210_1*i*17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custom20233210_1*i*18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custom20233210_1*i*19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custom20233210_1*i*20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custom20233210_1*i*21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custom20233210_1*i*22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custom20233210_1*i*23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custom20233210_1*i*24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custom20233210_1*i*25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custom20233210_1*i*26"/>
  <p:tag name="KSO_WM_TEMPLATE_CATEGORY" val="custom"/>
  <p:tag name="KSO_WM_TEMPLATE_INDEX" val="20233210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209_2*l_h_a*1_1_1"/>
  <p:tag name="KSO_WM_TEMPLATE_CATEGORY" val="diagram"/>
  <p:tag name="KSO_WM_TEMPLATE_INDEX" val="2023320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VALUE" val="22"/>
  <p:tag name="KSO_WM_DIAGRAM_MAX_ITEMCNT" val="6"/>
  <p:tag name="KSO_WM_DIAGRAM_MIN_ITEMCNT" val="4"/>
  <p:tag name="KSO_WM_DIAGRAM_VIRTUALLY_FRAME" val="{&quot;height&quot;:365.3999938964844,&quot;left&quot;:420.6499996972272,&quot;top&quot;:119.22508179191527,&quot;width&quot;:484.05007934570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189.xml><?xml version="1.0" encoding="utf-8"?>
<p:tagLst xmlns:p="http://schemas.openxmlformats.org/presentationml/2006/main">
  <p:tag name="KSO_WM_UNIT_SUBTYPE" val="d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209_1*l_h_i*1_1_1"/>
  <p:tag name="KSO_WM_TEMPLATE_CATEGORY" val="diagram"/>
  <p:tag name="KSO_WM_TEMPLATE_INDEX" val="20233209"/>
  <p:tag name="KSO_WM_UNIT_LAYERLEVEL" val="1_1_1"/>
  <p:tag name="KSO_WM_TAG_VERSION" val="3.0"/>
  <p:tag name="KSO_WM_DIAGRAM_MAX_ITEMCNT" val="6"/>
  <p:tag name="KSO_WM_DIAGRAM_MIN_ITEMCNT" val="4"/>
  <p:tag name="KSO_WM_DIAGRAM_VIRTUALLY_FRAME" val="{&quot;height&quot;:365.44389458603746,&quot;left&quot;:420.6499996972272,&quot;top&quot;:119.22508179191527,&quot;width&quot;:484.100236523245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190.xml><?xml version="1.0" encoding="utf-8"?>
<p:tagLst xmlns:p="http://schemas.openxmlformats.org/presentationml/2006/main">
  <p:tag name="KSO_WM_UNIT_SUBTYPE" val="d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209_1*l_h_i*1_2_1"/>
  <p:tag name="KSO_WM_TEMPLATE_CATEGORY" val="diagram"/>
  <p:tag name="KSO_WM_TEMPLATE_INDEX" val="20233209"/>
  <p:tag name="KSO_WM_UNIT_LAYERLEVEL" val="1_1_1"/>
  <p:tag name="KSO_WM_TAG_VERSION" val="3.0"/>
  <p:tag name="KSO_WM_DIAGRAM_MAX_ITEMCNT" val="6"/>
  <p:tag name="KSO_WM_DIAGRAM_MIN_ITEMCNT" val="4"/>
  <p:tag name="KSO_WM_DIAGRAM_VIRTUALLY_FRAME" val="{&quot;height&quot;:365.44389458603746,&quot;left&quot;:420.6499996972272,&quot;top&quot;:119.22508179191527,&quot;width&quot;:484.100236523245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191.xml><?xml version="1.0" encoding="utf-8"?>
<p:tagLst xmlns:p="http://schemas.openxmlformats.org/presentationml/2006/main">
  <p:tag name="KSO_WM_UNIT_SUBTYPE" val="d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3209_1*l_h_i*1_3_1"/>
  <p:tag name="KSO_WM_TEMPLATE_CATEGORY" val="diagram"/>
  <p:tag name="KSO_WM_TEMPLATE_INDEX" val="20233209"/>
  <p:tag name="KSO_WM_UNIT_LAYERLEVEL" val="1_1_1"/>
  <p:tag name="KSO_WM_TAG_VERSION" val="3.0"/>
  <p:tag name="KSO_WM_DIAGRAM_MAX_ITEMCNT" val="6"/>
  <p:tag name="KSO_WM_DIAGRAM_MIN_ITEMCNT" val="4"/>
  <p:tag name="KSO_WM_DIAGRAM_VIRTUALLY_FRAME" val="{&quot;height&quot;:365.44389458603746,&quot;left&quot;:420.6499996972272,&quot;top&quot;:119.22508179191527,&quot;width&quot;:484.100236523245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3"/>
  <p:tag name="KSO_WM_UNIT_TEXT_FILL_FORE_SCHEMECOLOR_INDEX" val="1"/>
  <p:tag name="KSO_WM_UNIT_TEXT_FILL_TYPE" val="1"/>
  <p:tag name="KSO_WM_UNIT_USESOURCEFORMAT_APPLY" val="1"/>
</p:tagLst>
</file>

<file path=ppt/tags/tag19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209_1*l_h_a*1_3_1"/>
  <p:tag name="KSO_WM_TEMPLATE_CATEGORY" val="diagram"/>
  <p:tag name="KSO_WM_TEMPLATE_INDEX" val="20233209"/>
  <p:tag name="KSO_WM_UNIT_LAYERLEVEL" val="1_1_1"/>
  <p:tag name="KSO_WM_TAG_VERSION" val="3.0"/>
  <p:tag name="KSO_WM_DIAGRAM_MAX_ITEMCNT" val="6"/>
  <p:tag name="KSO_WM_DIAGRAM_MIN_ITEMCNT" val="4"/>
  <p:tag name="KSO_WM_DIAGRAM_VIRTUALLY_FRAME" val="{&quot;height&quot;:365.44389458603746,&quot;left&quot;:420.6499996972272,&quot;top&quot;:119.22508179191527,&quot;width&quot;:484.100236523245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1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1"/>
</p:tagLst>
</file>

<file path=ppt/tags/tag19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209_1*l_h_a*1_2_1"/>
  <p:tag name="KSO_WM_TEMPLATE_CATEGORY" val="diagram"/>
  <p:tag name="KSO_WM_TEMPLATE_INDEX" val="20233209"/>
  <p:tag name="KSO_WM_UNIT_LAYERLEVEL" val="1_1_1"/>
  <p:tag name="KSO_WM_TAG_VERSION" val="3.0"/>
  <p:tag name="KSO_WM_DIAGRAM_MAX_ITEMCNT" val="6"/>
  <p:tag name="KSO_WM_DIAGRAM_MIN_ITEMCNT" val="4"/>
  <p:tag name="KSO_WM_DIAGRAM_VIRTUALLY_FRAME" val="{&quot;height&quot;:365.44389458603746,&quot;left&quot;:420.6499996972272,&quot;top&quot;:119.22508179191527,&quot;width&quot;:484.100236523245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1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1"/>
</p:tagLst>
</file>

<file path=ppt/tags/tag19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3209_1*l_h_a*1_4_1"/>
  <p:tag name="KSO_WM_TEMPLATE_CATEGORY" val="diagram"/>
  <p:tag name="KSO_WM_TEMPLATE_INDEX" val="20233209"/>
  <p:tag name="KSO_WM_UNIT_LAYERLEVEL" val="1_1_1"/>
  <p:tag name="KSO_WM_TAG_VERSION" val="3.0"/>
  <p:tag name="KSO_WM_DIAGRAM_MAX_ITEMCNT" val="6"/>
  <p:tag name="KSO_WM_DIAGRAM_MIN_ITEMCNT" val="4"/>
  <p:tag name="KSO_WM_DIAGRAM_VIRTUALLY_FRAME" val="{&quot;height&quot;:365.44389458603746,&quot;left&quot;:420.6499996972272,&quot;top&quot;:119.22508179191527,&quot;width&quot;:484.100236523245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1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1"/>
</p:tagLst>
</file>

<file path=ppt/tags/tag195.xml><?xml version="1.0" encoding="utf-8"?>
<p:tagLst xmlns:p="http://schemas.openxmlformats.org/presentationml/2006/main">
  <p:tag name="KSO_WM_UNIT_SUBTYPE" val="d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3209_1*l_h_i*1_4_1"/>
  <p:tag name="KSO_WM_TEMPLATE_CATEGORY" val="diagram"/>
  <p:tag name="KSO_WM_TEMPLATE_INDEX" val="20233209"/>
  <p:tag name="KSO_WM_UNIT_LAYERLEVEL" val="1_1_1"/>
  <p:tag name="KSO_WM_TAG_VERSION" val="3.0"/>
  <p:tag name="KSO_WM_DIAGRAM_MAX_ITEMCNT" val="6"/>
  <p:tag name="KSO_WM_DIAGRAM_MIN_ITEMCNT" val="4"/>
  <p:tag name="KSO_WM_DIAGRAM_VIRTUALLY_FRAME" val="{&quot;height&quot;:365.44389458603746,&quot;left&quot;:420.6499996972272,&quot;top&quot;:119.22508179191527,&quot;width&quot;:484.100236523245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4"/>
  <p:tag name="KSO_WM_UNIT_TEXT_FILL_FORE_SCHEMECOLOR_INDEX" val="1"/>
  <p:tag name="KSO_WM_UNIT_TEXT_FILL_TYPE" val="1"/>
  <p:tag name="KSO_WM_UNIT_USESOURCEFORMAT_APPLY" val="1"/>
</p:tagLst>
</file>

<file path=ppt/tags/tag196.xml><?xml version="1.0" encoding="utf-8"?>
<p:tagLst xmlns:p="http://schemas.openxmlformats.org/presentationml/2006/main">
  <p:tag name="KSO_WM_SLIDE_ITEM_CNT" val="5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4474_1*i*1"/>
  <p:tag name="KSO_WM_TEMPLATE_CATEGORY" val="custom"/>
  <p:tag name="KSO_WM_TEMPLATE_INDEX" val="20234474"/>
  <p:tag name="KSO_WM_UNIT_LAYERLEVEL" val="1"/>
  <p:tag name="KSO_WM_TAG_VERSION" val="3.0"/>
  <p:tag name="KSO_WM_BEAUTIFY_FLAG" val="#wm#"/>
  <p:tag name="KSO_WM_UNIT_PRESET_TEXT" val=" "/>
  <p:tag name="KSO_WM_UNIT_FILL_FORE_SCHEMECOLOR_INDEX" val="16"/>
  <p:tag name="KSO_WM_UNIT_FILL_TYPE" val="1"/>
  <p:tag name="KSO_WM_UNIT_LINE_FORE_SCHEMECOLOR_INDEX" val="5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198.xml><?xml version="1.0" encoding="utf-8"?>
<p:tagLst xmlns:p="http://schemas.openxmlformats.org/presentationml/2006/main">
  <p:tag name="KSO_WM_UNIT_TABLE_BEAUTIFY" val="smartTable{2deed4c2-ffaf-41bd-ba94-3f015d8689f3}"/>
  <p:tag name="TABLE_ENDDRAG_ORIGIN_RECT" val="878*406"/>
  <p:tag name="TABLE_ENDDRAG_RECT" val="38*96*878*407"/>
</p:tagLst>
</file>

<file path=ppt/tags/tag19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468_1*l_h_f*1_1_1"/>
  <p:tag name="KSO_WM_TEMPLATE_CATEGORY" val="diagram"/>
  <p:tag name="KSO_WM_TEMPLATE_INDEX" val="20234468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根据需要可酌情增减文字，以便观者准确地理解您传达的思想。单击此处添加文本具体内容，简明扼要地阐述您的观点。"/>
  <p:tag name="KSO_WM_UNIT_TEXT_FILL_FORE_SCHEMECOLOR_INDEX" val="1"/>
  <p:tag name="KSO_WM_UNIT_TEXT_FILL_TYPE" val="1"/>
  <p:tag name="KSO_WM_DIAGRAM_MAX_ITEMCNT" val="3"/>
  <p:tag name="KSO_WM_DIAGRAM_MIN_ITEMCNT" val="1"/>
  <p:tag name="KSO_WM_DIAGRAM_VIRTUALLY_FRAME" val="{&quot;height&quot;:82.6692123413086,&quot;left&quot;:54.85716535433071,&quot;top&quot;:109.50925209706224,&quot;width&quot;:666.715118110236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00.xml><?xml version="1.0" encoding="utf-8"?>
<p:tagLst xmlns:p="http://schemas.openxmlformats.org/presentationml/2006/main">
  <p:tag name="KSO_WPP_MARK_KEY" val="6432f360-ceeb-47e6-aa1e-23e094f849bf"/>
  <p:tag name="COMMONDATA" val="eyJoZGlkIjoiZTgxOTRjYzE4NWRjYmViNWRmOTVkOGRkNWQ3NzRkNGEifQ=="/>
  <p:tag name="commondata" val="eyJoZGlkIjoiN2JkMjA3ODE4YWZiOTFlNTRmZTNjYjY4ZjBkMGI0M2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自定义 14">
    <a:dk1>
      <a:srgbClr val="000000"/>
    </a:dk1>
    <a:lt1>
      <a:srgbClr val="FFFFFF"/>
    </a:lt1>
    <a:dk2>
      <a:srgbClr val="44546A"/>
    </a:dk2>
    <a:lt2>
      <a:srgbClr val="E7E6E6"/>
    </a:lt2>
    <a:accent1>
      <a:srgbClr val="3DB8BF"/>
    </a:accent1>
    <a:accent2>
      <a:srgbClr val="7A7D85"/>
    </a:accent2>
    <a:accent3>
      <a:srgbClr val="4D4F57"/>
    </a:accent3>
    <a:accent4>
      <a:srgbClr val="025F85"/>
    </a:accent4>
    <a:accent5>
      <a:srgbClr val="0070C0"/>
    </a:accent5>
    <a:accent6>
      <a:srgbClr val="00B0F0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知舟商务蓝配色">
    <a:dk1>
      <a:srgbClr val="000000"/>
    </a:dk1>
    <a:lt1>
      <a:srgbClr val="FFFFFF"/>
    </a:lt1>
    <a:dk2>
      <a:srgbClr val="44546A"/>
    </a:dk2>
    <a:lt2>
      <a:srgbClr val="E7E6E6"/>
    </a:lt2>
    <a:accent1>
      <a:srgbClr val="003298"/>
    </a:accent1>
    <a:accent2>
      <a:srgbClr val="0044C8"/>
    </a:accent2>
    <a:accent3>
      <a:srgbClr val="5285C3"/>
    </a:accent3>
    <a:accent4>
      <a:srgbClr val="99B6DD"/>
    </a:accent4>
    <a:accent5>
      <a:srgbClr val="EFEFEF"/>
    </a:accent5>
    <a:accent6>
      <a:srgbClr val="000000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自定义 20">
    <a:dk1>
      <a:srgbClr val="000000"/>
    </a:dk1>
    <a:lt1>
      <a:srgbClr val="FFFFFF"/>
    </a:lt1>
    <a:dk2>
      <a:srgbClr val="000000"/>
    </a:dk2>
    <a:lt2>
      <a:srgbClr val="F8F8F8"/>
    </a:lt2>
    <a:accent1>
      <a:srgbClr val="737373"/>
    </a:accent1>
    <a:accent2>
      <a:srgbClr val="75A4AD"/>
    </a:accent2>
    <a:accent3>
      <a:srgbClr val="5687B4"/>
    </a:accent3>
    <a:accent4>
      <a:srgbClr val="AFA8D0"/>
    </a:accent4>
    <a:accent5>
      <a:srgbClr val="B87084"/>
    </a:accent5>
    <a:accent6>
      <a:srgbClr val="CF9868"/>
    </a:accent6>
    <a:hlink>
      <a:srgbClr val="5F5F5F"/>
    </a:hlink>
    <a:folHlink>
      <a:srgbClr val="919191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自定义 38">
    <a:dk1>
      <a:srgbClr val="000000"/>
    </a:dk1>
    <a:lt1>
      <a:srgbClr val="FFFFFF"/>
    </a:lt1>
    <a:dk2>
      <a:srgbClr val="44546A"/>
    </a:dk2>
    <a:lt2>
      <a:srgbClr val="E7E6E6"/>
    </a:lt2>
    <a:accent1>
      <a:srgbClr val="3F7BF9"/>
    </a:accent1>
    <a:accent2>
      <a:srgbClr val="B16EFB"/>
    </a:accent2>
    <a:accent3>
      <a:srgbClr val="FF5F69"/>
    </a:accent3>
    <a:accent4>
      <a:srgbClr val="FF920C"/>
    </a:accent4>
    <a:accent5>
      <a:srgbClr val="FFC800"/>
    </a:accent5>
    <a:accent6>
      <a:srgbClr val="31BC61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15614</Words>
  <Application>WPS 文字</Application>
  <PresentationFormat>宽屏</PresentationFormat>
  <Paragraphs>3397</Paragraphs>
  <Slides>42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116" baseType="lpstr">
      <vt:lpstr>Arial</vt:lpstr>
      <vt:lpstr>宋体</vt:lpstr>
      <vt:lpstr>Wingdings</vt:lpstr>
      <vt:lpstr>汉仪书宋二KW</vt:lpstr>
      <vt:lpstr>等线</vt:lpstr>
      <vt:lpstr>汉仪中等线KW</vt:lpstr>
      <vt:lpstr>微软雅黑</vt:lpstr>
      <vt:lpstr>汉仪旗黑</vt:lpstr>
      <vt:lpstr>Arial Unicode MS</vt:lpstr>
      <vt:lpstr>Calibri</vt:lpstr>
      <vt:lpstr>Wingdings</vt:lpstr>
      <vt:lpstr>等线 Light</vt:lpstr>
      <vt:lpstr>黑体</vt:lpstr>
      <vt:lpstr>宋体</vt:lpstr>
      <vt:lpstr>方正粗金陵简体</vt:lpstr>
      <vt:lpstr>OPPOSans B</vt:lpstr>
      <vt:lpstr>方正书宋简体</vt:lpstr>
      <vt:lpstr>Yuanti SC Regular</vt:lpstr>
      <vt:lpstr>思源黑体 CN Normal</vt:lpstr>
      <vt:lpstr>Arial</vt:lpstr>
      <vt:lpstr>汉仪中黑简</vt:lpstr>
      <vt:lpstr>Inter</vt:lpstr>
      <vt:lpstr>+中文标题</vt:lpstr>
      <vt:lpstr>DM Sans Regular</vt:lpstr>
      <vt:lpstr>DM Sans Medium</vt:lpstr>
      <vt:lpstr>优设标题黑</vt:lpstr>
      <vt:lpstr>MiSans Normal</vt:lpstr>
      <vt:lpstr>Franklin Gothic Medium</vt:lpstr>
      <vt:lpstr>苹方-简</vt:lpstr>
      <vt:lpstr>Franklin Gothic Book</vt:lpstr>
      <vt:lpstr>隶书</vt:lpstr>
      <vt:lpstr>报隶-简</vt:lpstr>
      <vt:lpstr>Helvetica Neue</vt:lpstr>
      <vt:lpstr>汉仪中黑KW</vt:lpstr>
      <vt:lpstr>字魂105号-简雅黑</vt:lpstr>
      <vt:lpstr>冬青黑体简体中文</vt:lpstr>
      <vt:lpstr>华文宋体</vt:lpstr>
      <vt:lpstr>Inter</vt:lpstr>
      <vt:lpstr>MiSans Normal</vt:lpstr>
      <vt:lpstr>OPPOSans B</vt:lpstr>
      <vt:lpstr>优设标题黑</vt:lpstr>
      <vt:lpstr>微软雅黑</vt:lpstr>
      <vt:lpstr>思源黑体 CN Normal</vt:lpstr>
      <vt:lpstr>方正书宋简体</vt:lpstr>
      <vt:lpstr>方正粗金陵简体</vt:lpstr>
      <vt:lpstr>汉仪中黑简</vt:lpstr>
      <vt:lpstr>等线</vt:lpstr>
      <vt:lpstr>等线 Light</vt:lpstr>
      <vt:lpstr>黑体</vt:lpstr>
      <vt:lpstr>Thonburi</vt:lpstr>
      <vt:lpstr>Microsoft YaHei Light</vt:lpstr>
      <vt:lpstr>DengXian Light</vt:lpstr>
      <vt:lpstr>微软雅黑</vt:lpstr>
      <vt:lpstr>Apple Color Emoji</vt:lpstr>
      <vt:lpstr>江城圆体 400W</vt:lpstr>
      <vt:lpstr>微软雅黑 Light</vt:lpstr>
      <vt:lpstr>微软雅黑</vt:lpstr>
      <vt:lpstr>Arial Black</vt:lpstr>
      <vt:lpstr>Arial Black</vt:lpstr>
      <vt:lpstr>DengXian Light</vt:lpstr>
      <vt:lpstr>Microsoft YaHei Light</vt:lpstr>
      <vt:lpstr>微软雅黑 Light</vt:lpstr>
      <vt:lpstr>黑体</vt:lpstr>
      <vt:lpstr>DengXian</vt:lpstr>
      <vt:lpstr>Alibaba PuHuiTi</vt:lpstr>
      <vt:lpstr>Consolas</vt:lpstr>
      <vt:lpstr>Arial</vt:lpstr>
      <vt:lpstr>Arial</vt:lpstr>
      <vt:lpstr>Alibaba PuHuiTi</vt:lpstr>
      <vt:lpstr>Consolas</vt:lpstr>
      <vt:lpstr>DengXian</vt:lpstr>
      <vt:lpstr>Office 主题​​</vt:lpstr>
      <vt:lpstr>1_Office 主题​​</vt:lpstr>
      <vt:lpstr>Excel.Sheet.12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wyy</cp:lastModifiedBy>
  <cp:revision>2053</cp:revision>
  <dcterms:created xsi:type="dcterms:W3CDTF">2026-05-11T09:27:41Z</dcterms:created>
  <dcterms:modified xsi:type="dcterms:W3CDTF">2026-05-11T09:27:41Z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2052-12.1.25869.25869</vt:lpwstr>
  </property>
  <property fmtid="{D5CDD505-2E9C-101B-9397-08002B2CF9AE}" pid="4" name="ICV">
    <vt:lpwstr>95CC32B18A3AC6810DA1016AB74C7FF2_43</vt:lpwstr>
  </property>
  <property fmtid="{D5CDD505-2E9C-101B-9397-08002B2CF9AE}" pid="5" name="commondata">
    <vt:lpwstr>eyJoZGlkIjoiZTgxOTRjYzE4NWRjYmViNWRmOTVkOGRkNWQ3NzRkNGEifQ==</vt:lpwstr>
  </property>
</Properties>
</file>